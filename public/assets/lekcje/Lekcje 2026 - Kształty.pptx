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embeddedFontLst>
    <p:embeddedFont>
      <p:font typeface="Nunito"/>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unito-regular.fntdata"/><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unito-italic.fntdata"/><Relationship Id="rId25" Type="http://schemas.openxmlformats.org/officeDocument/2006/relationships/font" Target="fonts/Nunito-bold.fntdata"/><Relationship Id="rId27" Type="http://schemas.openxmlformats.org/officeDocument/2006/relationships/font" Target="fonts/Nunit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5260e8a63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5260e8a63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5260e8a63b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5260e8a63b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5260e8a63b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5260e8a63b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526d99608e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526d99608e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4de12e84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4de12e84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526d99608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526d99608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260e8a63b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5260e8a63b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5260e8a63b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5260e8a63b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5260e8a63b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5260e8a63b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5260e8a63b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5260e8a63b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526d99608e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526d99608e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526d99608e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526d99608e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526d99608e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526d99608e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5282e87b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5282e87b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526d99608e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3526d99608e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34de12e844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34de12e844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4de12e844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34de12e844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434343"/>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https://cdn.online-go.com/shape_up.pdf" TargetMode="External"/><Relationship Id="rId5" Type="http://schemas.openxmlformats.org/officeDocument/2006/relationships/hyperlink" Target="https://senseis.xmp.net/?AStaticTreatiseOnShap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15.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12.png"/><Relationship Id="rId5" Type="http://schemas.openxmlformats.org/officeDocument/2006/relationships/image" Target="../media/image7.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16.png"/><Relationship Id="rId5"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24.png"/><Relationship Id="rId5"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8.png"/><Relationship Id="rId5"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14.png"/><Relationship Id="rId6"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7.png"/><Relationship Id="rId5"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20.png"/><Relationship Id="rId5" Type="http://schemas.openxmlformats.org/officeDocument/2006/relationships/image" Target="../media/image30.png"/><Relationship Id="rId6" Type="http://schemas.openxmlformats.org/officeDocument/2006/relationships/image" Target="../media/image26.png"/><Relationship Id="rId7" Type="http://schemas.openxmlformats.org/officeDocument/2006/relationships/image" Target="../media/image33.png"/><Relationship Id="rId8" Type="http://schemas.openxmlformats.org/officeDocument/2006/relationships/image" Target="../media/image3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3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8.png"/><Relationship Id="rId5" Type="http://schemas.openxmlformats.org/officeDocument/2006/relationships/image" Target="../media/image25.png"/><Relationship Id="rId6" Type="http://schemas.openxmlformats.org/officeDocument/2006/relationships/image" Target="../media/image31.png"/><Relationship Id="rId7" Type="http://schemas.openxmlformats.org/officeDocument/2006/relationships/image" Target="../media/image29.png"/><Relationship Id="rId8"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2359225" y="1891630"/>
            <a:ext cx="4441500" cy="1115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6000">
                <a:solidFill>
                  <a:schemeClr val="lt2"/>
                </a:solidFill>
                <a:latin typeface="Nunito"/>
                <a:ea typeface="Nunito"/>
                <a:cs typeface="Nunito"/>
                <a:sym typeface="Nunito"/>
              </a:rPr>
              <a:t>KSZTAŁTY</a:t>
            </a:r>
            <a:endParaRPr b="1" sz="6200">
              <a:solidFill>
                <a:schemeClr val="lt2"/>
              </a:solidFill>
              <a:latin typeface="Nunito"/>
              <a:ea typeface="Nunito"/>
              <a:cs typeface="Nunito"/>
              <a:sym typeface="Nunito"/>
            </a:endParaRPr>
          </a:p>
        </p:txBody>
      </p:sp>
      <p:sp>
        <p:nvSpPr>
          <p:cNvPr id="55" name="Google Shape;55;p13"/>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6" name="Google Shape;56;p13"/>
          <p:cNvSpPr txBox="1"/>
          <p:nvPr/>
        </p:nvSpPr>
        <p:spPr>
          <a:xfrm>
            <a:off x="2351250" y="132300"/>
            <a:ext cx="44415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Lubelski Klub Go</a:t>
            </a:r>
            <a:endParaRPr b="1" sz="3900">
              <a:solidFill>
                <a:schemeClr val="dk2"/>
              </a:solidFill>
              <a:latin typeface="Nunito"/>
              <a:ea typeface="Nunito"/>
              <a:cs typeface="Nunito"/>
              <a:sym typeface="Nunito"/>
            </a:endParaRPr>
          </a:p>
        </p:txBody>
      </p:sp>
      <p:pic>
        <p:nvPicPr>
          <p:cNvPr id="57" name="Google Shape;57;p13"/>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58" name="Google Shape;58;p13"/>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59" name="Google Shape;59;p13"/>
          <p:cNvSpPr txBox="1"/>
          <p:nvPr/>
        </p:nvSpPr>
        <p:spPr>
          <a:xfrm>
            <a:off x="368750" y="3796050"/>
            <a:ext cx="6021900" cy="1115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Dalsza lektura:</a:t>
            </a: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Shape Up! - </a:t>
            </a:r>
            <a:r>
              <a:rPr lang="pl" u="sng">
                <a:solidFill>
                  <a:srgbClr val="00FFFF"/>
                </a:solidFill>
                <a:latin typeface="Nunito"/>
                <a:ea typeface="Nunito"/>
                <a:cs typeface="Nunito"/>
                <a:sym typeface="Nunito"/>
                <a:hlinkClick r:id="rId4">
                  <a:extLst>
                    <a:ext uri="{A12FA001-AC4F-418D-AE19-62706E023703}">
                      <ahyp:hlinkClr val="tx"/>
                    </a:ext>
                  </a:extLst>
                </a:hlinkClick>
              </a:rPr>
              <a:t>https://cdn.online-go.com/shape_up.pdf</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Sensei’s Library - </a:t>
            </a:r>
            <a:r>
              <a:rPr lang="pl" u="sng">
                <a:solidFill>
                  <a:srgbClr val="00FFFF"/>
                </a:solidFill>
                <a:latin typeface="Nunito"/>
                <a:ea typeface="Nunito"/>
                <a:cs typeface="Nunito"/>
                <a:sym typeface="Nunito"/>
                <a:hlinkClick r:id="rId5">
                  <a:extLst>
                    <a:ext uri="{A12FA001-AC4F-418D-AE19-62706E023703}">
                      <ahyp:hlinkClr val="tx"/>
                    </a:ext>
                  </a:extLst>
                </a:hlinkClick>
              </a:rPr>
              <a:t>https://senseis.xmp.net/?AStaticTreatiseOnShape</a:t>
            </a:r>
            <a:endParaRPr>
              <a:solidFill>
                <a:srgbClr val="00FFFF"/>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nvSpPr>
        <p:spPr>
          <a:xfrm>
            <a:off x="368750" y="1155600"/>
            <a:ext cx="8567700" cy="558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sz="2000">
                <a:solidFill>
                  <a:schemeClr val="lt2"/>
                </a:solidFill>
                <a:latin typeface="Nunito"/>
                <a:ea typeface="Nunito"/>
                <a:cs typeface="Nunito"/>
                <a:sym typeface="Nunito"/>
              </a:rPr>
              <a:t>Czym jest kształt w Go? Czy kształt może być dobry albo zły?</a:t>
            </a:r>
            <a:endParaRPr b="1" sz="2000">
              <a:solidFill>
                <a:schemeClr val="lt2"/>
              </a:solidFill>
              <a:latin typeface="Nunito"/>
              <a:ea typeface="Nunito"/>
              <a:cs typeface="Nunito"/>
              <a:sym typeface="Nunito"/>
            </a:endParaRPr>
          </a:p>
        </p:txBody>
      </p:sp>
      <p:sp>
        <p:nvSpPr>
          <p:cNvPr id="65" name="Google Shape;65;p14"/>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4"/>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Kształty - wprowadzenie</a:t>
            </a:r>
            <a:endParaRPr b="1" sz="3900">
              <a:solidFill>
                <a:schemeClr val="dk2"/>
              </a:solidFill>
              <a:latin typeface="Nunito"/>
              <a:ea typeface="Nunito"/>
              <a:cs typeface="Nunito"/>
              <a:sym typeface="Nunito"/>
            </a:endParaRPr>
          </a:p>
        </p:txBody>
      </p:sp>
      <p:pic>
        <p:nvPicPr>
          <p:cNvPr id="67" name="Google Shape;67;p14"/>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68" name="Google Shape;68;p14"/>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69" name="Google Shape;69;p14"/>
          <p:cNvSpPr txBox="1"/>
          <p:nvPr/>
        </p:nvSpPr>
        <p:spPr>
          <a:xfrm>
            <a:off x="368750" y="1571225"/>
            <a:ext cx="8567700" cy="3340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Kształt </a:t>
            </a:r>
            <a:r>
              <a:rPr lang="pl">
                <a:solidFill>
                  <a:schemeClr val="lt2"/>
                </a:solidFill>
                <a:latin typeface="Nunito"/>
                <a:ea typeface="Nunito"/>
                <a:cs typeface="Nunito"/>
                <a:sym typeface="Nunito"/>
              </a:rPr>
              <a:t>to dwa lub więcej kamienie, które są w pewien sposób ze sobą powiązane. Bardzo często kamienie, które </a:t>
            </a:r>
            <a:r>
              <a:rPr lang="pl">
                <a:solidFill>
                  <a:schemeClr val="lt2"/>
                </a:solidFill>
                <a:latin typeface="Nunito"/>
                <a:ea typeface="Nunito"/>
                <a:cs typeface="Nunito"/>
                <a:sym typeface="Nunito"/>
              </a:rPr>
              <a:t>rozpatrujemy</a:t>
            </a:r>
            <a:r>
              <a:rPr lang="pl">
                <a:solidFill>
                  <a:schemeClr val="lt2"/>
                </a:solidFill>
                <a:latin typeface="Nunito"/>
                <a:ea typeface="Nunito"/>
                <a:cs typeface="Nunito"/>
                <a:sym typeface="Nunito"/>
              </a:rPr>
              <a:t> jako kształt mają wspólny cel lub użyteczność.</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Kształty mogą być dobre albo złe. Ale co decyduje o tym, że dany kształt jest dobry? </a:t>
            </a:r>
            <a:r>
              <a:rPr lang="pl">
                <a:solidFill>
                  <a:schemeClr val="lt2"/>
                </a:solidFill>
                <a:latin typeface="Nunito"/>
                <a:ea typeface="Nunito"/>
                <a:cs typeface="Nunito"/>
                <a:sym typeface="Nunito"/>
              </a:rPr>
              <a:t>Wziąć</a:t>
            </a:r>
            <a:r>
              <a:rPr lang="pl">
                <a:solidFill>
                  <a:schemeClr val="lt2"/>
                </a:solidFill>
                <a:latin typeface="Nunito"/>
                <a:ea typeface="Nunito"/>
                <a:cs typeface="Nunito"/>
                <a:sym typeface="Nunito"/>
              </a:rPr>
              <a:t> pod uwagę należy kilka aspektów, pod którymi możemy rozpatrywać każdy kształt. Oto najważniejsze z nich:</a:t>
            </a:r>
            <a:endParaRPr>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Wydajność - stosunek liczby użytych kamieni do stopnia, w jakim realizują one swój cel</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Elastyczność - jakie możliwości kontynuacji / rozbudowy daje nam dany kształt</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Połączenie - jak dobrze w danym kształcie kamienie pozostają ze sobą połączone</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Oczność - jak łatwo (w ilu ruchach) jesteśmy w stanie zbudować oczy na bazie danego kształtu</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Ilość oddechów - ile grupa ma oddechów w </a:t>
            </a:r>
            <a:r>
              <a:rPr lang="pl">
                <a:solidFill>
                  <a:schemeClr val="lt2"/>
                </a:solidFill>
                <a:latin typeface="Nunito"/>
                <a:ea typeface="Nunito"/>
                <a:cs typeface="Nunito"/>
                <a:sym typeface="Nunito"/>
              </a:rPr>
              <a:t>stosunku</a:t>
            </a:r>
            <a:r>
              <a:rPr lang="pl">
                <a:solidFill>
                  <a:schemeClr val="lt2"/>
                </a:solidFill>
                <a:latin typeface="Nunito"/>
                <a:ea typeface="Nunito"/>
                <a:cs typeface="Nunito"/>
                <a:sym typeface="Nunito"/>
              </a:rPr>
              <a:t> do </a:t>
            </a:r>
            <a:r>
              <a:rPr lang="pl">
                <a:solidFill>
                  <a:schemeClr val="lt2"/>
                </a:solidFill>
                <a:latin typeface="Nunito"/>
                <a:ea typeface="Nunito"/>
                <a:cs typeface="Nunito"/>
                <a:sym typeface="Nunito"/>
              </a:rPr>
              <a:t>ilości</a:t>
            </a:r>
            <a:r>
              <a:rPr lang="pl">
                <a:solidFill>
                  <a:schemeClr val="lt2"/>
                </a:solidFill>
                <a:latin typeface="Nunito"/>
                <a:ea typeface="Nunito"/>
                <a:cs typeface="Nunito"/>
                <a:sym typeface="Nunito"/>
              </a:rPr>
              <a:t> kamieni ją tworzących</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Zdolność kształtu do skutecznego ataku lub obrony </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Kombinacje tych cech pozwalają nam także rozpatrywać kształty w kontekście tego czy są lekkie lub ciężkie, silne lub słabe itp.</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rgbClr val="00FFFF"/>
                </a:solidFill>
                <a:latin typeface="Nunito"/>
                <a:ea typeface="Nunito"/>
                <a:cs typeface="Nunito"/>
                <a:sym typeface="Nunito"/>
              </a:rPr>
              <a:t>Nie ma kształtów uniwersalnie dobrych lub złych. Dany </a:t>
            </a:r>
            <a:r>
              <a:rPr lang="pl">
                <a:solidFill>
                  <a:srgbClr val="00FFFF"/>
                </a:solidFill>
                <a:latin typeface="Nunito"/>
                <a:ea typeface="Nunito"/>
                <a:cs typeface="Nunito"/>
                <a:sym typeface="Nunito"/>
              </a:rPr>
              <a:t>kształt</a:t>
            </a:r>
            <a:r>
              <a:rPr lang="pl">
                <a:solidFill>
                  <a:srgbClr val="00FFFF"/>
                </a:solidFill>
                <a:latin typeface="Nunito"/>
                <a:ea typeface="Nunito"/>
                <a:cs typeface="Nunito"/>
                <a:sym typeface="Nunito"/>
              </a:rPr>
              <a:t> zawsze trzeba rozpatrywać sytuacyjnie. </a:t>
            </a:r>
            <a:endParaRPr>
              <a:solidFill>
                <a:srgbClr val="00FFFF"/>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nvSpPr>
        <p:spPr>
          <a:xfrm>
            <a:off x="368750" y="1280575"/>
            <a:ext cx="8567700" cy="558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sz="2000">
                <a:solidFill>
                  <a:schemeClr val="lt2"/>
                </a:solidFill>
                <a:latin typeface="Nunito"/>
                <a:ea typeface="Nunito"/>
                <a:cs typeface="Nunito"/>
                <a:sym typeface="Nunito"/>
              </a:rPr>
              <a:t>NOBI - podstawowy kształt dający gwarancję łączności</a:t>
            </a:r>
            <a:endParaRPr b="1" sz="2000">
              <a:solidFill>
                <a:schemeClr val="lt2"/>
              </a:solidFill>
              <a:latin typeface="Nunito"/>
              <a:ea typeface="Nunito"/>
              <a:cs typeface="Nunito"/>
              <a:sym typeface="Nunito"/>
            </a:endParaRPr>
          </a:p>
        </p:txBody>
      </p:sp>
      <p:sp>
        <p:nvSpPr>
          <p:cNvPr id="75" name="Google Shape;75;p15"/>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6" name="Google Shape;76;p15"/>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Nobi - wydłużenie</a:t>
            </a:r>
            <a:endParaRPr b="1" sz="3900">
              <a:solidFill>
                <a:schemeClr val="dk2"/>
              </a:solidFill>
              <a:latin typeface="Nunito"/>
              <a:ea typeface="Nunito"/>
              <a:cs typeface="Nunito"/>
              <a:sym typeface="Nunito"/>
            </a:endParaRPr>
          </a:p>
        </p:txBody>
      </p:sp>
      <p:pic>
        <p:nvPicPr>
          <p:cNvPr id="77" name="Google Shape;77;p15"/>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78" name="Google Shape;78;p15"/>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79" name="Google Shape;79;p15"/>
          <p:cNvSpPr txBox="1"/>
          <p:nvPr/>
        </p:nvSpPr>
        <p:spPr>
          <a:xfrm>
            <a:off x="368750" y="1936650"/>
            <a:ext cx="6021900" cy="2974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Nobi </a:t>
            </a:r>
            <a:r>
              <a:rPr lang="pl">
                <a:solidFill>
                  <a:schemeClr val="lt2"/>
                </a:solidFill>
                <a:latin typeface="Nunito"/>
                <a:ea typeface="Nunito"/>
                <a:cs typeface="Nunito"/>
                <a:sym typeface="Nunito"/>
              </a:rPr>
              <a:t>to wydłużenie po linii o 1 od naszego kamienia. </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Cechy:</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Nie da się rozdzielić (kamienie są jak zespawane)</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Zwiększa ilość oddechów</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Solidny, silny kształt</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Wolny w kontekście otaczania terenu lub ucieczki</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Kiedy stosować:</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Gdy kamienie przeciwnika nas dotykają lub są bardzo blisko</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Gdy chcemy mieć pewność, że nie da się rozdzielić naszych kamieni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Gdy chcemy wzmocnić pojedynczy kamień, dodając mu oddechów</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Daje możliwość odskoku na większą odległość</a:t>
            </a:r>
            <a:endParaRPr>
              <a:solidFill>
                <a:schemeClr val="lt2"/>
              </a:solidFill>
              <a:latin typeface="Nunito"/>
              <a:ea typeface="Nunito"/>
              <a:cs typeface="Nunito"/>
              <a:sym typeface="Nunito"/>
            </a:endParaRPr>
          </a:p>
        </p:txBody>
      </p:sp>
      <p:pic>
        <p:nvPicPr>
          <p:cNvPr id="80" name="Google Shape;80;p15"/>
          <p:cNvPicPr preferRelativeResize="0"/>
          <p:nvPr/>
        </p:nvPicPr>
        <p:blipFill>
          <a:blip r:embed="rId4">
            <a:alphaModFix/>
          </a:blip>
          <a:stretch>
            <a:fillRect/>
          </a:stretch>
        </p:blipFill>
        <p:spPr>
          <a:xfrm>
            <a:off x="6618575" y="3156000"/>
            <a:ext cx="2042300" cy="1755450"/>
          </a:xfrm>
          <a:prstGeom prst="rect">
            <a:avLst/>
          </a:prstGeom>
          <a:noFill/>
          <a:ln cap="flat" cmpd="sng" w="38100">
            <a:solidFill>
              <a:schemeClr val="lt2"/>
            </a:solidFill>
            <a:prstDash val="solid"/>
            <a:round/>
            <a:headEnd len="sm" w="sm" type="none"/>
            <a:tailEnd len="sm" w="sm" type="none"/>
          </a:ln>
        </p:spPr>
      </p:pic>
      <p:pic>
        <p:nvPicPr>
          <p:cNvPr id="81" name="Google Shape;81;p15"/>
          <p:cNvPicPr preferRelativeResize="0"/>
          <p:nvPr/>
        </p:nvPicPr>
        <p:blipFill>
          <a:blip r:embed="rId5">
            <a:alphaModFix/>
          </a:blip>
          <a:stretch>
            <a:fillRect/>
          </a:stretch>
        </p:blipFill>
        <p:spPr>
          <a:xfrm>
            <a:off x="7407075" y="1363925"/>
            <a:ext cx="1253800" cy="155055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6"/>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7" name="Google Shape;87;p16"/>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Kosumi </a:t>
            </a:r>
            <a:r>
              <a:rPr b="1" lang="pl" sz="3500">
                <a:solidFill>
                  <a:schemeClr val="dk2"/>
                </a:solidFill>
                <a:latin typeface="Nunito"/>
                <a:ea typeface="Nunito"/>
                <a:cs typeface="Nunito"/>
                <a:sym typeface="Nunito"/>
              </a:rPr>
              <a:t>- ruch diagonalny</a:t>
            </a:r>
            <a:endParaRPr b="1" sz="3900">
              <a:solidFill>
                <a:schemeClr val="dk2"/>
              </a:solidFill>
              <a:latin typeface="Nunito"/>
              <a:ea typeface="Nunito"/>
              <a:cs typeface="Nunito"/>
              <a:sym typeface="Nunito"/>
            </a:endParaRPr>
          </a:p>
        </p:txBody>
      </p:sp>
      <p:pic>
        <p:nvPicPr>
          <p:cNvPr id="88" name="Google Shape;88;p16"/>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89" name="Google Shape;89;p16"/>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90" name="Google Shape;90;p16"/>
          <p:cNvSpPr txBox="1"/>
          <p:nvPr/>
        </p:nvSpPr>
        <p:spPr>
          <a:xfrm>
            <a:off x="128450" y="1188675"/>
            <a:ext cx="6021900" cy="2974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Kosumi </a:t>
            </a:r>
            <a:r>
              <a:rPr lang="pl">
                <a:solidFill>
                  <a:schemeClr val="lt2"/>
                </a:solidFill>
                <a:latin typeface="Nunito"/>
                <a:ea typeface="Nunito"/>
                <a:cs typeface="Nunito"/>
                <a:sym typeface="Nunito"/>
              </a:rPr>
              <a:t>to ruch po przekątnej o </a:t>
            </a:r>
            <a:r>
              <a:rPr lang="pl">
                <a:solidFill>
                  <a:schemeClr val="lt2"/>
                </a:solidFill>
                <a:latin typeface="Nunito"/>
                <a:ea typeface="Nunito"/>
                <a:cs typeface="Nunito"/>
                <a:sym typeface="Nunito"/>
              </a:rPr>
              <a:t>1 od naszego kamienia</a:t>
            </a:r>
            <a:r>
              <a:rPr lang="pl">
                <a:solidFill>
                  <a:schemeClr val="lt2"/>
                </a:solidFill>
                <a:latin typeface="Nunito"/>
                <a:ea typeface="Nunito"/>
                <a:cs typeface="Nunito"/>
                <a:sym typeface="Nunito"/>
              </a:rPr>
              <a:t>. </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Cechy:</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rgbClr val="00FF00"/>
                </a:solidFill>
                <a:latin typeface="Nunito"/>
                <a:ea typeface="Nunito"/>
                <a:cs typeface="Nunito"/>
                <a:sym typeface="Nunito"/>
              </a:rPr>
              <a:t>Nie da się rozdzielić w 1 ruchu</a:t>
            </a:r>
            <a:r>
              <a:rPr lang="pl">
                <a:solidFill>
                  <a:schemeClr val="lt2"/>
                </a:solidFill>
                <a:latin typeface="Nunito"/>
                <a:ea typeface="Nunito"/>
                <a:cs typeface="Nunito"/>
                <a:sym typeface="Nunito"/>
              </a:rPr>
              <a:t> - zdążymy się połączyć</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Pozwala grać nieco szerzej niż wydłużenie (Nobi)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Ruch defensywny, blokujący</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Wolny w kontekście otaczania terenu lub ucieczki</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Kiedy stosować:</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Gdy chcemy </a:t>
            </a:r>
            <a:r>
              <a:rPr lang="pl">
                <a:solidFill>
                  <a:schemeClr val="lt2"/>
                </a:solidFill>
                <a:latin typeface="Nunito"/>
                <a:ea typeface="Nunito"/>
                <a:cs typeface="Nunito"/>
                <a:sym typeface="Nunito"/>
              </a:rPr>
              <a:t>zamykać</a:t>
            </a:r>
            <a:r>
              <a:rPr lang="pl">
                <a:solidFill>
                  <a:schemeClr val="lt2"/>
                </a:solidFill>
                <a:latin typeface="Nunito"/>
                <a:ea typeface="Nunito"/>
                <a:cs typeface="Nunito"/>
                <a:sym typeface="Nunito"/>
              </a:rPr>
              <a:t> granicę terenu na 1 lub 2 linii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Gdy chcemy mieć pewność, że nie da się rozdzielić naszych kamieni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Gdy chcemy połączyć kamienie nieco oddalone od siebie</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Pozwala stworzyć dwa alternatywne kierunki kontynuacji (cięcie Shusaku)</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Często stosowany jako wzmocnienie grupy przed rozpoczęciem ataku</a:t>
            </a:r>
            <a:endParaRPr>
              <a:solidFill>
                <a:schemeClr val="lt2"/>
              </a:solidFill>
              <a:latin typeface="Nunito"/>
              <a:ea typeface="Nunito"/>
              <a:cs typeface="Nunito"/>
              <a:sym typeface="Nunito"/>
            </a:endParaRPr>
          </a:p>
        </p:txBody>
      </p:sp>
      <p:pic>
        <p:nvPicPr>
          <p:cNvPr id="91" name="Google Shape;91;p16"/>
          <p:cNvPicPr preferRelativeResize="0"/>
          <p:nvPr/>
        </p:nvPicPr>
        <p:blipFill>
          <a:blip r:embed="rId4">
            <a:alphaModFix/>
          </a:blip>
          <a:stretch>
            <a:fillRect/>
          </a:stretch>
        </p:blipFill>
        <p:spPr>
          <a:xfrm>
            <a:off x="7407075" y="1372960"/>
            <a:ext cx="1253800" cy="1397307"/>
          </a:xfrm>
          <a:prstGeom prst="rect">
            <a:avLst/>
          </a:prstGeom>
          <a:noFill/>
          <a:ln cap="flat" cmpd="sng" w="38100">
            <a:solidFill>
              <a:schemeClr val="lt2"/>
            </a:solidFill>
            <a:prstDash val="solid"/>
            <a:round/>
            <a:headEnd len="sm" w="sm" type="none"/>
            <a:tailEnd len="sm" w="sm" type="none"/>
          </a:ln>
        </p:spPr>
      </p:pic>
      <p:pic>
        <p:nvPicPr>
          <p:cNvPr id="92" name="Google Shape;92;p16"/>
          <p:cNvPicPr preferRelativeResize="0"/>
          <p:nvPr/>
        </p:nvPicPr>
        <p:blipFill>
          <a:blip r:embed="rId5">
            <a:alphaModFix/>
          </a:blip>
          <a:stretch>
            <a:fillRect/>
          </a:stretch>
        </p:blipFill>
        <p:spPr>
          <a:xfrm>
            <a:off x="5382949" y="1371400"/>
            <a:ext cx="1642801" cy="1397325"/>
          </a:xfrm>
          <a:prstGeom prst="rect">
            <a:avLst/>
          </a:prstGeom>
          <a:noFill/>
          <a:ln cap="flat" cmpd="sng" w="38100">
            <a:solidFill>
              <a:schemeClr val="lt2"/>
            </a:solidFill>
            <a:prstDash val="solid"/>
            <a:round/>
            <a:headEnd len="sm" w="sm" type="none"/>
            <a:tailEnd len="sm" w="sm" type="none"/>
          </a:ln>
        </p:spPr>
      </p:pic>
      <p:pic>
        <p:nvPicPr>
          <p:cNvPr id="93" name="Google Shape;93;p16"/>
          <p:cNvPicPr preferRelativeResize="0"/>
          <p:nvPr/>
        </p:nvPicPr>
        <p:blipFill>
          <a:blip r:embed="rId6">
            <a:alphaModFix/>
          </a:blip>
          <a:stretch>
            <a:fillRect/>
          </a:stretch>
        </p:blipFill>
        <p:spPr>
          <a:xfrm>
            <a:off x="6543050" y="3029924"/>
            <a:ext cx="2117825" cy="188347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7"/>
          <p:cNvSpPr txBox="1"/>
          <p:nvPr/>
        </p:nvSpPr>
        <p:spPr>
          <a:xfrm>
            <a:off x="368750" y="1280575"/>
            <a:ext cx="8567700" cy="558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sz="2000">
                <a:solidFill>
                  <a:schemeClr val="lt2"/>
                </a:solidFill>
                <a:latin typeface="Nunito"/>
                <a:ea typeface="Nunito"/>
                <a:cs typeface="Nunito"/>
                <a:sym typeface="Nunito"/>
              </a:rPr>
              <a:t>Głupi trójkąt  - empty triangle - aki sankaku</a:t>
            </a:r>
            <a:endParaRPr b="1" sz="2000">
              <a:solidFill>
                <a:schemeClr val="lt2"/>
              </a:solidFill>
              <a:latin typeface="Nunito"/>
              <a:ea typeface="Nunito"/>
              <a:cs typeface="Nunito"/>
              <a:sym typeface="Nunito"/>
            </a:endParaRPr>
          </a:p>
        </p:txBody>
      </p:sp>
      <p:sp>
        <p:nvSpPr>
          <p:cNvPr id="99" name="Google Shape;99;p17"/>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7"/>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Głupi trójkąt / pusty trójkąt</a:t>
            </a:r>
            <a:endParaRPr b="1" sz="3900">
              <a:solidFill>
                <a:schemeClr val="dk2"/>
              </a:solidFill>
              <a:latin typeface="Nunito"/>
              <a:ea typeface="Nunito"/>
              <a:cs typeface="Nunito"/>
              <a:sym typeface="Nunito"/>
            </a:endParaRPr>
          </a:p>
        </p:txBody>
      </p:sp>
      <p:pic>
        <p:nvPicPr>
          <p:cNvPr id="101" name="Google Shape;101;p17"/>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02" name="Google Shape;102;p17"/>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03" name="Google Shape;103;p17"/>
          <p:cNvSpPr txBox="1"/>
          <p:nvPr/>
        </p:nvSpPr>
        <p:spPr>
          <a:xfrm>
            <a:off x="268450" y="1839475"/>
            <a:ext cx="5409900" cy="2974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Głupi trójkąt</a:t>
            </a:r>
            <a:r>
              <a:rPr b="1" lang="pl">
                <a:solidFill>
                  <a:schemeClr val="lt2"/>
                </a:solidFill>
                <a:latin typeface="Nunito"/>
                <a:ea typeface="Nunito"/>
                <a:cs typeface="Nunito"/>
                <a:sym typeface="Nunito"/>
              </a:rPr>
              <a:t> </a:t>
            </a:r>
            <a:r>
              <a:rPr lang="pl">
                <a:solidFill>
                  <a:schemeClr val="lt2"/>
                </a:solidFill>
                <a:latin typeface="Nunito"/>
                <a:ea typeface="Nunito"/>
                <a:cs typeface="Nunito"/>
                <a:sym typeface="Nunito"/>
              </a:rPr>
              <a:t>to przykład złego kształtu. </a:t>
            </a:r>
            <a:r>
              <a:rPr lang="pl">
                <a:solidFill>
                  <a:schemeClr val="lt2"/>
                </a:solidFill>
                <a:latin typeface="Nunito"/>
                <a:ea typeface="Nunito"/>
                <a:cs typeface="Nunito"/>
                <a:sym typeface="Nunito"/>
              </a:rPr>
              <a:t>Jest to kształt, w którym jeden z kamieni jest całkowicie zbędny (doklejony do kosumi). </a:t>
            </a:r>
            <a:r>
              <a:rPr lang="pl">
                <a:solidFill>
                  <a:srgbClr val="FF0000"/>
                </a:solidFill>
                <a:latin typeface="Nunito"/>
                <a:ea typeface="Nunito"/>
                <a:cs typeface="Nunito"/>
                <a:sym typeface="Nunito"/>
              </a:rPr>
              <a:t>Co do zasady unikamy grania głupich trójkątów.</a:t>
            </a:r>
            <a:r>
              <a:rPr lang="pl">
                <a:solidFill>
                  <a:schemeClr val="lt2"/>
                </a:solidFill>
                <a:latin typeface="Nunito"/>
                <a:ea typeface="Nunito"/>
                <a:cs typeface="Nunito"/>
                <a:sym typeface="Nunito"/>
              </a:rPr>
              <a:t> Zdarzają się sytuacje kiedy </a:t>
            </a:r>
            <a:r>
              <a:rPr lang="pl">
                <a:solidFill>
                  <a:schemeClr val="lt2"/>
                </a:solidFill>
                <a:latin typeface="Nunito"/>
                <a:ea typeface="Nunito"/>
                <a:cs typeface="Nunito"/>
                <a:sym typeface="Nunito"/>
              </a:rPr>
              <a:t>użycie</a:t>
            </a:r>
            <a:r>
              <a:rPr lang="pl">
                <a:solidFill>
                  <a:schemeClr val="lt2"/>
                </a:solidFill>
                <a:latin typeface="Nunito"/>
                <a:ea typeface="Nunito"/>
                <a:cs typeface="Nunito"/>
                <a:sym typeface="Nunito"/>
              </a:rPr>
              <a:t> tego kształtu jest jedynym możliwym rozwiązaniem (przykładowo w sytuacji, gdy uniemożliwia to złapanie naszych kamieni lub skutecznie rozcina kamienie przeciwnika), ale są to sytuacje rzadkie.</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Jeśli w naszej grze chcemy zagrać ten kształt, zawsze powinniśmy najpierw poszukać alternatyw - innych kształtów, które pozwolą </a:t>
            </a:r>
            <a:r>
              <a:rPr lang="pl">
                <a:solidFill>
                  <a:schemeClr val="lt2"/>
                </a:solidFill>
                <a:latin typeface="Nunito"/>
                <a:ea typeface="Nunito"/>
                <a:cs typeface="Nunito"/>
                <a:sym typeface="Nunito"/>
              </a:rPr>
              <a:t>osiągnąć</a:t>
            </a:r>
            <a:r>
              <a:rPr lang="pl">
                <a:solidFill>
                  <a:schemeClr val="lt2"/>
                </a:solidFill>
                <a:latin typeface="Nunito"/>
                <a:ea typeface="Nunito"/>
                <a:cs typeface="Nunito"/>
                <a:sym typeface="Nunito"/>
              </a:rPr>
              <a:t> to samo.</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Specyficzne ułożenie kamieni (zbite) oraz stosunkowo niska ilość oddechów sprawiają, że jest łatwym celem do atakowania.</a:t>
            </a:r>
            <a:endParaRPr>
              <a:solidFill>
                <a:schemeClr val="lt2"/>
              </a:solidFill>
              <a:latin typeface="Nunito"/>
              <a:ea typeface="Nunito"/>
              <a:cs typeface="Nunito"/>
              <a:sym typeface="Nunito"/>
            </a:endParaRPr>
          </a:p>
        </p:txBody>
      </p:sp>
      <p:pic>
        <p:nvPicPr>
          <p:cNvPr id="104" name="Google Shape;104;p17"/>
          <p:cNvPicPr preferRelativeResize="0"/>
          <p:nvPr/>
        </p:nvPicPr>
        <p:blipFill>
          <a:blip r:embed="rId4">
            <a:alphaModFix/>
          </a:blip>
          <a:stretch>
            <a:fillRect/>
          </a:stretch>
        </p:blipFill>
        <p:spPr>
          <a:xfrm>
            <a:off x="5822826" y="1839475"/>
            <a:ext cx="2978449" cy="297480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nvSpPr>
        <p:spPr>
          <a:xfrm>
            <a:off x="368750" y="1182488"/>
            <a:ext cx="8567700" cy="558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sz="2000">
                <a:solidFill>
                  <a:schemeClr val="lt2"/>
                </a:solidFill>
                <a:latin typeface="Nunito"/>
                <a:ea typeface="Nunito"/>
                <a:cs typeface="Nunito"/>
                <a:sym typeface="Nunito"/>
              </a:rPr>
              <a:t>Magari</a:t>
            </a:r>
            <a:r>
              <a:rPr b="1" lang="pl" sz="2000">
                <a:solidFill>
                  <a:schemeClr val="lt2"/>
                </a:solidFill>
                <a:latin typeface="Nunito"/>
                <a:ea typeface="Nunito"/>
                <a:cs typeface="Nunito"/>
                <a:sym typeface="Nunito"/>
              </a:rPr>
              <a:t>  - </a:t>
            </a:r>
            <a:r>
              <a:rPr lang="pl" sz="2000">
                <a:solidFill>
                  <a:schemeClr val="lt2"/>
                </a:solidFill>
                <a:latin typeface="Nunito"/>
                <a:ea typeface="Nunito"/>
                <a:cs typeface="Nunito"/>
                <a:sym typeface="Nunito"/>
              </a:rPr>
              <a:t>mały wielki ruch</a:t>
            </a:r>
            <a:endParaRPr sz="2000">
              <a:solidFill>
                <a:schemeClr val="lt2"/>
              </a:solidFill>
              <a:latin typeface="Nunito"/>
              <a:ea typeface="Nunito"/>
              <a:cs typeface="Nunito"/>
              <a:sym typeface="Nunito"/>
            </a:endParaRPr>
          </a:p>
        </p:txBody>
      </p:sp>
      <p:sp>
        <p:nvSpPr>
          <p:cNvPr id="110" name="Google Shape;110;p18"/>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1" name="Google Shape;111;p18"/>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Magari - zagięcie</a:t>
            </a:r>
            <a:endParaRPr b="1" sz="3900">
              <a:solidFill>
                <a:schemeClr val="dk2"/>
              </a:solidFill>
              <a:latin typeface="Nunito"/>
              <a:ea typeface="Nunito"/>
              <a:cs typeface="Nunito"/>
              <a:sym typeface="Nunito"/>
            </a:endParaRPr>
          </a:p>
        </p:txBody>
      </p:sp>
      <p:pic>
        <p:nvPicPr>
          <p:cNvPr id="112" name="Google Shape;112;p18"/>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13" name="Google Shape;113;p18"/>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14" name="Google Shape;114;p18"/>
          <p:cNvSpPr txBox="1"/>
          <p:nvPr/>
        </p:nvSpPr>
        <p:spPr>
          <a:xfrm>
            <a:off x="368750" y="1636575"/>
            <a:ext cx="4973100" cy="3274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Magari</a:t>
            </a:r>
            <a:r>
              <a:rPr b="1" lang="pl">
                <a:solidFill>
                  <a:schemeClr val="lt2"/>
                </a:solidFill>
                <a:latin typeface="Nunito"/>
                <a:ea typeface="Nunito"/>
                <a:cs typeface="Nunito"/>
                <a:sym typeface="Nunito"/>
              </a:rPr>
              <a:t> </a:t>
            </a:r>
            <a:r>
              <a:rPr lang="pl">
                <a:solidFill>
                  <a:schemeClr val="lt2"/>
                </a:solidFill>
                <a:latin typeface="Nunito"/>
                <a:ea typeface="Nunito"/>
                <a:cs typeface="Nunito"/>
                <a:sym typeface="Nunito"/>
              </a:rPr>
              <a:t>to ruch, który lokalnie wygląda na mały i wolny. Może się wręcz wydawać, że nic nie wnosi do gry i </a:t>
            </a:r>
            <a:r>
              <a:rPr lang="pl">
                <a:solidFill>
                  <a:schemeClr val="lt2"/>
                </a:solidFill>
                <a:latin typeface="Nunito"/>
                <a:ea typeface="Nunito"/>
                <a:cs typeface="Nunito"/>
                <a:sym typeface="Nunito"/>
              </a:rPr>
              <a:t>niespecjalnie</a:t>
            </a:r>
            <a:r>
              <a:rPr lang="pl">
                <a:solidFill>
                  <a:schemeClr val="lt2"/>
                </a:solidFill>
                <a:latin typeface="Nunito"/>
                <a:ea typeface="Nunito"/>
                <a:cs typeface="Nunito"/>
                <a:sym typeface="Nunito"/>
              </a:rPr>
              <a:t> zmienia sytuację na planszy. Łatwo ulec złudzeniu, że nawet nobi (wydłużenie) w ‘A’ jest korzystniejsze od zagięcia, bo w pewniejszy sposób otacza teren.</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a:solidFill>
                  <a:schemeClr val="lt2"/>
                </a:solidFill>
                <a:latin typeface="Nunito"/>
                <a:ea typeface="Nunito"/>
                <a:cs typeface="Nunito"/>
                <a:sym typeface="Nunito"/>
              </a:rPr>
              <a:t>Praktyka pokazuje jednak, że magari rozpatrywane w kontekście całej planszy jest ruchem ogromnym i </a:t>
            </a:r>
            <a:r>
              <a:rPr lang="pl">
                <a:solidFill>
                  <a:schemeClr val="lt2"/>
                </a:solidFill>
                <a:latin typeface="Nunito"/>
                <a:ea typeface="Nunito"/>
                <a:cs typeface="Nunito"/>
                <a:sym typeface="Nunito"/>
              </a:rPr>
              <a:t>potrafi </a:t>
            </a:r>
            <a:r>
              <a:rPr lang="pl">
                <a:solidFill>
                  <a:schemeClr val="lt2"/>
                </a:solidFill>
                <a:latin typeface="Nunito"/>
                <a:ea typeface="Nunito"/>
                <a:cs typeface="Nunito"/>
                <a:sym typeface="Nunito"/>
              </a:rPr>
              <a:t>całkowicie odmienić (zagiąć) kierunek gry i jej dalszy przebieg.</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Wyglądem może nieco przypominać głupi trójkąt, ale w przeciwieństwie do niego nie otacza pustego pola i jest ruchem znakomitym.</a:t>
            </a:r>
            <a:endParaRPr>
              <a:solidFill>
                <a:schemeClr val="lt2"/>
              </a:solidFill>
              <a:latin typeface="Nunito"/>
              <a:ea typeface="Nunito"/>
              <a:cs typeface="Nunito"/>
              <a:sym typeface="Nunito"/>
            </a:endParaRPr>
          </a:p>
        </p:txBody>
      </p:sp>
      <p:pic>
        <p:nvPicPr>
          <p:cNvPr id="115" name="Google Shape;115;p18"/>
          <p:cNvPicPr preferRelativeResize="0"/>
          <p:nvPr/>
        </p:nvPicPr>
        <p:blipFill>
          <a:blip r:embed="rId4">
            <a:alphaModFix/>
          </a:blip>
          <a:stretch>
            <a:fillRect/>
          </a:stretch>
        </p:blipFill>
        <p:spPr>
          <a:xfrm>
            <a:off x="5548650" y="1542175"/>
            <a:ext cx="3356799" cy="3369276"/>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9"/>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9"/>
          <p:cNvSpPr txBox="1"/>
          <p:nvPr/>
        </p:nvSpPr>
        <p:spPr>
          <a:xfrm>
            <a:off x="1082688" y="132300"/>
            <a:ext cx="69567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Hane</a:t>
            </a:r>
            <a:r>
              <a:rPr b="1" lang="pl" sz="3500">
                <a:solidFill>
                  <a:schemeClr val="dk2"/>
                </a:solidFill>
                <a:latin typeface="Nunito"/>
                <a:ea typeface="Nunito"/>
                <a:cs typeface="Nunito"/>
                <a:sym typeface="Nunito"/>
              </a:rPr>
              <a:t> - blokujemy wydłużenie</a:t>
            </a:r>
            <a:endParaRPr b="1" sz="3900">
              <a:solidFill>
                <a:schemeClr val="dk2"/>
              </a:solidFill>
              <a:latin typeface="Nunito"/>
              <a:ea typeface="Nunito"/>
              <a:cs typeface="Nunito"/>
              <a:sym typeface="Nunito"/>
            </a:endParaRPr>
          </a:p>
        </p:txBody>
      </p:sp>
      <p:pic>
        <p:nvPicPr>
          <p:cNvPr id="122" name="Google Shape;122;p19"/>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23" name="Google Shape;123;p19"/>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24" name="Google Shape;124;p19"/>
          <p:cNvSpPr txBox="1"/>
          <p:nvPr/>
        </p:nvSpPr>
        <p:spPr>
          <a:xfrm>
            <a:off x="368750" y="1297475"/>
            <a:ext cx="6312000" cy="3111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HANE</a:t>
            </a:r>
            <a:r>
              <a:rPr b="1" lang="pl">
                <a:solidFill>
                  <a:schemeClr val="lt2"/>
                </a:solidFill>
                <a:latin typeface="Nunito"/>
                <a:ea typeface="Nunito"/>
                <a:cs typeface="Nunito"/>
                <a:sym typeface="Nunito"/>
              </a:rPr>
              <a:t> </a:t>
            </a:r>
            <a:r>
              <a:rPr lang="pl">
                <a:solidFill>
                  <a:schemeClr val="lt2"/>
                </a:solidFill>
                <a:latin typeface="Nunito"/>
                <a:ea typeface="Nunito"/>
                <a:cs typeface="Nunito"/>
                <a:sym typeface="Nunito"/>
              </a:rPr>
              <a:t>to ruch diagonalny (kosumi), </a:t>
            </a:r>
            <a:r>
              <a:rPr lang="pl">
                <a:solidFill>
                  <a:schemeClr val="lt2"/>
                </a:solidFill>
                <a:latin typeface="Nunito"/>
                <a:ea typeface="Nunito"/>
                <a:cs typeface="Nunito"/>
                <a:sym typeface="Nunito"/>
              </a:rPr>
              <a:t>który</a:t>
            </a:r>
            <a:r>
              <a:rPr lang="pl">
                <a:solidFill>
                  <a:schemeClr val="lt2"/>
                </a:solidFill>
                <a:latin typeface="Nunito"/>
                <a:ea typeface="Nunito"/>
                <a:cs typeface="Nunito"/>
                <a:sym typeface="Nunito"/>
              </a:rPr>
              <a:t> blokuje wydłużenie przeciwnika. </a:t>
            </a:r>
            <a:endParaRPr>
              <a:solidFill>
                <a:schemeClr val="lt2"/>
              </a:solidFill>
              <a:latin typeface="Nunito"/>
              <a:ea typeface="Nunito"/>
              <a:cs typeface="Nunito"/>
              <a:sym typeface="Nunito"/>
            </a:endParaRPr>
          </a:p>
          <a:p>
            <a:pPr indent="-317500" lvl="0" marL="457200" marR="0" rtl="0" algn="just">
              <a:lnSpc>
                <a:spcPct val="100000"/>
              </a:lnSpc>
              <a:spcBef>
                <a:spcPts val="1000"/>
              </a:spcBef>
              <a:spcAft>
                <a:spcPts val="0"/>
              </a:spcAft>
              <a:buClr>
                <a:srgbClr val="00FF00"/>
              </a:buClr>
              <a:buSzPts val="1400"/>
              <a:buFont typeface="Nunito"/>
              <a:buChar char="➢"/>
            </a:pPr>
            <a:r>
              <a:rPr lang="pl">
                <a:solidFill>
                  <a:srgbClr val="00FF00"/>
                </a:solidFill>
                <a:latin typeface="Nunito"/>
                <a:ea typeface="Nunito"/>
                <a:cs typeface="Nunito"/>
                <a:sym typeface="Nunito"/>
              </a:rPr>
              <a:t>Zawsze graj HANE na dwa lub trzy kamienie przeciwnika.</a:t>
            </a:r>
            <a:endParaRPr>
              <a:solidFill>
                <a:srgbClr val="00FF00"/>
              </a:solidFill>
              <a:latin typeface="Nunito"/>
              <a:ea typeface="Nunito"/>
              <a:cs typeface="Nunito"/>
              <a:sym typeface="Nunito"/>
            </a:endParaRPr>
          </a:p>
          <a:p>
            <a:pPr indent="-317500" lvl="0" marL="457200" marR="0" rtl="0" algn="just">
              <a:lnSpc>
                <a:spcPct val="100000"/>
              </a:lnSpc>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HANE niesie śmierć.</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Cechy:</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Zabiera oddech i rozpoczyna otaczanie kamieni przeciwnika</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Stawia opór w stosunku do otaczania naszych kamieni</a:t>
            </a:r>
            <a:endParaRPr>
              <a:solidFill>
                <a:schemeClr val="lt2"/>
              </a:solidFill>
              <a:latin typeface="Nunito"/>
              <a:ea typeface="Nunito"/>
              <a:cs typeface="Nunito"/>
              <a:sym typeface="Nunito"/>
            </a:endParaRPr>
          </a:p>
          <a:p>
            <a:pPr indent="-317500" lvl="0" marL="457200" rtl="0" algn="just">
              <a:spcBef>
                <a:spcPts val="0"/>
              </a:spcBef>
              <a:spcAft>
                <a:spcPts val="0"/>
              </a:spcAft>
              <a:buClr>
                <a:srgbClr val="FF0000"/>
              </a:buClr>
              <a:buSzPts val="1400"/>
              <a:buFont typeface="Nunito"/>
              <a:buChar char="●"/>
            </a:pPr>
            <a:r>
              <a:rPr lang="pl">
                <a:solidFill>
                  <a:srgbClr val="FF0000"/>
                </a:solidFill>
                <a:latin typeface="Nunito"/>
                <a:ea typeface="Nunito"/>
                <a:cs typeface="Nunito"/>
                <a:sym typeface="Nunito"/>
              </a:rPr>
              <a:t>Pozostawia cięcia!</a:t>
            </a:r>
            <a:endParaRPr>
              <a:solidFill>
                <a:srgbClr val="FF0000"/>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Kiedy stosować:</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Zawsze gdy nasze kamienie “idą” </a:t>
            </a:r>
            <a:r>
              <a:rPr lang="pl">
                <a:solidFill>
                  <a:schemeClr val="lt2"/>
                </a:solidFill>
                <a:latin typeface="Nunito"/>
                <a:ea typeface="Nunito"/>
                <a:cs typeface="Nunito"/>
                <a:sym typeface="Nunito"/>
              </a:rPr>
              <a:t>ramię</a:t>
            </a:r>
            <a:r>
              <a:rPr lang="pl">
                <a:solidFill>
                  <a:schemeClr val="lt2"/>
                </a:solidFill>
                <a:latin typeface="Nunito"/>
                <a:ea typeface="Nunito"/>
                <a:cs typeface="Nunito"/>
                <a:sym typeface="Nunito"/>
              </a:rPr>
              <a:t> w </a:t>
            </a:r>
            <a:r>
              <a:rPr lang="pl">
                <a:solidFill>
                  <a:schemeClr val="lt2"/>
                </a:solidFill>
                <a:latin typeface="Nunito"/>
                <a:ea typeface="Nunito"/>
                <a:cs typeface="Nunito"/>
                <a:sym typeface="Nunito"/>
              </a:rPr>
              <a:t>ramię wzdłuż</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W walce, gdy przeciwnik ma mało oddechów (HANE niesie śmierć)</a:t>
            </a:r>
            <a:endParaRPr>
              <a:solidFill>
                <a:schemeClr val="lt2"/>
              </a:solidFill>
              <a:latin typeface="Nunito"/>
              <a:ea typeface="Nunito"/>
              <a:cs typeface="Nunito"/>
              <a:sym typeface="Nunito"/>
            </a:endParaRPr>
          </a:p>
          <a:p>
            <a:pPr indent="-317500" lvl="0" marL="457200" rtl="0" algn="just">
              <a:spcBef>
                <a:spcPts val="0"/>
              </a:spcBef>
              <a:spcAft>
                <a:spcPts val="0"/>
              </a:spcAft>
              <a:buClr>
                <a:srgbClr val="00FFFF"/>
              </a:buClr>
              <a:buSzPts val="1400"/>
              <a:buFont typeface="Nunito"/>
              <a:buChar char="●"/>
            </a:pPr>
            <a:r>
              <a:rPr lang="pl">
                <a:solidFill>
                  <a:srgbClr val="00FFFF"/>
                </a:solidFill>
                <a:latin typeface="Nunito"/>
                <a:ea typeface="Nunito"/>
                <a:cs typeface="Nunito"/>
                <a:sym typeface="Nunito"/>
              </a:rPr>
              <a:t>Gdy jesteśmy silni możemy zagrać podwójne hane</a:t>
            </a:r>
            <a:endParaRPr>
              <a:solidFill>
                <a:srgbClr val="00FFFF"/>
              </a:solidFill>
              <a:latin typeface="Nunito"/>
              <a:ea typeface="Nunito"/>
              <a:cs typeface="Nunito"/>
              <a:sym typeface="Nunito"/>
            </a:endParaRPr>
          </a:p>
        </p:txBody>
      </p:sp>
      <p:pic>
        <p:nvPicPr>
          <p:cNvPr id="125" name="Google Shape;125;p19"/>
          <p:cNvPicPr preferRelativeResize="0"/>
          <p:nvPr/>
        </p:nvPicPr>
        <p:blipFill>
          <a:blip r:embed="rId4">
            <a:alphaModFix/>
          </a:blip>
          <a:stretch>
            <a:fillRect/>
          </a:stretch>
        </p:blipFill>
        <p:spPr>
          <a:xfrm>
            <a:off x="7489075" y="1212287"/>
            <a:ext cx="1363030" cy="1178537"/>
          </a:xfrm>
          <a:prstGeom prst="rect">
            <a:avLst/>
          </a:prstGeom>
          <a:noFill/>
          <a:ln cap="flat" cmpd="sng" w="38100">
            <a:solidFill>
              <a:schemeClr val="lt2"/>
            </a:solidFill>
            <a:prstDash val="solid"/>
            <a:round/>
            <a:headEnd len="sm" w="sm" type="none"/>
            <a:tailEnd len="sm" w="sm" type="none"/>
          </a:ln>
        </p:spPr>
      </p:pic>
      <p:pic>
        <p:nvPicPr>
          <p:cNvPr id="126" name="Google Shape;126;p19"/>
          <p:cNvPicPr preferRelativeResize="0"/>
          <p:nvPr/>
        </p:nvPicPr>
        <p:blipFill>
          <a:blip r:embed="rId5">
            <a:alphaModFix/>
          </a:blip>
          <a:stretch>
            <a:fillRect/>
          </a:stretch>
        </p:blipFill>
        <p:spPr>
          <a:xfrm>
            <a:off x="7489070" y="2573438"/>
            <a:ext cx="1399050" cy="243715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nvSpPr>
        <p:spPr>
          <a:xfrm>
            <a:off x="368750" y="1280575"/>
            <a:ext cx="6657000" cy="558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sz="2000">
                <a:solidFill>
                  <a:schemeClr val="lt2"/>
                </a:solidFill>
                <a:latin typeface="Nunito"/>
                <a:ea typeface="Nunito"/>
                <a:cs typeface="Nunito"/>
                <a:sym typeface="Nunito"/>
              </a:rPr>
              <a:t>IKKEN TOBI </a:t>
            </a:r>
            <a:r>
              <a:rPr b="1" lang="pl" sz="2000">
                <a:solidFill>
                  <a:schemeClr val="lt2"/>
                </a:solidFill>
                <a:latin typeface="Nunito"/>
                <a:ea typeface="Nunito"/>
                <a:cs typeface="Nunito"/>
                <a:sym typeface="Nunito"/>
              </a:rPr>
              <a:t>- bezpieczny skok o jeden</a:t>
            </a:r>
            <a:endParaRPr b="1" sz="2000">
              <a:solidFill>
                <a:schemeClr val="lt2"/>
              </a:solidFill>
              <a:latin typeface="Nunito"/>
              <a:ea typeface="Nunito"/>
              <a:cs typeface="Nunito"/>
              <a:sym typeface="Nunito"/>
            </a:endParaRPr>
          </a:p>
        </p:txBody>
      </p:sp>
      <p:sp>
        <p:nvSpPr>
          <p:cNvPr id="132" name="Google Shape;132;p20"/>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3" name="Google Shape;133;p20"/>
          <p:cNvSpPr txBox="1"/>
          <p:nvPr/>
        </p:nvSpPr>
        <p:spPr>
          <a:xfrm>
            <a:off x="1082700" y="132300"/>
            <a:ext cx="71886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Ikken Tobi</a:t>
            </a:r>
            <a:r>
              <a:rPr b="1" lang="pl" sz="3500">
                <a:solidFill>
                  <a:schemeClr val="dk2"/>
                </a:solidFill>
                <a:latin typeface="Nunito"/>
                <a:ea typeface="Nunito"/>
                <a:cs typeface="Nunito"/>
                <a:sym typeface="Nunito"/>
              </a:rPr>
              <a:t>- skok o jeden</a:t>
            </a:r>
            <a:endParaRPr b="1" sz="3900">
              <a:solidFill>
                <a:schemeClr val="dk2"/>
              </a:solidFill>
              <a:latin typeface="Nunito"/>
              <a:ea typeface="Nunito"/>
              <a:cs typeface="Nunito"/>
              <a:sym typeface="Nunito"/>
            </a:endParaRPr>
          </a:p>
        </p:txBody>
      </p:sp>
      <p:pic>
        <p:nvPicPr>
          <p:cNvPr id="134" name="Google Shape;134;p20"/>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35" name="Google Shape;135;p20"/>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36" name="Google Shape;136;p20"/>
          <p:cNvSpPr txBox="1"/>
          <p:nvPr/>
        </p:nvSpPr>
        <p:spPr>
          <a:xfrm>
            <a:off x="368750" y="1729975"/>
            <a:ext cx="6021900" cy="3181500"/>
          </a:xfrm>
          <a:prstGeom prst="rect">
            <a:avLst/>
          </a:prstGeom>
          <a:noFill/>
          <a:ln>
            <a:noFill/>
          </a:ln>
        </p:spPr>
        <p:txBody>
          <a:bodyPr anchorCtr="0" anchor="t" bIns="91425" lIns="91425" spcFirstLastPara="1" rIns="91425" wrap="square" tIns="91425">
            <a:noAutofit/>
          </a:bodyPr>
          <a:lstStyle/>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Nigdy nie próbuj rozcinać Ikken Tobi.</a:t>
            </a:r>
            <a:endParaRPr>
              <a:solidFill>
                <a:schemeClr val="lt2"/>
              </a:solidFill>
              <a:latin typeface="Nunito"/>
              <a:ea typeface="Nunito"/>
              <a:cs typeface="Nunito"/>
              <a:sym typeface="Nunito"/>
            </a:endParaRPr>
          </a:p>
          <a:p>
            <a:pPr indent="-317500" lvl="0" marL="457200" rtl="0" algn="just">
              <a:spcBef>
                <a:spcPts val="0"/>
              </a:spcBef>
              <a:spcAft>
                <a:spcPts val="0"/>
              </a:spcAft>
              <a:buClr>
                <a:srgbClr val="00FF00"/>
              </a:buClr>
              <a:buSzPts val="1400"/>
              <a:buFont typeface="Nunito"/>
              <a:buChar char="➢"/>
            </a:pPr>
            <a:r>
              <a:rPr lang="pl">
                <a:solidFill>
                  <a:srgbClr val="00FF00"/>
                </a:solidFill>
                <a:latin typeface="Nunito"/>
                <a:ea typeface="Nunito"/>
                <a:cs typeface="Nunito"/>
                <a:sym typeface="Nunito"/>
              </a:rPr>
              <a:t>Ikken Tobi zawsze jest dobre.</a:t>
            </a:r>
            <a:endParaRPr>
              <a:solidFill>
                <a:srgbClr val="00FF00"/>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Cechy:</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Bardzo trudne do rozdzielenia </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Pozwala grać szybciej niż wydłużenie (Nobi)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Jest dosyć uniwersalny - wiele zastosowań i daje wiele kontynuacji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Nadal nieco wolny w kontekście otaczania terenu</a:t>
            </a:r>
            <a:r>
              <a:rPr lang="pl">
                <a:solidFill>
                  <a:schemeClr val="lt2"/>
                </a:solidFill>
                <a:latin typeface="Nunito"/>
                <a:ea typeface="Nunito"/>
                <a:cs typeface="Nunito"/>
                <a:sym typeface="Nunito"/>
              </a:rPr>
              <a:t> </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Kiedy stosować:</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Idealny do wyjścia w stronę centrum planszy lub do ucieczki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Używany także przy otaczaniu / gonieniu przeciwnika</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Kompromis między szybkością, a solidnością </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Gdy atakuje nas przeciwnik, ale jego kamienie nas nie dotykają</a:t>
            </a:r>
            <a:endParaRPr>
              <a:solidFill>
                <a:schemeClr val="lt2"/>
              </a:solidFill>
              <a:latin typeface="Nunito"/>
              <a:ea typeface="Nunito"/>
              <a:cs typeface="Nunito"/>
              <a:sym typeface="Nunito"/>
            </a:endParaRPr>
          </a:p>
        </p:txBody>
      </p:sp>
      <p:pic>
        <p:nvPicPr>
          <p:cNvPr id="137" name="Google Shape;137;p20"/>
          <p:cNvPicPr preferRelativeResize="0"/>
          <p:nvPr/>
        </p:nvPicPr>
        <p:blipFill>
          <a:blip r:embed="rId4">
            <a:alphaModFix/>
          </a:blip>
          <a:stretch>
            <a:fillRect/>
          </a:stretch>
        </p:blipFill>
        <p:spPr>
          <a:xfrm>
            <a:off x="7171150" y="1188974"/>
            <a:ext cx="1569175" cy="1804875"/>
          </a:xfrm>
          <a:prstGeom prst="rect">
            <a:avLst/>
          </a:prstGeom>
          <a:noFill/>
          <a:ln cap="flat" cmpd="sng" w="38100">
            <a:solidFill>
              <a:schemeClr val="lt2"/>
            </a:solidFill>
            <a:prstDash val="solid"/>
            <a:round/>
            <a:headEnd len="sm" w="sm" type="none"/>
            <a:tailEnd len="sm" w="sm" type="none"/>
          </a:ln>
        </p:spPr>
      </p:pic>
      <p:pic>
        <p:nvPicPr>
          <p:cNvPr id="138" name="Google Shape;138;p20"/>
          <p:cNvPicPr preferRelativeResize="0"/>
          <p:nvPr/>
        </p:nvPicPr>
        <p:blipFill>
          <a:blip r:embed="rId5">
            <a:alphaModFix/>
          </a:blip>
          <a:stretch>
            <a:fillRect/>
          </a:stretch>
        </p:blipFill>
        <p:spPr>
          <a:xfrm>
            <a:off x="7025750" y="3237849"/>
            <a:ext cx="1714577" cy="1753251"/>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1"/>
          <p:cNvSpPr txBox="1"/>
          <p:nvPr/>
        </p:nvSpPr>
        <p:spPr>
          <a:xfrm>
            <a:off x="368750" y="1280575"/>
            <a:ext cx="6657000" cy="558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sz="2000">
                <a:solidFill>
                  <a:schemeClr val="lt2"/>
                </a:solidFill>
                <a:latin typeface="Nunito"/>
                <a:ea typeface="Nunito"/>
                <a:cs typeface="Nunito"/>
                <a:sym typeface="Nunito"/>
              </a:rPr>
              <a:t>N</a:t>
            </a:r>
            <a:r>
              <a:rPr b="1" lang="pl" sz="2000">
                <a:solidFill>
                  <a:schemeClr val="lt2"/>
                </a:solidFill>
                <a:latin typeface="Nunito"/>
                <a:ea typeface="Nunito"/>
                <a:cs typeface="Nunito"/>
                <a:sym typeface="Nunito"/>
              </a:rPr>
              <a:t>IKKEN BIRAKI - baza utworzona z 2 kamieni na 3 linii</a:t>
            </a:r>
            <a:endParaRPr b="1" sz="2000">
              <a:solidFill>
                <a:schemeClr val="lt2"/>
              </a:solidFill>
              <a:latin typeface="Nunito"/>
              <a:ea typeface="Nunito"/>
              <a:cs typeface="Nunito"/>
              <a:sym typeface="Nunito"/>
            </a:endParaRPr>
          </a:p>
        </p:txBody>
      </p:sp>
      <p:sp>
        <p:nvSpPr>
          <p:cNvPr id="144" name="Google Shape;144;p21"/>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21"/>
          <p:cNvSpPr txBox="1"/>
          <p:nvPr/>
        </p:nvSpPr>
        <p:spPr>
          <a:xfrm>
            <a:off x="1082700" y="132300"/>
            <a:ext cx="71886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Nikken Biraki / Nikken Tobi</a:t>
            </a:r>
            <a:endParaRPr b="1" sz="3900">
              <a:solidFill>
                <a:schemeClr val="dk2"/>
              </a:solidFill>
              <a:latin typeface="Nunito"/>
              <a:ea typeface="Nunito"/>
              <a:cs typeface="Nunito"/>
              <a:sym typeface="Nunito"/>
            </a:endParaRPr>
          </a:p>
        </p:txBody>
      </p:sp>
      <p:pic>
        <p:nvPicPr>
          <p:cNvPr id="146" name="Google Shape;146;p21"/>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47" name="Google Shape;147;p21"/>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48" name="Google Shape;148;p21"/>
          <p:cNvSpPr txBox="1"/>
          <p:nvPr/>
        </p:nvSpPr>
        <p:spPr>
          <a:xfrm>
            <a:off x="368750" y="1936650"/>
            <a:ext cx="6412800" cy="1124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rPr b="1" lang="pl">
                <a:solidFill>
                  <a:schemeClr val="lt2"/>
                </a:solidFill>
                <a:latin typeface="Nunito"/>
                <a:ea typeface="Nunito"/>
                <a:cs typeface="Nunito"/>
                <a:sym typeface="Nunito"/>
              </a:rPr>
              <a:t>Nikken Biraki </a:t>
            </a:r>
            <a:r>
              <a:rPr lang="pl">
                <a:solidFill>
                  <a:schemeClr val="lt2"/>
                </a:solidFill>
                <a:latin typeface="Nunito"/>
                <a:ea typeface="Nunito"/>
                <a:cs typeface="Nunito"/>
                <a:sym typeface="Nunito"/>
              </a:rPr>
              <a:t>to 2 kamienie rozstawione na 3 linii z 2 polami odstępu. Kształt ten tworzy tzw. bazę - rezerwuje obszar, w </a:t>
            </a:r>
            <a:r>
              <a:rPr lang="pl">
                <a:solidFill>
                  <a:schemeClr val="lt2"/>
                </a:solidFill>
                <a:latin typeface="Nunito"/>
                <a:ea typeface="Nunito"/>
                <a:cs typeface="Nunito"/>
                <a:sym typeface="Nunito"/>
              </a:rPr>
              <a:t>którym</a:t>
            </a:r>
            <a:r>
              <a:rPr lang="pl">
                <a:solidFill>
                  <a:schemeClr val="lt2"/>
                </a:solidFill>
                <a:latin typeface="Nunito"/>
                <a:ea typeface="Nunito"/>
                <a:cs typeface="Nunito"/>
                <a:sym typeface="Nunito"/>
              </a:rPr>
              <a:t> stosunkowo łatwo jest </a:t>
            </a:r>
            <a:r>
              <a:rPr lang="pl">
                <a:solidFill>
                  <a:schemeClr val="lt2"/>
                </a:solidFill>
                <a:latin typeface="Nunito"/>
                <a:ea typeface="Nunito"/>
                <a:cs typeface="Nunito"/>
                <a:sym typeface="Nunito"/>
              </a:rPr>
              <a:t>stworzyć </a:t>
            </a:r>
            <a:r>
              <a:rPr lang="pl">
                <a:solidFill>
                  <a:schemeClr val="lt2"/>
                </a:solidFill>
                <a:latin typeface="Nunito"/>
                <a:ea typeface="Nunito"/>
                <a:cs typeface="Nunito"/>
                <a:sym typeface="Nunito"/>
              </a:rPr>
              <a:t> oczy i przeżyć. Rozcięcie tych 2 kamieni jest niemożliwe bez dodatkowego wsparcia. Dlatego kształt ten jest uważany za silny i stabilny.</a:t>
            </a:r>
            <a:endParaRPr>
              <a:solidFill>
                <a:schemeClr val="lt2"/>
              </a:solidFill>
              <a:latin typeface="Nunito"/>
              <a:ea typeface="Nunito"/>
              <a:cs typeface="Nunito"/>
              <a:sym typeface="Nunito"/>
            </a:endParaRPr>
          </a:p>
        </p:txBody>
      </p:sp>
      <p:sp>
        <p:nvSpPr>
          <p:cNvPr id="149" name="Google Shape;149;p21"/>
          <p:cNvSpPr txBox="1"/>
          <p:nvPr/>
        </p:nvSpPr>
        <p:spPr>
          <a:xfrm>
            <a:off x="440900" y="3158225"/>
            <a:ext cx="6657000" cy="558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sz="2000">
                <a:solidFill>
                  <a:schemeClr val="lt2"/>
                </a:solidFill>
                <a:latin typeface="Nunito"/>
                <a:ea typeface="Nunito"/>
                <a:cs typeface="Nunito"/>
                <a:sym typeface="Nunito"/>
              </a:rPr>
              <a:t>NIKKEN TOBI - skok o 2 pola w centrum planszy</a:t>
            </a:r>
            <a:endParaRPr b="1" sz="2000">
              <a:solidFill>
                <a:schemeClr val="lt2"/>
              </a:solidFill>
              <a:latin typeface="Nunito"/>
              <a:ea typeface="Nunito"/>
              <a:cs typeface="Nunito"/>
              <a:sym typeface="Nunito"/>
            </a:endParaRPr>
          </a:p>
        </p:txBody>
      </p:sp>
      <p:sp>
        <p:nvSpPr>
          <p:cNvPr id="150" name="Google Shape;150;p21"/>
          <p:cNvSpPr txBox="1"/>
          <p:nvPr/>
        </p:nvSpPr>
        <p:spPr>
          <a:xfrm>
            <a:off x="440900" y="3814300"/>
            <a:ext cx="6412800" cy="1124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1000"/>
              </a:spcAft>
              <a:buNone/>
            </a:pPr>
            <a:r>
              <a:rPr b="1" lang="pl">
                <a:solidFill>
                  <a:schemeClr val="lt2"/>
                </a:solidFill>
                <a:latin typeface="Nunito"/>
                <a:ea typeface="Nunito"/>
                <a:cs typeface="Nunito"/>
                <a:sym typeface="Nunito"/>
              </a:rPr>
              <a:t>Nikken Tobi </a:t>
            </a:r>
            <a:r>
              <a:rPr lang="pl">
                <a:solidFill>
                  <a:schemeClr val="lt2"/>
                </a:solidFill>
                <a:latin typeface="Nunito"/>
                <a:ea typeface="Nunito"/>
                <a:cs typeface="Nunito"/>
                <a:sym typeface="Nunito"/>
              </a:rPr>
              <a:t>to 2 kamienie rozstawione 2 polami odstępu, ale nie na 3 linii lecz w środku planszy. Kształt ten da się przeciąć na kilka sposobów. Nie jest on więc w pełni bezpieczny. Daje jednak możliwość szybkiej ucieczki i jest akceptowalny, jeśli jesteśmy gotowi coś oddać. Jest to więc kształt lekki.</a:t>
            </a:r>
            <a:endParaRPr>
              <a:solidFill>
                <a:schemeClr val="lt2"/>
              </a:solidFill>
              <a:latin typeface="Nunito"/>
              <a:ea typeface="Nunito"/>
              <a:cs typeface="Nunito"/>
              <a:sym typeface="Nunito"/>
            </a:endParaRPr>
          </a:p>
        </p:txBody>
      </p:sp>
      <p:pic>
        <p:nvPicPr>
          <p:cNvPr id="151" name="Google Shape;151;p21"/>
          <p:cNvPicPr preferRelativeResize="0"/>
          <p:nvPr/>
        </p:nvPicPr>
        <p:blipFill rotWithShape="1">
          <a:blip r:embed="rId4">
            <a:alphaModFix/>
          </a:blip>
          <a:srcRect b="12779" l="0" r="0" t="10334"/>
          <a:stretch/>
        </p:blipFill>
        <p:spPr>
          <a:xfrm>
            <a:off x="7518375" y="1280574"/>
            <a:ext cx="1221950" cy="1348000"/>
          </a:xfrm>
          <a:prstGeom prst="rect">
            <a:avLst/>
          </a:prstGeom>
          <a:noFill/>
          <a:ln cap="flat" cmpd="sng" w="38100">
            <a:solidFill>
              <a:schemeClr val="lt2"/>
            </a:solidFill>
            <a:prstDash val="solid"/>
            <a:round/>
            <a:headEnd len="sm" w="sm" type="none"/>
            <a:tailEnd len="sm" w="sm" type="none"/>
          </a:ln>
        </p:spPr>
      </p:pic>
      <p:pic>
        <p:nvPicPr>
          <p:cNvPr id="152" name="Google Shape;152;p21"/>
          <p:cNvPicPr preferRelativeResize="0"/>
          <p:nvPr/>
        </p:nvPicPr>
        <p:blipFill rotWithShape="1">
          <a:blip r:embed="rId5">
            <a:alphaModFix/>
          </a:blip>
          <a:srcRect b="0" l="0" r="0" t="13919"/>
          <a:stretch/>
        </p:blipFill>
        <p:spPr>
          <a:xfrm>
            <a:off x="7025750" y="3061050"/>
            <a:ext cx="1719846" cy="178047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2"/>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22"/>
          <p:cNvSpPr txBox="1"/>
          <p:nvPr/>
        </p:nvSpPr>
        <p:spPr>
          <a:xfrm>
            <a:off x="1082700" y="132300"/>
            <a:ext cx="71886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Keima </a:t>
            </a:r>
            <a:r>
              <a:rPr b="1" lang="pl" sz="3500">
                <a:solidFill>
                  <a:schemeClr val="dk2"/>
                </a:solidFill>
                <a:latin typeface="Nunito"/>
                <a:ea typeface="Nunito"/>
                <a:cs typeface="Nunito"/>
                <a:sym typeface="Nunito"/>
              </a:rPr>
              <a:t>- skok konika szachowego</a:t>
            </a:r>
            <a:endParaRPr b="1" sz="3900">
              <a:solidFill>
                <a:schemeClr val="dk2"/>
              </a:solidFill>
              <a:latin typeface="Nunito"/>
              <a:ea typeface="Nunito"/>
              <a:cs typeface="Nunito"/>
              <a:sym typeface="Nunito"/>
            </a:endParaRPr>
          </a:p>
        </p:txBody>
      </p:sp>
      <p:pic>
        <p:nvPicPr>
          <p:cNvPr id="159" name="Google Shape;159;p22"/>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60" name="Google Shape;160;p22"/>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61" name="Google Shape;161;p22"/>
          <p:cNvSpPr txBox="1"/>
          <p:nvPr/>
        </p:nvSpPr>
        <p:spPr>
          <a:xfrm>
            <a:off x="368750" y="1188975"/>
            <a:ext cx="6021900" cy="3722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Keima </a:t>
            </a:r>
            <a:r>
              <a:rPr lang="pl">
                <a:solidFill>
                  <a:schemeClr val="lt2"/>
                </a:solidFill>
                <a:latin typeface="Nunito"/>
                <a:ea typeface="Nunito"/>
                <a:cs typeface="Nunito"/>
                <a:sym typeface="Nunito"/>
              </a:rPr>
              <a:t>to skok identyczny do ruchu konika szachowego. </a:t>
            </a:r>
            <a:endParaRPr>
              <a:solidFill>
                <a:schemeClr val="lt2"/>
              </a:solidFill>
              <a:latin typeface="Nunito"/>
              <a:ea typeface="Nunito"/>
              <a:cs typeface="Nunito"/>
              <a:sym typeface="Nunito"/>
            </a:endParaRPr>
          </a:p>
          <a:p>
            <a:pPr indent="0" lvl="0" marL="0" rtl="0" algn="just">
              <a:spcBef>
                <a:spcPts val="1000"/>
              </a:spcBef>
              <a:spcAft>
                <a:spcPts val="0"/>
              </a:spcAft>
              <a:buNone/>
            </a:pPr>
            <a:r>
              <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Cechy:</a:t>
            </a:r>
            <a:endParaRPr u="sng">
              <a:solidFill>
                <a:schemeClr val="lt2"/>
              </a:solidFill>
              <a:latin typeface="Nunito"/>
              <a:ea typeface="Nunito"/>
              <a:cs typeface="Nunito"/>
              <a:sym typeface="Nunito"/>
            </a:endParaRPr>
          </a:p>
          <a:p>
            <a:pPr indent="-317500" lvl="0" marL="457200" rtl="0" algn="just">
              <a:spcBef>
                <a:spcPts val="1000"/>
              </a:spcBef>
              <a:spcAft>
                <a:spcPts val="0"/>
              </a:spcAft>
              <a:buClr>
                <a:srgbClr val="FF9900"/>
              </a:buClr>
              <a:buSzPts val="1400"/>
              <a:buFont typeface="Nunito"/>
              <a:buChar char="●"/>
            </a:pPr>
            <a:r>
              <a:rPr lang="pl">
                <a:solidFill>
                  <a:srgbClr val="FF9900"/>
                </a:solidFill>
                <a:latin typeface="Nunito"/>
                <a:ea typeface="Nunito"/>
                <a:cs typeface="Nunito"/>
                <a:sym typeface="Nunito"/>
              </a:rPr>
              <a:t>Trzeba uważać, bo keimę da się rozciąć</a:t>
            </a:r>
            <a:endParaRPr>
              <a:solidFill>
                <a:srgbClr val="FF9900"/>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Bardzo często występujący kształt</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Bardziej agresywny od </a:t>
            </a:r>
            <a:r>
              <a:rPr b="1" lang="pl">
                <a:solidFill>
                  <a:schemeClr val="lt2"/>
                </a:solidFill>
                <a:latin typeface="Nunito"/>
                <a:ea typeface="Nunito"/>
                <a:cs typeface="Nunito"/>
                <a:sym typeface="Nunito"/>
              </a:rPr>
              <a:t>Ikken Tobi</a:t>
            </a:r>
            <a:r>
              <a:rPr lang="pl">
                <a:solidFill>
                  <a:schemeClr val="lt2"/>
                </a:solidFill>
                <a:latin typeface="Nunito"/>
                <a:ea typeface="Nunito"/>
                <a:cs typeface="Nunito"/>
                <a:sym typeface="Nunito"/>
              </a:rPr>
              <a:t> (skoku o 1)</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Zawsze zostawia słabości, o których trzeba pamiętać</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Kiedy stosować:</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Bardzo często używana do otaczania przeciwnika </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Rzadko sprawdza się w ucieczce</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Keima to typowa odpowiedź na </a:t>
            </a:r>
            <a:r>
              <a:rPr b="1" lang="pl">
                <a:solidFill>
                  <a:schemeClr val="lt2"/>
                </a:solidFill>
                <a:latin typeface="Nunito"/>
                <a:ea typeface="Nunito"/>
                <a:cs typeface="Nunito"/>
                <a:sym typeface="Nunito"/>
              </a:rPr>
              <a:t>Boshi </a:t>
            </a:r>
            <a:r>
              <a:rPr lang="pl">
                <a:solidFill>
                  <a:schemeClr val="lt2"/>
                </a:solidFill>
                <a:latin typeface="Nunito"/>
                <a:ea typeface="Nunito"/>
                <a:cs typeface="Nunito"/>
                <a:sym typeface="Nunito"/>
              </a:rPr>
              <a:t>(czapkę) </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Używana do budowy </a:t>
            </a:r>
            <a:r>
              <a:rPr b="1" lang="pl">
                <a:solidFill>
                  <a:schemeClr val="lt2"/>
                </a:solidFill>
                <a:latin typeface="Nunito"/>
                <a:ea typeface="Nunito"/>
                <a:cs typeface="Nunito"/>
                <a:sym typeface="Nunito"/>
              </a:rPr>
              <a:t>Shimari </a:t>
            </a:r>
            <a:r>
              <a:rPr lang="pl">
                <a:solidFill>
                  <a:schemeClr val="lt2"/>
                </a:solidFill>
                <a:latin typeface="Nunito"/>
                <a:ea typeface="Nunito"/>
                <a:cs typeface="Nunito"/>
                <a:sym typeface="Nunito"/>
              </a:rPr>
              <a:t>(domknięcia rogu)</a:t>
            </a:r>
            <a:endParaRPr>
              <a:solidFill>
                <a:schemeClr val="lt2"/>
              </a:solidFill>
              <a:latin typeface="Nunito"/>
              <a:ea typeface="Nunito"/>
              <a:cs typeface="Nunito"/>
              <a:sym typeface="Nunito"/>
            </a:endParaRPr>
          </a:p>
        </p:txBody>
      </p:sp>
      <p:pic>
        <p:nvPicPr>
          <p:cNvPr id="162" name="Google Shape;162;p22"/>
          <p:cNvPicPr preferRelativeResize="0"/>
          <p:nvPr/>
        </p:nvPicPr>
        <p:blipFill>
          <a:blip r:embed="rId4">
            <a:alphaModFix/>
          </a:blip>
          <a:stretch>
            <a:fillRect/>
          </a:stretch>
        </p:blipFill>
        <p:spPr>
          <a:xfrm>
            <a:off x="6543050" y="1411225"/>
            <a:ext cx="2114550" cy="340042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3"/>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8" name="Google Shape;168;p23"/>
          <p:cNvSpPr txBox="1"/>
          <p:nvPr/>
        </p:nvSpPr>
        <p:spPr>
          <a:xfrm>
            <a:off x="1082700" y="132300"/>
            <a:ext cx="71886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Og</a:t>
            </a:r>
            <a:r>
              <a:rPr b="1" lang="pl" sz="3500">
                <a:solidFill>
                  <a:schemeClr val="dk2"/>
                </a:solidFill>
                <a:latin typeface="Nunito"/>
                <a:ea typeface="Nunito"/>
                <a:cs typeface="Nunito"/>
                <a:sym typeface="Nunito"/>
              </a:rPr>
              <a:t>eima - keima na sterydach</a:t>
            </a:r>
            <a:endParaRPr b="1" sz="3900">
              <a:solidFill>
                <a:schemeClr val="dk2"/>
              </a:solidFill>
              <a:latin typeface="Nunito"/>
              <a:ea typeface="Nunito"/>
              <a:cs typeface="Nunito"/>
              <a:sym typeface="Nunito"/>
            </a:endParaRPr>
          </a:p>
        </p:txBody>
      </p:sp>
      <p:pic>
        <p:nvPicPr>
          <p:cNvPr id="169" name="Google Shape;169;p23"/>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70" name="Google Shape;170;p23"/>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71" name="Google Shape;171;p23"/>
          <p:cNvSpPr txBox="1"/>
          <p:nvPr/>
        </p:nvSpPr>
        <p:spPr>
          <a:xfrm>
            <a:off x="368750" y="1411225"/>
            <a:ext cx="5631300" cy="35001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Ogeima </a:t>
            </a:r>
            <a:r>
              <a:rPr lang="pl">
                <a:solidFill>
                  <a:schemeClr val="lt2"/>
                </a:solidFill>
                <a:latin typeface="Nunito"/>
                <a:ea typeface="Nunito"/>
                <a:cs typeface="Nunito"/>
                <a:sym typeface="Nunito"/>
              </a:rPr>
              <a:t>to dosłownie wielka keima. To skok przypominający keimę, ale o 1 dalej. </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Posiada te same cechy i zastosowania co keima, ale pozostawia większe słabości - jest łatwiej rozcilnalna. Zaletą jest większa szybkość (zasięg) tego kształtu. Częściej niż keima stosowana także do otaczania terenu.</a:t>
            </a:r>
            <a:endParaRPr>
              <a:solidFill>
                <a:schemeClr val="lt2"/>
              </a:solidFill>
              <a:latin typeface="Nunito"/>
              <a:ea typeface="Nunito"/>
              <a:cs typeface="Nunito"/>
              <a:sym typeface="Nunito"/>
            </a:endParaRPr>
          </a:p>
        </p:txBody>
      </p:sp>
      <p:pic>
        <p:nvPicPr>
          <p:cNvPr id="172" name="Google Shape;172;p23"/>
          <p:cNvPicPr preferRelativeResize="0"/>
          <p:nvPr/>
        </p:nvPicPr>
        <p:blipFill>
          <a:blip r:embed="rId4">
            <a:alphaModFix/>
          </a:blip>
          <a:stretch>
            <a:fillRect/>
          </a:stretch>
        </p:blipFill>
        <p:spPr>
          <a:xfrm>
            <a:off x="6152450" y="1179200"/>
            <a:ext cx="2740095" cy="3811900"/>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 name="Google Shape;178;p24"/>
          <p:cNvSpPr txBox="1"/>
          <p:nvPr/>
        </p:nvSpPr>
        <p:spPr>
          <a:xfrm>
            <a:off x="1082700" y="132300"/>
            <a:ext cx="71886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Kaketsugi</a:t>
            </a:r>
            <a:r>
              <a:rPr b="1" lang="pl" sz="3500">
                <a:solidFill>
                  <a:schemeClr val="dk2"/>
                </a:solidFill>
                <a:latin typeface="Nunito"/>
                <a:ea typeface="Nunito"/>
                <a:cs typeface="Nunito"/>
                <a:sym typeface="Nunito"/>
              </a:rPr>
              <a:t> - paszcza tygrysa</a:t>
            </a:r>
            <a:endParaRPr b="1" sz="3900">
              <a:solidFill>
                <a:schemeClr val="dk2"/>
              </a:solidFill>
              <a:latin typeface="Nunito"/>
              <a:ea typeface="Nunito"/>
              <a:cs typeface="Nunito"/>
              <a:sym typeface="Nunito"/>
            </a:endParaRPr>
          </a:p>
        </p:txBody>
      </p:sp>
      <p:pic>
        <p:nvPicPr>
          <p:cNvPr id="179" name="Google Shape;179;p24"/>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80" name="Google Shape;180;p24"/>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81" name="Google Shape;181;p24"/>
          <p:cNvSpPr txBox="1"/>
          <p:nvPr/>
        </p:nvSpPr>
        <p:spPr>
          <a:xfrm>
            <a:off x="368750" y="1280575"/>
            <a:ext cx="60855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2000">
                <a:solidFill>
                  <a:schemeClr val="lt2"/>
                </a:solidFill>
                <a:latin typeface="Nunito"/>
                <a:ea typeface="Nunito"/>
                <a:cs typeface="Nunito"/>
                <a:sym typeface="Nunito"/>
              </a:rPr>
              <a:t>KAKETSUGI</a:t>
            </a:r>
            <a:r>
              <a:rPr b="1" lang="pl" sz="2000">
                <a:solidFill>
                  <a:schemeClr val="lt2"/>
                </a:solidFill>
                <a:latin typeface="Nunito"/>
                <a:ea typeface="Nunito"/>
                <a:cs typeface="Nunito"/>
                <a:sym typeface="Nunito"/>
              </a:rPr>
              <a:t> - luźne połączenie</a:t>
            </a:r>
            <a:endParaRPr b="1" sz="2000">
              <a:solidFill>
                <a:schemeClr val="lt2"/>
              </a:solidFill>
              <a:latin typeface="Nunito"/>
              <a:ea typeface="Nunito"/>
              <a:cs typeface="Nunito"/>
              <a:sym typeface="Nunito"/>
            </a:endParaRPr>
          </a:p>
        </p:txBody>
      </p:sp>
      <p:sp>
        <p:nvSpPr>
          <p:cNvPr id="182" name="Google Shape;182;p24"/>
          <p:cNvSpPr txBox="1"/>
          <p:nvPr/>
        </p:nvSpPr>
        <p:spPr>
          <a:xfrm>
            <a:off x="368750" y="1799525"/>
            <a:ext cx="5769900" cy="3111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u="sng">
                <a:solidFill>
                  <a:schemeClr val="lt2"/>
                </a:solidFill>
                <a:latin typeface="Nunito"/>
                <a:ea typeface="Nunito"/>
                <a:cs typeface="Nunito"/>
                <a:sym typeface="Nunito"/>
              </a:rPr>
              <a:t>Cechy:</a:t>
            </a:r>
            <a:endParaRPr u="sng">
              <a:solidFill>
                <a:schemeClr val="lt2"/>
              </a:solidFill>
              <a:latin typeface="Nunito"/>
              <a:ea typeface="Nunito"/>
              <a:cs typeface="Nunito"/>
              <a:sym typeface="Nunito"/>
            </a:endParaRPr>
          </a:p>
          <a:p>
            <a:pPr indent="-317500" lvl="0" marL="457200" rtl="0" algn="just">
              <a:spcBef>
                <a:spcPts val="1000"/>
              </a:spcBef>
              <a:spcAft>
                <a:spcPts val="0"/>
              </a:spcAft>
              <a:buClr>
                <a:srgbClr val="FF9900"/>
              </a:buClr>
              <a:buSzPts val="1400"/>
              <a:buFont typeface="Nunito"/>
              <a:buChar char="●"/>
            </a:pPr>
            <a:r>
              <a:rPr lang="pl">
                <a:solidFill>
                  <a:srgbClr val="FF9900"/>
                </a:solidFill>
                <a:latin typeface="Nunito"/>
                <a:ea typeface="Nunito"/>
                <a:cs typeface="Nunito"/>
                <a:sym typeface="Nunito"/>
              </a:rPr>
              <a:t>Pozostawia słabość w ‘A’ - przeciwnik dostaje ruch forsujący. </a:t>
            </a:r>
            <a:endParaRPr>
              <a:solidFill>
                <a:srgbClr val="FF9900"/>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Łączenie nie jest solidne - da się rozciąć w 2 ruchach</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Dostajemy oczny kształt - łatwiej budować oczy</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Lekki, elastyczny kształt - można poświęcić pojedynczy kamień</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Kiedy stosować:</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Gdy solidne </a:t>
            </a:r>
            <a:r>
              <a:rPr lang="pl">
                <a:solidFill>
                  <a:schemeClr val="lt2"/>
                </a:solidFill>
                <a:latin typeface="Nunito"/>
                <a:ea typeface="Nunito"/>
                <a:cs typeface="Nunito"/>
                <a:sym typeface="Nunito"/>
              </a:rPr>
              <a:t>połączenie</a:t>
            </a:r>
            <a:r>
              <a:rPr lang="pl">
                <a:solidFill>
                  <a:schemeClr val="lt2"/>
                </a:solidFill>
                <a:latin typeface="Nunito"/>
                <a:ea typeface="Nunito"/>
                <a:cs typeface="Nunito"/>
                <a:sym typeface="Nunito"/>
              </a:rPr>
              <a:t> tworzy głupi trójkąt</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Gdy solidne połączenie nie jest niezbędne</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Gdy potrzebujemy lekkiego kształtu</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Często gdy próbujemy przeżyć otoczoną grupą</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Gdy chcemy by nasz kształt był “szerszy” i wpływał na większy obszar planszy</a:t>
            </a:r>
            <a:endParaRPr>
              <a:solidFill>
                <a:schemeClr val="lt2"/>
              </a:solidFill>
              <a:latin typeface="Nunito"/>
              <a:ea typeface="Nunito"/>
              <a:cs typeface="Nunito"/>
              <a:sym typeface="Nunito"/>
            </a:endParaRPr>
          </a:p>
        </p:txBody>
      </p:sp>
      <p:pic>
        <p:nvPicPr>
          <p:cNvPr id="183" name="Google Shape;183;p24"/>
          <p:cNvPicPr preferRelativeResize="0"/>
          <p:nvPr/>
        </p:nvPicPr>
        <p:blipFill>
          <a:blip r:embed="rId4">
            <a:alphaModFix/>
          </a:blip>
          <a:stretch>
            <a:fillRect/>
          </a:stretch>
        </p:blipFill>
        <p:spPr>
          <a:xfrm>
            <a:off x="6223675" y="1280573"/>
            <a:ext cx="2716324" cy="2746403"/>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5"/>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9" name="Google Shape;189;p25"/>
          <p:cNvSpPr txBox="1"/>
          <p:nvPr/>
        </p:nvSpPr>
        <p:spPr>
          <a:xfrm>
            <a:off x="1082700" y="132300"/>
            <a:ext cx="71886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pl" sz="3500">
                <a:solidFill>
                  <a:schemeClr val="dk2"/>
                </a:solidFill>
                <a:latin typeface="Nunito"/>
                <a:ea typeface="Nunito"/>
                <a:cs typeface="Nunito"/>
                <a:sym typeface="Nunito"/>
              </a:rPr>
              <a:t>Ponnuki - kwiatuszek</a:t>
            </a:r>
            <a:endParaRPr b="1" sz="3900">
              <a:solidFill>
                <a:schemeClr val="dk2"/>
              </a:solidFill>
              <a:latin typeface="Nunito"/>
              <a:ea typeface="Nunito"/>
              <a:cs typeface="Nunito"/>
              <a:sym typeface="Nunito"/>
            </a:endParaRPr>
          </a:p>
        </p:txBody>
      </p:sp>
      <p:pic>
        <p:nvPicPr>
          <p:cNvPr id="190" name="Google Shape;190;p25"/>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191" name="Google Shape;191;p25"/>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192" name="Google Shape;192;p25"/>
          <p:cNvSpPr txBox="1"/>
          <p:nvPr/>
        </p:nvSpPr>
        <p:spPr>
          <a:xfrm>
            <a:off x="361650" y="1133575"/>
            <a:ext cx="6163500" cy="3705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u="sng">
                <a:solidFill>
                  <a:schemeClr val="lt2"/>
                </a:solidFill>
                <a:latin typeface="Nunito"/>
                <a:ea typeface="Nunito"/>
                <a:cs typeface="Nunito"/>
                <a:sym typeface="Nunito"/>
              </a:rPr>
              <a:t>Cechy:</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Bardzo silny kształt </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Daje w zasadzie gotowe oko</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Ma ogromny wpływ na otaczający go obszar</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Powstały na środku planszy warty około 20-30 punktów</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Kiedy stosować / nie stosować:</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Chętnie bierzemy ponnuki na początku gry, zwłaszcza jeśli ma ono dostęp do środka planszy (jego siła emanuje na duży obszar)</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Jeśli możliwe, nie dajemy tego kształtu przeciwnikowi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Raczej unikamy budowania ponnuki własnoręcznie</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Nie bierzemy ponnuki, gdy nie możemy wykorzystać jego siły, a zbijany kamień jest mniej warty niż sente</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rgbClr val="FF9900"/>
                </a:solidFill>
                <a:latin typeface="Nunito"/>
                <a:ea typeface="Nunito"/>
                <a:cs typeface="Nunito"/>
                <a:sym typeface="Nunito"/>
              </a:rPr>
              <a:t>Kształt po zbiciu dwóch kamieni nazywany jest skorupą żółwia i jest uważany za zły kształt - za dużo kamieni blisko siebie.</a:t>
            </a:r>
            <a:endParaRPr>
              <a:solidFill>
                <a:srgbClr val="FF9900"/>
              </a:solidFill>
              <a:latin typeface="Nunito"/>
              <a:ea typeface="Nunito"/>
              <a:cs typeface="Nunito"/>
              <a:sym typeface="Nunito"/>
            </a:endParaRPr>
          </a:p>
        </p:txBody>
      </p:sp>
      <p:pic>
        <p:nvPicPr>
          <p:cNvPr id="193" name="Google Shape;193;p25"/>
          <p:cNvPicPr preferRelativeResize="0"/>
          <p:nvPr/>
        </p:nvPicPr>
        <p:blipFill>
          <a:blip r:embed="rId4">
            <a:alphaModFix/>
          </a:blip>
          <a:stretch>
            <a:fillRect/>
          </a:stretch>
        </p:blipFill>
        <p:spPr>
          <a:xfrm>
            <a:off x="7081795" y="1325175"/>
            <a:ext cx="1699200" cy="1715275"/>
          </a:xfrm>
          <a:prstGeom prst="rect">
            <a:avLst/>
          </a:prstGeom>
          <a:noFill/>
          <a:ln cap="flat" cmpd="sng" w="38100">
            <a:solidFill>
              <a:schemeClr val="lt2"/>
            </a:solidFill>
            <a:prstDash val="solid"/>
            <a:round/>
            <a:headEnd len="sm" w="sm" type="none"/>
            <a:tailEnd len="sm" w="sm" type="none"/>
          </a:ln>
        </p:spPr>
      </p:pic>
      <p:pic>
        <p:nvPicPr>
          <p:cNvPr id="194" name="Google Shape;194;p25"/>
          <p:cNvPicPr preferRelativeResize="0"/>
          <p:nvPr/>
        </p:nvPicPr>
        <p:blipFill>
          <a:blip r:embed="rId5">
            <a:alphaModFix/>
          </a:blip>
          <a:stretch>
            <a:fillRect/>
          </a:stretch>
        </p:blipFill>
        <p:spPr>
          <a:xfrm>
            <a:off x="6956100" y="3308875"/>
            <a:ext cx="1824900" cy="146622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6"/>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00" name="Google Shape;200;p26"/>
          <p:cNvSpPr txBox="1"/>
          <p:nvPr/>
        </p:nvSpPr>
        <p:spPr>
          <a:xfrm>
            <a:off x="1082700" y="132300"/>
            <a:ext cx="71886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Stolik</a:t>
            </a:r>
            <a:endParaRPr b="1" sz="3900">
              <a:solidFill>
                <a:schemeClr val="dk2"/>
              </a:solidFill>
              <a:latin typeface="Nunito"/>
              <a:ea typeface="Nunito"/>
              <a:cs typeface="Nunito"/>
              <a:sym typeface="Nunito"/>
            </a:endParaRPr>
          </a:p>
        </p:txBody>
      </p:sp>
      <p:pic>
        <p:nvPicPr>
          <p:cNvPr id="201" name="Google Shape;201;p26"/>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02" name="Google Shape;202;p26"/>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03" name="Google Shape;203;p26"/>
          <p:cNvSpPr txBox="1"/>
          <p:nvPr/>
        </p:nvSpPr>
        <p:spPr>
          <a:xfrm>
            <a:off x="376625" y="1172825"/>
            <a:ext cx="4195500" cy="3796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u="sng">
                <a:solidFill>
                  <a:schemeClr val="lt2"/>
                </a:solidFill>
                <a:latin typeface="Nunito"/>
                <a:ea typeface="Nunito"/>
                <a:cs typeface="Nunito"/>
                <a:sym typeface="Nunito"/>
              </a:rPr>
              <a:t>Cechy:</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Bardzo silny kształt </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Daje w zasadzie gotowe oko</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Zapewnia luźne, ale jednocześnie solidne łączenie</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Pozostawia pewne słabości </a:t>
            </a:r>
            <a:r>
              <a:rPr lang="pl">
                <a:solidFill>
                  <a:schemeClr val="lt2"/>
                </a:solidFill>
                <a:latin typeface="Nunito"/>
                <a:ea typeface="Nunito"/>
                <a:cs typeface="Nunito"/>
                <a:sym typeface="Nunito"/>
              </a:rPr>
              <a:t>dając</a:t>
            </a:r>
            <a:r>
              <a:rPr lang="pl">
                <a:solidFill>
                  <a:schemeClr val="lt2"/>
                </a:solidFill>
                <a:latin typeface="Nunito"/>
                <a:ea typeface="Nunito"/>
                <a:cs typeface="Nunito"/>
                <a:sym typeface="Nunito"/>
              </a:rPr>
              <a:t> przeciwnikowi potencjalnie ruchy forsujące</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Kiedy stosować:</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Gdy uciekamy lub bronimy się i szukamy wzmocnienia solidnym kształtem</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Gdy chcemy połączyć kamienie, dając sobie jednocześnie możliwość stworzenia oczu</a:t>
            </a:r>
            <a:endParaRPr>
              <a:solidFill>
                <a:schemeClr val="lt2"/>
              </a:solidFill>
              <a:latin typeface="Nunito"/>
              <a:ea typeface="Nunito"/>
              <a:cs typeface="Nunito"/>
              <a:sym typeface="Nunito"/>
            </a:endParaRPr>
          </a:p>
        </p:txBody>
      </p:sp>
      <p:pic>
        <p:nvPicPr>
          <p:cNvPr id="204" name="Google Shape;204;p26"/>
          <p:cNvPicPr preferRelativeResize="0"/>
          <p:nvPr/>
        </p:nvPicPr>
        <p:blipFill>
          <a:blip r:embed="rId4">
            <a:alphaModFix/>
          </a:blip>
          <a:stretch>
            <a:fillRect/>
          </a:stretch>
        </p:blipFill>
        <p:spPr>
          <a:xfrm>
            <a:off x="7116825" y="1379150"/>
            <a:ext cx="1635517" cy="1656575"/>
          </a:xfrm>
          <a:prstGeom prst="rect">
            <a:avLst/>
          </a:prstGeom>
          <a:noFill/>
          <a:ln cap="flat" cmpd="sng" w="38100">
            <a:solidFill>
              <a:schemeClr val="lt2"/>
            </a:solidFill>
            <a:prstDash val="solid"/>
            <a:round/>
            <a:headEnd len="sm" w="sm" type="none"/>
            <a:tailEnd len="sm" w="sm" type="none"/>
          </a:ln>
        </p:spPr>
      </p:pic>
      <p:pic>
        <p:nvPicPr>
          <p:cNvPr id="205" name="Google Shape;205;p26"/>
          <p:cNvPicPr preferRelativeResize="0"/>
          <p:nvPr/>
        </p:nvPicPr>
        <p:blipFill>
          <a:blip r:embed="rId5">
            <a:alphaModFix/>
          </a:blip>
          <a:stretch>
            <a:fillRect/>
          </a:stretch>
        </p:blipFill>
        <p:spPr>
          <a:xfrm>
            <a:off x="7096388" y="3259850"/>
            <a:ext cx="1676400" cy="1619250"/>
          </a:xfrm>
          <a:prstGeom prst="rect">
            <a:avLst/>
          </a:prstGeom>
          <a:noFill/>
          <a:ln cap="flat" cmpd="sng" w="38100">
            <a:solidFill>
              <a:schemeClr val="lt2"/>
            </a:solidFill>
            <a:prstDash val="solid"/>
            <a:round/>
            <a:headEnd len="sm" w="sm" type="none"/>
            <a:tailEnd len="sm" w="sm" type="none"/>
          </a:ln>
        </p:spPr>
      </p:pic>
      <p:pic>
        <p:nvPicPr>
          <p:cNvPr id="206" name="Google Shape;206;p26"/>
          <p:cNvPicPr preferRelativeResize="0"/>
          <p:nvPr/>
        </p:nvPicPr>
        <p:blipFill>
          <a:blip r:embed="rId6">
            <a:alphaModFix/>
          </a:blip>
          <a:stretch>
            <a:fillRect/>
          </a:stretch>
        </p:blipFill>
        <p:spPr>
          <a:xfrm>
            <a:off x="5242275" y="3303325"/>
            <a:ext cx="1492400" cy="157577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7"/>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2" name="Google Shape;212;p27"/>
          <p:cNvSpPr txBox="1"/>
          <p:nvPr/>
        </p:nvSpPr>
        <p:spPr>
          <a:xfrm>
            <a:off x="1082700" y="132300"/>
            <a:ext cx="71886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Takefu / Bambus</a:t>
            </a:r>
            <a:endParaRPr b="1" sz="3900">
              <a:solidFill>
                <a:schemeClr val="dk2"/>
              </a:solidFill>
              <a:latin typeface="Nunito"/>
              <a:ea typeface="Nunito"/>
              <a:cs typeface="Nunito"/>
              <a:sym typeface="Nunito"/>
            </a:endParaRPr>
          </a:p>
        </p:txBody>
      </p:sp>
      <p:pic>
        <p:nvPicPr>
          <p:cNvPr id="213" name="Google Shape;213;p27"/>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14" name="Google Shape;214;p27"/>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15" name="Google Shape;215;p27"/>
          <p:cNvSpPr txBox="1"/>
          <p:nvPr/>
        </p:nvSpPr>
        <p:spPr>
          <a:xfrm>
            <a:off x="397100" y="1213125"/>
            <a:ext cx="6163500" cy="3821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Jest to kształt umiarkowanie dobry. Bywa przydatny, więc nie trzeba go unikać, ale warto szukać też alternatyw (np. stolik). Są sytuacje, gdy stolik sprawdzi się gorzej od bambusa, więc zawsze należy oceniać dobór kształtów indywidualnie.</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Cechy:</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Nie da się rozciąć</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Podatny na redukcję oddechów (damezumari)</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Dosyć ciężki, ale solidny, silny kształt</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Nie daje przeciwnikowi ruchów forsujących jak stolik</a:t>
            </a:r>
            <a:endParaRPr>
              <a:solidFill>
                <a:schemeClr val="lt2"/>
              </a:solidFill>
              <a:latin typeface="Nunito"/>
              <a:ea typeface="Nunito"/>
              <a:cs typeface="Nunito"/>
              <a:sym typeface="Nunito"/>
            </a:endParaRPr>
          </a:p>
          <a:p>
            <a:pPr indent="0" lvl="0" marL="0" rtl="0" algn="just">
              <a:spcBef>
                <a:spcPts val="1000"/>
              </a:spcBef>
              <a:spcAft>
                <a:spcPts val="0"/>
              </a:spcAft>
              <a:buNone/>
            </a:pPr>
            <a:r>
              <a:rPr lang="pl" u="sng">
                <a:solidFill>
                  <a:schemeClr val="lt2"/>
                </a:solidFill>
                <a:latin typeface="Nunito"/>
                <a:ea typeface="Nunito"/>
                <a:cs typeface="Nunito"/>
                <a:sym typeface="Nunito"/>
              </a:rPr>
              <a:t>Kiedy stosować:</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Gdy uciekamy i chcemy uniknąć cięć</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Gdy uciekając szukamy siły na zewnątrz</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rgbClr val="00FF00"/>
                </a:solidFill>
                <a:latin typeface="Nunito"/>
                <a:ea typeface="Nunito"/>
                <a:cs typeface="Nunito"/>
                <a:sym typeface="Nunito"/>
              </a:rPr>
              <a:t>Warto wiedzieć, że jeśli przeciwnik zbudował niepełny bambus to nasz ruch w punkt, który by go dopełnił, jest często bardzo dobrym ruchem.</a:t>
            </a:r>
            <a:endParaRPr>
              <a:solidFill>
                <a:srgbClr val="00FF00"/>
              </a:solidFill>
              <a:latin typeface="Nunito"/>
              <a:ea typeface="Nunito"/>
              <a:cs typeface="Nunito"/>
              <a:sym typeface="Nunito"/>
            </a:endParaRPr>
          </a:p>
        </p:txBody>
      </p:sp>
      <p:pic>
        <p:nvPicPr>
          <p:cNvPr id="216" name="Google Shape;216;p27"/>
          <p:cNvPicPr preferRelativeResize="0"/>
          <p:nvPr/>
        </p:nvPicPr>
        <p:blipFill rotWithShape="1">
          <a:blip r:embed="rId4">
            <a:alphaModFix/>
          </a:blip>
          <a:srcRect b="6079" l="0" r="0" t="6079"/>
          <a:stretch/>
        </p:blipFill>
        <p:spPr>
          <a:xfrm>
            <a:off x="7118275" y="1275275"/>
            <a:ext cx="1658500" cy="1774550"/>
          </a:xfrm>
          <a:prstGeom prst="rect">
            <a:avLst/>
          </a:prstGeom>
          <a:noFill/>
          <a:ln cap="flat" cmpd="sng" w="38100">
            <a:solidFill>
              <a:schemeClr val="lt2"/>
            </a:solidFill>
            <a:prstDash val="solid"/>
            <a:round/>
            <a:headEnd len="sm" w="sm" type="none"/>
            <a:tailEnd len="sm" w="sm" type="none"/>
          </a:ln>
        </p:spPr>
      </p:pic>
      <p:pic>
        <p:nvPicPr>
          <p:cNvPr id="217" name="Google Shape;217;p27"/>
          <p:cNvPicPr preferRelativeResize="0"/>
          <p:nvPr/>
        </p:nvPicPr>
        <p:blipFill>
          <a:blip r:embed="rId5">
            <a:alphaModFix/>
          </a:blip>
          <a:stretch>
            <a:fillRect/>
          </a:stretch>
        </p:blipFill>
        <p:spPr>
          <a:xfrm>
            <a:off x="7118275" y="3298300"/>
            <a:ext cx="1421308" cy="164742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8"/>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23" name="Google Shape;223;p28"/>
          <p:cNvSpPr txBox="1"/>
          <p:nvPr/>
        </p:nvSpPr>
        <p:spPr>
          <a:xfrm>
            <a:off x="1082700" y="132300"/>
            <a:ext cx="71886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Głowa psa / Inu no Kao</a:t>
            </a:r>
            <a:endParaRPr b="1" sz="3900">
              <a:solidFill>
                <a:schemeClr val="dk2"/>
              </a:solidFill>
              <a:latin typeface="Nunito"/>
              <a:ea typeface="Nunito"/>
              <a:cs typeface="Nunito"/>
              <a:sym typeface="Nunito"/>
            </a:endParaRPr>
          </a:p>
        </p:txBody>
      </p:sp>
      <p:pic>
        <p:nvPicPr>
          <p:cNvPr id="224" name="Google Shape;224;p28"/>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25" name="Google Shape;225;p28"/>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26" name="Google Shape;226;p28"/>
          <p:cNvSpPr txBox="1"/>
          <p:nvPr/>
        </p:nvSpPr>
        <p:spPr>
          <a:xfrm>
            <a:off x="397100" y="1275275"/>
            <a:ext cx="6384900" cy="1653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pl">
                <a:solidFill>
                  <a:schemeClr val="lt2"/>
                </a:solidFill>
                <a:latin typeface="Nunito"/>
                <a:ea typeface="Nunito"/>
                <a:cs typeface="Nunito"/>
                <a:sym typeface="Nunito"/>
              </a:rPr>
              <a:t>Jest to kształt przez wiele osób uważany za dobry, jednakże większość silniejszych graczy uważa go za umiarkowanie zły. Jak z każdym kształtem, kontekst użycia jest decydujący i można znaleźć pozytywne zastosowania. Jest on częścią składową stolika, jeśli więc prowadzi do powstania stolika, jego użycie jest ok. Częstym błędem przy graniu tego kształtu jest błędne założenie, że gwarantuje on oko, a tak nie jest. Głowę psa da się przeciąć. Ma lepsze alternatywy - </a:t>
            </a:r>
            <a:r>
              <a:rPr b="1" lang="pl">
                <a:solidFill>
                  <a:schemeClr val="lt2"/>
                </a:solidFill>
                <a:latin typeface="Nunito"/>
                <a:ea typeface="Nunito"/>
                <a:cs typeface="Nunito"/>
                <a:sym typeface="Nunito"/>
              </a:rPr>
              <a:t>Tobimagari</a:t>
            </a:r>
            <a:r>
              <a:rPr lang="pl">
                <a:solidFill>
                  <a:schemeClr val="lt2"/>
                </a:solidFill>
                <a:latin typeface="Nunito"/>
                <a:ea typeface="Nunito"/>
                <a:cs typeface="Nunito"/>
                <a:sym typeface="Nunito"/>
              </a:rPr>
              <a:t>.</a:t>
            </a:r>
            <a:endParaRPr>
              <a:solidFill>
                <a:schemeClr val="lt2"/>
              </a:solidFill>
              <a:latin typeface="Nunito"/>
              <a:ea typeface="Nunito"/>
              <a:cs typeface="Nunito"/>
              <a:sym typeface="Nunito"/>
            </a:endParaRPr>
          </a:p>
          <a:p>
            <a:pPr indent="0" lvl="0" marL="0" rtl="0" algn="just">
              <a:spcBef>
                <a:spcPts val="1000"/>
              </a:spcBef>
              <a:spcAft>
                <a:spcPts val="0"/>
              </a:spcAft>
              <a:buClr>
                <a:schemeClr val="dk1"/>
              </a:buClr>
              <a:buSzPts val="1100"/>
              <a:buFont typeface="Arial"/>
              <a:buNone/>
            </a:pPr>
            <a:r>
              <a:t/>
            </a:r>
            <a:endParaRPr>
              <a:solidFill>
                <a:schemeClr val="lt2"/>
              </a:solidFill>
              <a:latin typeface="Nunito"/>
              <a:ea typeface="Nunito"/>
              <a:cs typeface="Nunito"/>
              <a:sym typeface="Nunito"/>
            </a:endParaRPr>
          </a:p>
          <a:p>
            <a:pPr indent="0" lvl="0" marL="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227" name="Google Shape;227;p28"/>
          <p:cNvPicPr preferRelativeResize="0"/>
          <p:nvPr/>
        </p:nvPicPr>
        <p:blipFill>
          <a:blip r:embed="rId4">
            <a:alphaModFix/>
          </a:blip>
          <a:stretch>
            <a:fillRect/>
          </a:stretch>
        </p:blipFill>
        <p:spPr>
          <a:xfrm>
            <a:off x="6982225" y="1275275"/>
            <a:ext cx="1826290" cy="1802975"/>
          </a:xfrm>
          <a:prstGeom prst="rect">
            <a:avLst/>
          </a:prstGeom>
          <a:noFill/>
          <a:ln cap="flat" cmpd="sng" w="38100">
            <a:solidFill>
              <a:schemeClr val="lt2"/>
            </a:solidFill>
            <a:prstDash val="solid"/>
            <a:round/>
            <a:headEnd len="sm" w="sm" type="none"/>
            <a:tailEnd len="sm" w="sm" type="none"/>
          </a:ln>
        </p:spPr>
      </p:pic>
      <p:pic>
        <p:nvPicPr>
          <p:cNvPr id="228" name="Google Shape;228;p28"/>
          <p:cNvPicPr preferRelativeResize="0"/>
          <p:nvPr/>
        </p:nvPicPr>
        <p:blipFill>
          <a:blip r:embed="rId5">
            <a:alphaModFix/>
          </a:blip>
          <a:stretch>
            <a:fillRect/>
          </a:stretch>
        </p:blipFill>
        <p:spPr>
          <a:xfrm>
            <a:off x="6982225" y="3202325"/>
            <a:ext cx="1826300" cy="1849810"/>
          </a:xfrm>
          <a:prstGeom prst="rect">
            <a:avLst/>
          </a:prstGeom>
          <a:noFill/>
          <a:ln cap="flat" cmpd="sng" w="38100">
            <a:solidFill>
              <a:schemeClr val="lt2"/>
            </a:solidFill>
            <a:prstDash val="solid"/>
            <a:round/>
            <a:headEnd len="sm" w="sm" type="none"/>
            <a:tailEnd len="sm" w="sm" type="none"/>
          </a:ln>
        </p:spPr>
      </p:pic>
      <p:pic>
        <p:nvPicPr>
          <p:cNvPr id="229" name="Google Shape;229;p28"/>
          <p:cNvPicPr preferRelativeResize="0"/>
          <p:nvPr/>
        </p:nvPicPr>
        <p:blipFill rotWithShape="1">
          <a:blip r:embed="rId6">
            <a:alphaModFix/>
          </a:blip>
          <a:srcRect b="0" l="18910" r="0" t="0"/>
          <a:stretch/>
        </p:blipFill>
        <p:spPr>
          <a:xfrm>
            <a:off x="4955650" y="3202325"/>
            <a:ext cx="1826300" cy="1849800"/>
          </a:xfrm>
          <a:prstGeom prst="rect">
            <a:avLst/>
          </a:prstGeom>
          <a:noFill/>
          <a:ln cap="flat" cmpd="sng" w="38100">
            <a:solidFill>
              <a:schemeClr val="lt2"/>
            </a:solidFill>
            <a:prstDash val="solid"/>
            <a:round/>
            <a:headEnd len="sm" w="sm" type="none"/>
            <a:tailEnd len="sm" w="sm" type="none"/>
          </a:ln>
        </p:spPr>
      </p:pic>
      <p:pic>
        <p:nvPicPr>
          <p:cNvPr id="230" name="Google Shape;230;p28"/>
          <p:cNvPicPr preferRelativeResize="0"/>
          <p:nvPr/>
        </p:nvPicPr>
        <p:blipFill rotWithShape="1">
          <a:blip r:embed="rId7">
            <a:alphaModFix/>
          </a:blip>
          <a:srcRect b="0" l="16681" r="0" t="0"/>
          <a:stretch/>
        </p:blipFill>
        <p:spPr>
          <a:xfrm>
            <a:off x="524100" y="3203789"/>
            <a:ext cx="2156675" cy="1849800"/>
          </a:xfrm>
          <a:prstGeom prst="rect">
            <a:avLst/>
          </a:prstGeom>
          <a:noFill/>
          <a:ln cap="flat" cmpd="sng" w="38100">
            <a:solidFill>
              <a:schemeClr val="lt2"/>
            </a:solidFill>
            <a:prstDash val="solid"/>
            <a:round/>
            <a:headEnd len="sm" w="sm" type="none"/>
            <a:tailEnd len="sm" w="sm" type="none"/>
          </a:ln>
        </p:spPr>
      </p:pic>
      <p:pic>
        <p:nvPicPr>
          <p:cNvPr id="231" name="Google Shape;231;p28"/>
          <p:cNvPicPr preferRelativeResize="0"/>
          <p:nvPr/>
        </p:nvPicPr>
        <p:blipFill>
          <a:blip r:embed="rId8">
            <a:alphaModFix/>
          </a:blip>
          <a:stretch>
            <a:fillRect/>
          </a:stretch>
        </p:blipFill>
        <p:spPr>
          <a:xfrm>
            <a:off x="2886300" y="3078250"/>
            <a:ext cx="1863814" cy="197792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9"/>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7" name="Google Shape;237;p29"/>
          <p:cNvSpPr txBox="1"/>
          <p:nvPr/>
        </p:nvSpPr>
        <p:spPr>
          <a:xfrm>
            <a:off x="1082700" y="132300"/>
            <a:ext cx="71886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Głowa konia / Uma no Kao</a:t>
            </a:r>
            <a:endParaRPr b="1" sz="3900">
              <a:solidFill>
                <a:schemeClr val="dk2"/>
              </a:solidFill>
              <a:latin typeface="Nunito"/>
              <a:ea typeface="Nunito"/>
              <a:cs typeface="Nunito"/>
              <a:sym typeface="Nunito"/>
            </a:endParaRPr>
          </a:p>
        </p:txBody>
      </p:sp>
      <p:pic>
        <p:nvPicPr>
          <p:cNvPr id="238" name="Google Shape;238;p29"/>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39" name="Google Shape;239;p29"/>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40" name="Google Shape;240;p29"/>
          <p:cNvSpPr txBox="1"/>
          <p:nvPr/>
        </p:nvSpPr>
        <p:spPr>
          <a:xfrm>
            <a:off x="397100" y="1275275"/>
            <a:ext cx="6163500" cy="21429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l">
                <a:solidFill>
                  <a:schemeClr val="lt2"/>
                </a:solidFill>
                <a:latin typeface="Nunito"/>
                <a:ea typeface="Nunito"/>
                <a:cs typeface="Nunito"/>
                <a:sym typeface="Nunito"/>
              </a:rPr>
              <a:t>Jest to kształt podobny do głowy psa, ale w przeciwieństwie do niego uważany jest za dobry.</a:t>
            </a:r>
            <a:endParaRPr>
              <a:solidFill>
                <a:schemeClr val="lt2"/>
              </a:solidFill>
              <a:latin typeface="Nunito"/>
              <a:ea typeface="Nunito"/>
              <a:cs typeface="Nunito"/>
              <a:sym typeface="Nunito"/>
            </a:endParaRPr>
          </a:p>
          <a:p>
            <a:pPr indent="0" lvl="0" marL="0" rtl="0" algn="just">
              <a:spcBef>
                <a:spcPts val="1000"/>
              </a:spcBef>
              <a:spcAft>
                <a:spcPts val="0"/>
              </a:spcAft>
              <a:buClr>
                <a:schemeClr val="dk1"/>
              </a:buClr>
              <a:buSzPts val="1100"/>
              <a:buFont typeface="Arial"/>
              <a:buNone/>
            </a:pPr>
            <a:r>
              <a:rPr lang="pl" u="sng">
                <a:solidFill>
                  <a:schemeClr val="lt2"/>
                </a:solidFill>
                <a:latin typeface="Nunito"/>
                <a:ea typeface="Nunito"/>
                <a:cs typeface="Nunito"/>
                <a:sym typeface="Nunito"/>
              </a:rPr>
              <a:t>Cechy i zastosowanie:</a:t>
            </a:r>
            <a:endParaRPr u="sng">
              <a:solidFill>
                <a:schemeClr val="lt2"/>
              </a:solidFill>
              <a:latin typeface="Nunito"/>
              <a:ea typeface="Nunito"/>
              <a:cs typeface="Nunito"/>
              <a:sym typeface="Nunito"/>
            </a:endParaRPr>
          </a:p>
          <a:p>
            <a:pPr indent="-317500" lvl="0" marL="457200" rtl="0" algn="just">
              <a:spcBef>
                <a:spcPts val="1000"/>
              </a:spcBef>
              <a:spcAft>
                <a:spcPts val="0"/>
              </a:spcAft>
              <a:buClr>
                <a:schemeClr val="lt2"/>
              </a:buClr>
              <a:buSzPts val="1400"/>
              <a:buFont typeface="Nunito"/>
              <a:buChar char="●"/>
            </a:pPr>
            <a:r>
              <a:rPr lang="pl">
                <a:solidFill>
                  <a:schemeClr val="lt2"/>
                </a:solidFill>
                <a:latin typeface="Nunito"/>
                <a:ea typeface="Nunito"/>
                <a:cs typeface="Nunito"/>
                <a:sym typeface="Nunito"/>
              </a:rPr>
              <a:t>Świetny do szybkiego wyjścia do centrum</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Da się go rozciąć, ale jego przecinanie często jest nieopłacalne</a:t>
            </a:r>
            <a:endParaRPr>
              <a:solidFill>
                <a:schemeClr val="lt2"/>
              </a:solidFill>
              <a:latin typeface="Nunito"/>
              <a:ea typeface="Nunito"/>
              <a:cs typeface="Nunito"/>
              <a:sym typeface="Nunito"/>
            </a:endParaRPr>
          </a:p>
          <a:p>
            <a:pPr indent="-317500" lvl="0" marL="457200" rtl="0" algn="just">
              <a:spcBef>
                <a:spcPts val="0"/>
              </a:spcBef>
              <a:spcAft>
                <a:spcPts val="0"/>
              </a:spcAft>
              <a:buClr>
                <a:schemeClr val="lt2"/>
              </a:buClr>
              <a:buSzPts val="1400"/>
              <a:buFont typeface="Nunito"/>
              <a:buChar char="●"/>
            </a:pPr>
            <a:r>
              <a:rPr lang="pl">
                <a:solidFill>
                  <a:schemeClr val="lt2"/>
                </a:solidFill>
                <a:latin typeface="Nunito"/>
                <a:ea typeface="Nunito"/>
                <a:cs typeface="Nunito"/>
                <a:sym typeface="Nunito"/>
              </a:rPr>
              <a:t>Ma dobry stosunek prędkości do solidności</a:t>
            </a:r>
            <a:endParaRPr>
              <a:solidFill>
                <a:schemeClr val="lt2"/>
              </a:solidFill>
              <a:latin typeface="Nunito"/>
              <a:ea typeface="Nunito"/>
              <a:cs typeface="Nunito"/>
              <a:sym typeface="Nunito"/>
            </a:endParaRPr>
          </a:p>
          <a:p>
            <a:pPr indent="0" lvl="0" marL="457200" rtl="0" algn="just">
              <a:spcBef>
                <a:spcPts val="1000"/>
              </a:spcBef>
              <a:spcAft>
                <a:spcPts val="1000"/>
              </a:spcAft>
              <a:buNone/>
            </a:pPr>
            <a:r>
              <a:t/>
            </a:r>
            <a:endParaRPr>
              <a:solidFill>
                <a:schemeClr val="lt2"/>
              </a:solidFill>
              <a:latin typeface="Nunito"/>
              <a:ea typeface="Nunito"/>
              <a:cs typeface="Nunito"/>
              <a:sym typeface="Nunito"/>
            </a:endParaRPr>
          </a:p>
        </p:txBody>
      </p:sp>
      <p:pic>
        <p:nvPicPr>
          <p:cNvPr id="241" name="Google Shape;241;p29"/>
          <p:cNvPicPr preferRelativeResize="0"/>
          <p:nvPr/>
        </p:nvPicPr>
        <p:blipFill>
          <a:blip r:embed="rId4">
            <a:alphaModFix/>
          </a:blip>
          <a:stretch>
            <a:fillRect/>
          </a:stretch>
        </p:blipFill>
        <p:spPr>
          <a:xfrm>
            <a:off x="6967900" y="1440375"/>
            <a:ext cx="1765054" cy="1977925"/>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0"/>
          <p:cNvSpPr/>
          <p:nvPr/>
        </p:nvSpPr>
        <p:spPr>
          <a:xfrm rot="10800000">
            <a:off x="25" y="-100"/>
            <a:ext cx="9159900" cy="1026900"/>
          </a:xfrm>
          <a:prstGeom prst="round2SameRect">
            <a:avLst>
              <a:gd fmla="val 16667" name="adj1"/>
              <a:gd fmla="val 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47" name="Google Shape;247;p30"/>
          <p:cNvSpPr txBox="1"/>
          <p:nvPr/>
        </p:nvSpPr>
        <p:spPr>
          <a:xfrm>
            <a:off x="1082700" y="132300"/>
            <a:ext cx="7188600" cy="558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pl" sz="3500">
                <a:solidFill>
                  <a:schemeClr val="dk2"/>
                </a:solidFill>
                <a:latin typeface="Nunito"/>
                <a:ea typeface="Nunito"/>
                <a:cs typeface="Nunito"/>
                <a:sym typeface="Nunito"/>
              </a:rPr>
              <a:t>Tobimagari - zagięcie skokiem</a:t>
            </a:r>
            <a:endParaRPr b="1" sz="3900">
              <a:solidFill>
                <a:schemeClr val="dk2"/>
              </a:solidFill>
              <a:latin typeface="Nunito"/>
              <a:ea typeface="Nunito"/>
              <a:cs typeface="Nunito"/>
              <a:sym typeface="Nunito"/>
            </a:endParaRPr>
          </a:p>
        </p:txBody>
      </p:sp>
      <p:pic>
        <p:nvPicPr>
          <p:cNvPr id="248" name="Google Shape;248;p30"/>
          <p:cNvPicPr preferRelativeResize="0"/>
          <p:nvPr/>
        </p:nvPicPr>
        <p:blipFill>
          <a:blip r:embed="rId3">
            <a:alphaModFix/>
          </a:blip>
          <a:stretch>
            <a:fillRect/>
          </a:stretch>
        </p:blipFill>
        <p:spPr>
          <a:xfrm flipH="1">
            <a:off x="128450" y="66100"/>
            <a:ext cx="659159" cy="894501"/>
          </a:xfrm>
          <a:prstGeom prst="rect">
            <a:avLst/>
          </a:prstGeom>
          <a:noFill/>
          <a:ln>
            <a:noFill/>
          </a:ln>
        </p:spPr>
      </p:pic>
      <p:pic>
        <p:nvPicPr>
          <p:cNvPr id="249" name="Google Shape;249;p30"/>
          <p:cNvPicPr preferRelativeResize="0"/>
          <p:nvPr/>
        </p:nvPicPr>
        <p:blipFill>
          <a:blip r:embed="rId3">
            <a:alphaModFix/>
          </a:blip>
          <a:stretch>
            <a:fillRect/>
          </a:stretch>
        </p:blipFill>
        <p:spPr>
          <a:xfrm>
            <a:off x="8362750" y="92735"/>
            <a:ext cx="659159" cy="894501"/>
          </a:xfrm>
          <a:prstGeom prst="rect">
            <a:avLst/>
          </a:prstGeom>
          <a:noFill/>
          <a:ln>
            <a:noFill/>
          </a:ln>
        </p:spPr>
      </p:pic>
      <p:sp>
        <p:nvSpPr>
          <p:cNvPr id="250" name="Google Shape;250;p30"/>
          <p:cNvSpPr txBox="1"/>
          <p:nvPr/>
        </p:nvSpPr>
        <p:spPr>
          <a:xfrm>
            <a:off x="397100" y="1275275"/>
            <a:ext cx="6326400" cy="1585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pl">
                <a:solidFill>
                  <a:schemeClr val="lt2"/>
                </a:solidFill>
                <a:latin typeface="Nunito"/>
                <a:ea typeface="Nunito"/>
                <a:cs typeface="Nunito"/>
                <a:sym typeface="Nunito"/>
              </a:rPr>
              <a:t>Tobimagari</a:t>
            </a:r>
            <a:r>
              <a:rPr lang="pl">
                <a:solidFill>
                  <a:schemeClr val="lt2"/>
                </a:solidFill>
                <a:latin typeface="Nunito"/>
                <a:ea typeface="Nunito"/>
                <a:cs typeface="Nunito"/>
                <a:sym typeface="Nunito"/>
              </a:rPr>
              <a:t> zagrane na 3 linii, do przykrycia od góry kamienia przeciwnika to kształt trudny do rozcięcia. Ma oczywisty słaby punkt, ale próba rozcięcia bez dodatkowych kamienie wspomagających często jest nieopłacalna.</a:t>
            </a:r>
            <a:endParaRPr>
              <a:solidFill>
                <a:schemeClr val="lt2"/>
              </a:solidFill>
              <a:latin typeface="Nunito"/>
              <a:ea typeface="Nunito"/>
              <a:cs typeface="Nunito"/>
              <a:sym typeface="Nunito"/>
            </a:endParaRPr>
          </a:p>
          <a:p>
            <a:pPr indent="0" lvl="0" marL="0" rtl="0" algn="just">
              <a:spcBef>
                <a:spcPts val="1000"/>
              </a:spcBef>
              <a:spcAft>
                <a:spcPts val="1000"/>
              </a:spcAft>
              <a:buNone/>
            </a:pPr>
            <a:r>
              <a:rPr lang="pl">
                <a:solidFill>
                  <a:schemeClr val="lt2"/>
                </a:solidFill>
                <a:latin typeface="Nunito"/>
                <a:ea typeface="Nunito"/>
                <a:cs typeface="Nunito"/>
                <a:sym typeface="Nunito"/>
              </a:rPr>
              <a:t>Tobimagari można w razie potrzeby jednym ruchem przekształcić w podwójną paszczę tygrysa zwaną paszczą lwa.</a:t>
            </a:r>
            <a:endParaRPr>
              <a:solidFill>
                <a:schemeClr val="lt2"/>
              </a:solidFill>
              <a:latin typeface="Nunito"/>
              <a:ea typeface="Nunito"/>
              <a:cs typeface="Nunito"/>
              <a:sym typeface="Nunito"/>
            </a:endParaRPr>
          </a:p>
        </p:txBody>
      </p:sp>
      <p:pic>
        <p:nvPicPr>
          <p:cNvPr id="251" name="Google Shape;251;p30"/>
          <p:cNvPicPr preferRelativeResize="0"/>
          <p:nvPr/>
        </p:nvPicPr>
        <p:blipFill>
          <a:blip r:embed="rId4">
            <a:alphaModFix/>
          </a:blip>
          <a:stretch>
            <a:fillRect/>
          </a:stretch>
        </p:blipFill>
        <p:spPr>
          <a:xfrm>
            <a:off x="7509797" y="1275275"/>
            <a:ext cx="1323150" cy="1447175"/>
          </a:xfrm>
          <a:prstGeom prst="rect">
            <a:avLst/>
          </a:prstGeom>
          <a:noFill/>
          <a:ln cap="flat" cmpd="sng" w="38100">
            <a:solidFill>
              <a:schemeClr val="lt2"/>
            </a:solidFill>
            <a:prstDash val="solid"/>
            <a:round/>
            <a:headEnd len="sm" w="sm" type="none"/>
            <a:tailEnd len="sm" w="sm" type="none"/>
          </a:ln>
        </p:spPr>
      </p:pic>
      <p:pic>
        <p:nvPicPr>
          <p:cNvPr id="252" name="Google Shape;252;p30"/>
          <p:cNvPicPr preferRelativeResize="0"/>
          <p:nvPr/>
        </p:nvPicPr>
        <p:blipFill>
          <a:blip r:embed="rId5">
            <a:alphaModFix/>
          </a:blip>
          <a:stretch>
            <a:fillRect/>
          </a:stretch>
        </p:blipFill>
        <p:spPr>
          <a:xfrm>
            <a:off x="397096" y="3138550"/>
            <a:ext cx="1517800" cy="1864925"/>
          </a:xfrm>
          <a:prstGeom prst="rect">
            <a:avLst/>
          </a:prstGeom>
          <a:noFill/>
          <a:ln cap="flat" cmpd="sng" w="38100">
            <a:solidFill>
              <a:schemeClr val="lt2"/>
            </a:solidFill>
            <a:prstDash val="solid"/>
            <a:round/>
            <a:headEnd len="sm" w="sm" type="none"/>
            <a:tailEnd len="sm" w="sm" type="none"/>
          </a:ln>
        </p:spPr>
      </p:pic>
      <p:pic>
        <p:nvPicPr>
          <p:cNvPr id="253" name="Google Shape;253;p30"/>
          <p:cNvPicPr preferRelativeResize="0"/>
          <p:nvPr/>
        </p:nvPicPr>
        <p:blipFill>
          <a:blip r:embed="rId6">
            <a:alphaModFix/>
          </a:blip>
          <a:stretch>
            <a:fillRect/>
          </a:stretch>
        </p:blipFill>
        <p:spPr>
          <a:xfrm>
            <a:off x="2071425" y="3138550"/>
            <a:ext cx="1453545" cy="1864925"/>
          </a:xfrm>
          <a:prstGeom prst="rect">
            <a:avLst/>
          </a:prstGeom>
          <a:noFill/>
          <a:ln cap="flat" cmpd="sng" w="38100">
            <a:solidFill>
              <a:schemeClr val="lt2"/>
            </a:solidFill>
            <a:prstDash val="solid"/>
            <a:round/>
            <a:headEnd len="sm" w="sm" type="none"/>
            <a:tailEnd len="sm" w="sm" type="none"/>
          </a:ln>
        </p:spPr>
      </p:pic>
      <p:pic>
        <p:nvPicPr>
          <p:cNvPr id="254" name="Google Shape;254;p30"/>
          <p:cNvPicPr preferRelativeResize="0"/>
          <p:nvPr/>
        </p:nvPicPr>
        <p:blipFill>
          <a:blip r:embed="rId7">
            <a:alphaModFix/>
          </a:blip>
          <a:stretch>
            <a:fillRect/>
          </a:stretch>
        </p:blipFill>
        <p:spPr>
          <a:xfrm>
            <a:off x="3677375" y="3126175"/>
            <a:ext cx="1679745" cy="1864925"/>
          </a:xfrm>
          <a:prstGeom prst="rect">
            <a:avLst/>
          </a:prstGeom>
          <a:noFill/>
          <a:ln cap="flat" cmpd="sng" w="38100">
            <a:solidFill>
              <a:schemeClr val="lt2"/>
            </a:solidFill>
            <a:prstDash val="solid"/>
            <a:round/>
            <a:headEnd len="sm" w="sm" type="none"/>
            <a:tailEnd len="sm" w="sm" type="none"/>
          </a:ln>
        </p:spPr>
      </p:pic>
      <p:pic>
        <p:nvPicPr>
          <p:cNvPr id="255" name="Google Shape;255;p30"/>
          <p:cNvPicPr preferRelativeResize="0"/>
          <p:nvPr/>
        </p:nvPicPr>
        <p:blipFill>
          <a:blip r:embed="rId8">
            <a:alphaModFix/>
          </a:blip>
          <a:stretch>
            <a:fillRect/>
          </a:stretch>
        </p:blipFill>
        <p:spPr>
          <a:xfrm>
            <a:off x="7315149" y="3425347"/>
            <a:ext cx="1517800" cy="1494803"/>
          </a:xfrm>
          <a:prstGeom prst="rect">
            <a:avLst/>
          </a:prstGeom>
          <a:noFill/>
          <a:ln cap="flat" cmpd="sng" w="38100">
            <a:solidFill>
              <a:schemeClr val="lt2"/>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