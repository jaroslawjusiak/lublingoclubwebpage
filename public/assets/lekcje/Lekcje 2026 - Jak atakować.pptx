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Nuni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regular.fntdata"/><Relationship Id="rId14" Type="http://schemas.openxmlformats.org/officeDocument/2006/relationships/slide" Target="slides/slide9.xml"/><Relationship Id="rId17" Type="http://schemas.openxmlformats.org/officeDocument/2006/relationships/font" Target="fonts/Nunito-italic.fntdata"/><Relationship Id="rId16" Type="http://schemas.openxmlformats.org/officeDocument/2006/relationships/font" Target="fonts/Nuni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56b5d1e944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56b5d1e944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620d3628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620d3628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620d3628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620d3628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d620d3628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d620d3628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64cc0e6a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d64cc0e6a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64cc0e6a6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64cc0e6a6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64cc0e6a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d64cc0e6a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64cc0e6a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64cc0e6a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3434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656600" y="1785450"/>
            <a:ext cx="5830800" cy="96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6000">
                <a:solidFill>
                  <a:schemeClr val="lt2"/>
                </a:solidFill>
                <a:latin typeface="Nunito"/>
                <a:ea typeface="Nunito"/>
                <a:cs typeface="Nunito"/>
                <a:sym typeface="Nunito"/>
              </a:rPr>
              <a:t>ATAK</a:t>
            </a:r>
            <a:endParaRPr b="1" sz="6200">
              <a:solidFill>
                <a:schemeClr val="lt2"/>
              </a:solidFill>
              <a:latin typeface="Nunito"/>
              <a:ea typeface="Nunito"/>
              <a:cs typeface="Nunito"/>
              <a:sym typeface="Nunito"/>
            </a:endParaRPr>
          </a:p>
        </p:txBody>
      </p:sp>
      <p:sp>
        <p:nvSpPr>
          <p:cNvPr id="55" name="Google Shape;55;p13"/>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txBox="1"/>
          <p:nvPr/>
        </p:nvSpPr>
        <p:spPr>
          <a:xfrm>
            <a:off x="2351250" y="132300"/>
            <a:ext cx="44415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Lubelski Klub Go</a:t>
            </a:r>
            <a:endParaRPr b="1" sz="3900">
              <a:solidFill>
                <a:schemeClr val="dk2"/>
              </a:solidFill>
              <a:latin typeface="Nunito"/>
              <a:ea typeface="Nunito"/>
              <a:cs typeface="Nunito"/>
              <a:sym typeface="Nunito"/>
            </a:endParaRPr>
          </a:p>
        </p:txBody>
      </p:sp>
      <p:pic>
        <p:nvPicPr>
          <p:cNvPr id="57" name="Google Shape;57;p13"/>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58" name="Google Shape;58;p13"/>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59" name="Google Shape;59;p13"/>
          <p:cNvSpPr txBox="1"/>
          <p:nvPr/>
        </p:nvSpPr>
        <p:spPr>
          <a:xfrm>
            <a:off x="375850" y="4047200"/>
            <a:ext cx="7904100" cy="960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a:solidFill>
                  <a:schemeClr val="lt2"/>
                </a:solidFill>
                <a:latin typeface="Nunito"/>
                <a:ea typeface="Nunito"/>
                <a:cs typeface="Nunito"/>
                <a:sym typeface="Nunito"/>
              </a:rPr>
              <a:t>Dalsza lektura:</a:t>
            </a:r>
            <a:endParaRPr>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Ishida Akira </a:t>
            </a:r>
            <a:r>
              <a:rPr lang="pl">
                <a:solidFill>
                  <a:schemeClr val="lt2"/>
                </a:solidFill>
                <a:latin typeface="Nunito"/>
                <a:ea typeface="Nunito"/>
                <a:cs typeface="Nunito"/>
                <a:sym typeface="Nunito"/>
              </a:rPr>
              <a:t>- Attack and Defence (Elementary Go Series, Vol. 5)</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Takeo Kajiwara - The Direction of Play</a:t>
            </a:r>
            <a:endParaRPr>
              <a:solidFill>
                <a:schemeClr val="lt2"/>
              </a:solidFill>
              <a:latin typeface="Nunito"/>
              <a:ea typeface="Nunito"/>
              <a:cs typeface="Nunito"/>
              <a:sym typeface="Nunito"/>
            </a:endParaRPr>
          </a:p>
        </p:txBody>
      </p:sp>
      <p:sp>
        <p:nvSpPr>
          <p:cNvPr id="60" name="Google Shape;60;p13"/>
          <p:cNvSpPr txBox="1"/>
          <p:nvPr/>
        </p:nvSpPr>
        <p:spPr>
          <a:xfrm>
            <a:off x="1656600" y="2699850"/>
            <a:ext cx="6535500" cy="7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4000">
                <a:solidFill>
                  <a:schemeClr val="lt2"/>
                </a:solidFill>
                <a:latin typeface="Nunito"/>
                <a:ea typeface="Nunito"/>
                <a:cs typeface="Nunito"/>
                <a:sym typeface="Nunito"/>
              </a:rPr>
              <a:t>Jak atakować przeciwnika</a:t>
            </a:r>
            <a:endParaRPr b="1" sz="4000">
              <a:solidFill>
                <a:schemeClr val="lt2"/>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4"/>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Błędne postrzeganie ataku</a:t>
            </a:r>
            <a:endParaRPr b="1" sz="3900">
              <a:solidFill>
                <a:schemeClr val="dk2"/>
              </a:solidFill>
              <a:latin typeface="Nunito"/>
              <a:ea typeface="Nunito"/>
              <a:cs typeface="Nunito"/>
              <a:sym typeface="Nunito"/>
            </a:endParaRPr>
          </a:p>
        </p:txBody>
      </p:sp>
      <p:pic>
        <p:nvPicPr>
          <p:cNvPr id="67" name="Google Shape;67;p14"/>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68" name="Google Shape;68;p14"/>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69" name="Google Shape;69;p14"/>
          <p:cNvSpPr txBox="1"/>
          <p:nvPr/>
        </p:nvSpPr>
        <p:spPr>
          <a:xfrm>
            <a:off x="128450" y="1215825"/>
            <a:ext cx="8877600" cy="894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sz="1600">
                <a:solidFill>
                  <a:schemeClr val="lt2"/>
                </a:solidFill>
                <a:latin typeface="Nunito"/>
                <a:ea typeface="Nunito"/>
                <a:cs typeface="Nunito"/>
                <a:sym typeface="Nunito"/>
              </a:rPr>
              <a:t>Wielu początkujących graczy ma niewłaściwe zrozumienie tego czym jest atak i do czego służy. </a:t>
            </a:r>
            <a:endParaRPr sz="1600">
              <a:solidFill>
                <a:schemeClr val="lt2"/>
              </a:solidFill>
              <a:latin typeface="Nunito"/>
              <a:ea typeface="Nunito"/>
              <a:cs typeface="Nunito"/>
              <a:sym typeface="Nunito"/>
            </a:endParaRPr>
          </a:p>
          <a:p>
            <a:pPr indent="0" lvl="0" marL="0" rtl="0" algn="just">
              <a:spcBef>
                <a:spcPts val="1000"/>
              </a:spcBef>
              <a:spcAft>
                <a:spcPts val="0"/>
              </a:spcAft>
              <a:buNone/>
            </a:pPr>
            <a:r>
              <a:rPr lang="pl" sz="1600">
                <a:solidFill>
                  <a:schemeClr val="lt2"/>
                </a:solidFill>
                <a:latin typeface="Nunito"/>
                <a:ea typeface="Nunito"/>
                <a:cs typeface="Nunito"/>
                <a:sym typeface="Nunito"/>
              </a:rPr>
              <a:t>Do najczęściej spotykanych błędów koncepcyjnych należą:</a:t>
            </a:r>
            <a:endParaRPr sz="1600">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grpSp>
        <p:nvGrpSpPr>
          <p:cNvPr id="70" name="Google Shape;70;p14"/>
          <p:cNvGrpSpPr/>
          <p:nvPr/>
        </p:nvGrpSpPr>
        <p:grpSpPr>
          <a:xfrm>
            <a:off x="226200" y="2420615"/>
            <a:ext cx="8779800" cy="813925"/>
            <a:chOff x="226200" y="1909575"/>
            <a:chExt cx="8779800" cy="813925"/>
          </a:xfrm>
        </p:grpSpPr>
        <p:sp>
          <p:nvSpPr>
            <p:cNvPr id="71" name="Google Shape;71;p14"/>
            <p:cNvSpPr txBox="1"/>
            <p:nvPr/>
          </p:nvSpPr>
          <p:spPr>
            <a:xfrm>
              <a:off x="226200" y="1909575"/>
              <a:ext cx="8779800" cy="760500"/>
            </a:xfrm>
            <a:prstGeom prst="rect">
              <a:avLst/>
            </a:prstGeom>
            <a:noFill/>
            <a:ln>
              <a:noFill/>
            </a:ln>
          </p:spPr>
          <p:txBody>
            <a:bodyPr anchorCtr="0" anchor="t" bIns="91425" lIns="91425" spcFirstLastPara="1" rIns="91425" wrap="square" tIns="91425">
              <a:noAutofit/>
            </a:bodyPr>
            <a:lstStyle/>
            <a:p>
              <a:pPr indent="457200" lvl="0" marL="457200" rtl="0" algn="l">
                <a:spcBef>
                  <a:spcPts val="0"/>
                </a:spcBef>
                <a:spcAft>
                  <a:spcPts val="0"/>
                </a:spcAft>
                <a:buNone/>
              </a:pPr>
              <a:r>
                <a:rPr lang="pl" sz="3200">
                  <a:solidFill>
                    <a:schemeClr val="lt2"/>
                  </a:solidFill>
                  <a:latin typeface="Nunito"/>
                  <a:ea typeface="Nunito"/>
                  <a:cs typeface="Nunito"/>
                  <a:sym typeface="Nunito"/>
                </a:rPr>
                <a:t>ATAK = Zbijanie kamieni przeciwnika</a:t>
              </a:r>
              <a:endParaRPr sz="3200">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sp>
          <p:nvSpPr>
            <p:cNvPr id="72" name="Google Shape;72;p14"/>
            <p:cNvSpPr/>
            <p:nvPr/>
          </p:nvSpPr>
          <p:spPr>
            <a:xfrm>
              <a:off x="322200" y="1963000"/>
              <a:ext cx="760500" cy="760500"/>
            </a:xfrm>
            <a:prstGeom prst="mathMultiply">
              <a:avLst>
                <a:gd fmla="val 23520" name="adj1"/>
              </a:avLst>
            </a:prstGeom>
            <a:solidFill>
              <a:srgbClr val="FF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3" name="Google Shape;73;p14"/>
          <p:cNvGrpSpPr/>
          <p:nvPr/>
        </p:nvGrpSpPr>
        <p:grpSpPr>
          <a:xfrm>
            <a:off x="226200" y="3403754"/>
            <a:ext cx="8779800" cy="760510"/>
            <a:chOff x="226200" y="3240025"/>
            <a:chExt cx="8779800" cy="760510"/>
          </a:xfrm>
        </p:grpSpPr>
        <p:sp>
          <p:nvSpPr>
            <p:cNvPr id="74" name="Google Shape;74;p14"/>
            <p:cNvSpPr txBox="1"/>
            <p:nvPr/>
          </p:nvSpPr>
          <p:spPr>
            <a:xfrm>
              <a:off x="226200" y="3240035"/>
              <a:ext cx="8779800" cy="760500"/>
            </a:xfrm>
            <a:prstGeom prst="rect">
              <a:avLst/>
            </a:prstGeom>
            <a:noFill/>
            <a:ln>
              <a:noFill/>
            </a:ln>
          </p:spPr>
          <p:txBody>
            <a:bodyPr anchorCtr="0" anchor="t" bIns="91425" lIns="91425" spcFirstLastPara="1" rIns="91425" wrap="square" tIns="91425">
              <a:noAutofit/>
            </a:bodyPr>
            <a:lstStyle/>
            <a:p>
              <a:pPr indent="457200" lvl="0" marL="457200" rtl="0" algn="l">
                <a:spcBef>
                  <a:spcPts val="0"/>
                </a:spcBef>
                <a:spcAft>
                  <a:spcPts val="0"/>
                </a:spcAft>
                <a:buNone/>
              </a:pPr>
              <a:r>
                <a:rPr lang="pl" sz="3200">
                  <a:solidFill>
                    <a:schemeClr val="lt2"/>
                  </a:solidFill>
                  <a:latin typeface="Nunito"/>
                  <a:ea typeface="Nunito"/>
                  <a:cs typeface="Nunito"/>
                  <a:sym typeface="Nunito"/>
                </a:rPr>
                <a:t>ATAK = Zabijanie grup przeciwnika</a:t>
              </a:r>
              <a:endParaRPr sz="3200">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sp>
          <p:nvSpPr>
            <p:cNvPr id="75" name="Google Shape;75;p14"/>
            <p:cNvSpPr/>
            <p:nvPr/>
          </p:nvSpPr>
          <p:spPr>
            <a:xfrm>
              <a:off x="322203" y="3240025"/>
              <a:ext cx="760500" cy="760500"/>
            </a:xfrm>
            <a:prstGeom prst="mathMultiply">
              <a:avLst>
                <a:gd fmla="val 23520" name="adj1"/>
              </a:avLst>
            </a:prstGeom>
            <a:solidFill>
              <a:srgbClr val="FF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5"/>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Gdy chcesz pozabierać oddechy</a:t>
            </a:r>
            <a:endParaRPr b="1" sz="3900">
              <a:solidFill>
                <a:schemeClr val="dk2"/>
              </a:solidFill>
              <a:latin typeface="Nunito"/>
              <a:ea typeface="Nunito"/>
              <a:cs typeface="Nunito"/>
              <a:sym typeface="Nunito"/>
            </a:endParaRPr>
          </a:p>
        </p:txBody>
      </p:sp>
      <p:pic>
        <p:nvPicPr>
          <p:cNvPr id="82" name="Google Shape;82;p15"/>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83" name="Google Shape;83;p15"/>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84" name="Google Shape;84;p15"/>
          <p:cNvSpPr txBox="1"/>
          <p:nvPr/>
        </p:nvSpPr>
        <p:spPr>
          <a:xfrm>
            <a:off x="226200" y="1139625"/>
            <a:ext cx="5055000" cy="3772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sz="1900">
                <a:solidFill>
                  <a:schemeClr val="lt2"/>
                </a:solidFill>
                <a:latin typeface="Nunito"/>
                <a:ea typeface="Nunito"/>
                <a:cs typeface="Nunito"/>
                <a:sym typeface="Nunito"/>
              </a:rPr>
              <a:t>Dlaczego usiłowanie zbijania kamieni przeciwnika jest złe?</a:t>
            </a:r>
            <a:endParaRPr sz="1900">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Gdy w atari go jeden z graczy usiłuje za wszelką cenę pozabierać wszystkie oddechy kamieni przeciwnika by je zbić, a jego przeciwnik będzie się starał za wszelką cenę bronić poprzez zwiększanie ilości oddechów i nie pozwalanie na rozdzielenie swoich kamieni, gracz usiłujący zbić kamienie szybko sam zostanie zbity.</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Dzieje się tak dlatego, że nadmierna agresja w ataku prowadzi do powstawania szeregu słabości w postaci cięć. Te słabości mogą </a:t>
            </a:r>
            <a:r>
              <a:rPr lang="pl">
                <a:solidFill>
                  <a:schemeClr val="lt2"/>
                </a:solidFill>
                <a:latin typeface="Nunito"/>
                <a:ea typeface="Nunito"/>
                <a:cs typeface="Nunito"/>
                <a:sym typeface="Nunito"/>
              </a:rPr>
              <a:t>zostać</a:t>
            </a:r>
            <a:r>
              <a:rPr lang="pl">
                <a:solidFill>
                  <a:schemeClr val="lt2"/>
                </a:solidFill>
                <a:latin typeface="Nunito"/>
                <a:ea typeface="Nunito"/>
                <a:cs typeface="Nunito"/>
                <a:sym typeface="Nunito"/>
              </a:rPr>
              <a:t> bardzo łatwo wykorzystane przeciwko agresorowi.</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Diagram obok pokazuje agresywną grę czarnych, która kończy się podwójnym atari na jego kamienie.</a:t>
            </a:r>
            <a:endParaRPr>
              <a:solidFill>
                <a:schemeClr val="lt2"/>
              </a:solidFill>
              <a:latin typeface="Nunito"/>
              <a:ea typeface="Nunito"/>
              <a:cs typeface="Nunito"/>
              <a:sym typeface="Nunito"/>
            </a:endParaRPr>
          </a:p>
        </p:txBody>
      </p:sp>
      <p:pic>
        <p:nvPicPr>
          <p:cNvPr id="85" name="Google Shape;85;p15"/>
          <p:cNvPicPr preferRelativeResize="0"/>
          <p:nvPr/>
        </p:nvPicPr>
        <p:blipFill>
          <a:blip r:embed="rId4">
            <a:alphaModFix/>
          </a:blip>
          <a:stretch>
            <a:fillRect/>
          </a:stretch>
        </p:blipFill>
        <p:spPr>
          <a:xfrm>
            <a:off x="5463225" y="1238513"/>
            <a:ext cx="3558675" cy="3574418"/>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6"/>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Jeśli zabiję grupę to wygram</a:t>
            </a:r>
            <a:endParaRPr b="1" sz="3900">
              <a:solidFill>
                <a:schemeClr val="dk2"/>
              </a:solidFill>
              <a:latin typeface="Nunito"/>
              <a:ea typeface="Nunito"/>
              <a:cs typeface="Nunito"/>
              <a:sym typeface="Nunito"/>
            </a:endParaRPr>
          </a:p>
        </p:txBody>
      </p:sp>
      <p:pic>
        <p:nvPicPr>
          <p:cNvPr id="92" name="Google Shape;92;p16"/>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93" name="Google Shape;93;p16"/>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94" name="Google Shape;94;p16"/>
          <p:cNvSpPr txBox="1"/>
          <p:nvPr/>
        </p:nvSpPr>
        <p:spPr>
          <a:xfrm>
            <a:off x="203550" y="1082975"/>
            <a:ext cx="4840200" cy="2184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sz="1900">
                <a:solidFill>
                  <a:schemeClr val="lt2"/>
                </a:solidFill>
                <a:latin typeface="Nunito"/>
                <a:ea typeface="Nunito"/>
                <a:cs typeface="Nunito"/>
                <a:sym typeface="Nunito"/>
              </a:rPr>
              <a:t>Dlaczego oparcie strategii na zbiciu grupy przeciwnika jest złe?</a:t>
            </a:r>
            <a:endParaRPr sz="1900">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Zabicie grupy przeciwnika nie jest łatwe. Jest to możliwe w zasadzie tylko jeśli przeciwnik poważnie zaniedba swoją grupę. Pierwszym warunkiem zabicia jest skuteczne otoczenie kamieni przeciwnika (co samo w sobie nie jest łatwe). Kolejnym, jeszcze trudniejszym krokiem jest pozbawienie grupy dwojga oczu. </a:t>
            </a:r>
            <a:endParaRPr>
              <a:solidFill>
                <a:schemeClr val="lt2"/>
              </a:solidFill>
              <a:latin typeface="Nunito"/>
              <a:ea typeface="Nunito"/>
              <a:cs typeface="Nunito"/>
              <a:sym typeface="Nunito"/>
            </a:endParaRPr>
          </a:p>
        </p:txBody>
      </p:sp>
      <p:pic>
        <p:nvPicPr>
          <p:cNvPr id="95" name="Google Shape;95;p16"/>
          <p:cNvPicPr preferRelativeResize="0"/>
          <p:nvPr/>
        </p:nvPicPr>
        <p:blipFill>
          <a:blip r:embed="rId4">
            <a:alphaModFix/>
          </a:blip>
          <a:stretch>
            <a:fillRect/>
          </a:stretch>
        </p:blipFill>
        <p:spPr>
          <a:xfrm>
            <a:off x="5236400" y="1195850"/>
            <a:ext cx="3785500" cy="2417725"/>
          </a:xfrm>
          <a:prstGeom prst="rect">
            <a:avLst/>
          </a:prstGeom>
          <a:noFill/>
          <a:ln cap="flat" cmpd="sng" w="38100">
            <a:solidFill>
              <a:schemeClr val="lt2"/>
            </a:solidFill>
            <a:prstDash val="solid"/>
            <a:round/>
            <a:headEnd len="sm" w="sm" type="none"/>
            <a:tailEnd len="sm" w="sm" type="none"/>
          </a:ln>
        </p:spPr>
      </p:pic>
      <p:sp>
        <p:nvSpPr>
          <p:cNvPr id="96" name="Google Shape;96;p16"/>
          <p:cNvSpPr txBox="1"/>
          <p:nvPr/>
        </p:nvSpPr>
        <p:spPr>
          <a:xfrm>
            <a:off x="203550" y="3210629"/>
            <a:ext cx="8873400" cy="1688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sz="1900">
                <a:solidFill>
                  <a:schemeClr val="lt2"/>
                </a:solidFill>
                <a:latin typeface="Nunito"/>
                <a:ea typeface="Nunito"/>
                <a:cs typeface="Nunito"/>
                <a:sym typeface="Nunito"/>
              </a:rPr>
              <a:t>Atakując narażasz się na niebezpieczeństwo</a:t>
            </a:r>
            <a:endParaRPr sz="1900">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Agresywny atak, w którym chcemy zabić za wszelką cenę, to wysokie ryzyko. Czym ryzykujemy? Atakując zostawiamy wiele słabości (cięć) w naszych formacjach. Nasze kamienie da się łatwo </a:t>
            </a:r>
            <a:r>
              <a:rPr lang="pl">
                <a:solidFill>
                  <a:schemeClr val="lt2"/>
                </a:solidFill>
                <a:latin typeface="Nunito"/>
                <a:ea typeface="Nunito"/>
                <a:cs typeface="Nunito"/>
                <a:sym typeface="Nunito"/>
              </a:rPr>
              <a:t>rozdzielić</a:t>
            </a:r>
            <a:r>
              <a:rPr lang="pl">
                <a:solidFill>
                  <a:schemeClr val="lt2"/>
                </a:solidFill>
                <a:latin typeface="Nunito"/>
                <a:ea typeface="Nunito"/>
                <a:cs typeface="Nunito"/>
                <a:sym typeface="Nunito"/>
              </a:rPr>
              <a:t>. Jeśli nie uda się zabić, te słabości mogą okazać się główną przyczyną naszej porażki. Atak mający na celu zabicie to bowiem postawienie wszystkiego na jedną kartę. Albo zginie przeciwnik albo zostanę skontrowany i zginę ja. A nawet jeśli my nie zginiemy, to bardzo często walka rozlewająca się na pół planszy (bo przeciwnik ucieka) niweczy inne plany i pozbawia nas bardzo często zysków, które mogliśmy odnieść grając rozważnie.</a:t>
            </a:r>
            <a:endParaRPr>
              <a:solidFill>
                <a:schemeClr val="lt2"/>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7"/>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Prawidłowe postrzeganie </a:t>
            </a:r>
            <a:r>
              <a:rPr b="1" lang="pl" sz="3500">
                <a:solidFill>
                  <a:schemeClr val="dk2"/>
                </a:solidFill>
                <a:latin typeface="Nunito"/>
                <a:ea typeface="Nunito"/>
                <a:cs typeface="Nunito"/>
                <a:sym typeface="Nunito"/>
              </a:rPr>
              <a:t>ataku</a:t>
            </a:r>
            <a:endParaRPr b="1" sz="3900">
              <a:solidFill>
                <a:schemeClr val="dk2"/>
              </a:solidFill>
              <a:latin typeface="Nunito"/>
              <a:ea typeface="Nunito"/>
              <a:cs typeface="Nunito"/>
              <a:sym typeface="Nunito"/>
            </a:endParaRPr>
          </a:p>
        </p:txBody>
      </p:sp>
      <p:pic>
        <p:nvPicPr>
          <p:cNvPr id="103" name="Google Shape;103;p17"/>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04" name="Google Shape;104;p17"/>
          <p:cNvPicPr preferRelativeResize="0"/>
          <p:nvPr/>
        </p:nvPicPr>
        <p:blipFill>
          <a:blip r:embed="rId3">
            <a:alphaModFix/>
          </a:blip>
          <a:stretch>
            <a:fillRect/>
          </a:stretch>
        </p:blipFill>
        <p:spPr>
          <a:xfrm>
            <a:off x="8362750" y="92735"/>
            <a:ext cx="659159" cy="894501"/>
          </a:xfrm>
          <a:prstGeom prst="rect">
            <a:avLst/>
          </a:prstGeom>
          <a:noFill/>
          <a:ln>
            <a:noFill/>
          </a:ln>
        </p:spPr>
      </p:pic>
      <p:grpSp>
        <p:nvGrpSpPr>
          <p:cNvPr id="105" name="Google Shape;105;p17"/>
          <p:cNvGrpSpPr/>
          <p:nvPr/>
        </p:nvGrpSpPr>
        <p:grpSpPr>
          <a:xfrm>
            <a:off x="226200" y="2844096"/>
            <a:ext cx="8598550" cy="1398300"/>
            <a:chOff x="226200" y="2482650"/>
            <a:chExt cx="8598550" cy="1398300"/>
          </a:xfrm>
        </p:grpSpPr>
        <p:sp>
          <p:nvSpPr>
            <p:cNvPr id="106" name="Google Shape;106;p17"/>
            <p:cNvSpPr txBox="1"/>
            <p:nvPr/>
          </p:nvSpPr>
          <p:spPr>
            <a:xfrm>
              <a:off x="2777950" y="2482650"/>
              <a:ext cx="6046800" cy="1398300"/>
            </a:xfrm>
            <a:prstGeom prst="rect">
              <a:avLst/>
            </a:prstGeom>
            <a:noFill/>
            <a:ln>
              <a:noFill/>
            </a:ln>
          </p:spPr>
          <p:txBody>
            <a:bodyPr anchorCtr="0" anchor="t" bIns="91425" lIns="91425" spcFirstLastPara="1" rIns="91425" wrap="square" tIns="91425">
              <a:noAutofit/>
            </a:bodyPr>
            <a:lstStyle/>
            <a:p>
              <a:pPr indent="457200" lvl="0" marL="457200" rtl="0" algn="l">
                <a:spcBef>
                  <a:spcPts val="0"/>
                </a:spcBef>
                <a:spcAft>
                  <a:spcPts val="0"/>
                </a:spcAft>
                <a:buNone/>
              </a:pPr>
              <a:r>
                <a:rPr lang="pl" sz="3200">
                  <a:solidFill>
                    <a:schemeClr val="lt2"/>
                  </a:solidFill>
                  <a:latin typeface="Nunito"/>
                  <a:ea typeface="Nunito"/>
                  <a:cs typeface="Nunito"/>
                  <a:sym typeface="Nunito"/>
                </a:rPr>
                <a:t>Wyciąganie korzyści ze </a:t>
              </a:r>
              <a:br>
                <a:rPr lang="pl" sz="3200">
                  <a:solidFill>
                    <a:schemeClr val="lt2"/>
                  </a:solidFill>
                  <a:latin typeface="Nunito"/>
                  <a:ea typeface="Nunito"/>
                  <a:cs typeface="Nunito"/>
                  <a:sym typeface="Nunito"/>
                </a:rPr>
              </a:br>
              <a:r>
                <a:rPr lang="pl" sz="3200">
                  <a:solidFill>
                    <a:schemeClr val="lt2"/>
                  </a:solidFill>
                  <a:latin typeface="Nunito"/>
                  <a:ea typeface="Nunito"/>
                  <a:cs typeface="Nunito"/>
                  <a:sym typeface="Nunito"/>
                </a:rPr>
                <a:t>słabości grup przeciwnika</a:t>
              </a:r>
              <a:endParaRPr sz="3200">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sp>
          <p:nvSpPr>
            <p:cNvPr id="107" name="Google Shape;107;p17"/>
            <p:cNvSpPr txBox="1"/>
            <p:nvPr/>
          </p:nvSpPr>
          <p:spPr>
            <a:xfrm>
              <a:off x="226200" y="2734500"/>
              <a:ext cx="2955300" cy="8946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1000"/>
                </a:spcAft>
                <a:buNone/>
              </a:pPr>
              <a:r>
                <a:rPr lang="pl" sz="3200">
                  <a:solidFill>
                    <a:schemeClr val="lt2"/>
                  </a:solidFill>
                  <a:latin typeface="Nunito"/>
                  <a:ea typeface="Nunito"/>
                  <a:cs typeface="Nunito"/>
                  <a:sym typeface="Nunito"/>
                </a:rPr>
                <a:t>✅ ATAK   =</a:t>
              </a:r>
              <a:endParaRPr>
                <a:solidFill>
                  <a:schemeClr val="lt2"/>
                </a:solidFill>
                <a:latin typeface="Nunito"/>
                <a:ea typeface="Nunito"/>
                <a:cs typeface="Nunito"/>
                <a:sym typeface="Nunito"/>
              </a:endParaRPr>
            </a:p>
          </p:txBody>
        </p:sp>
      </p:grpSp>
      <p:sp>
        <p:nvSpPr>
          <p:cNvPr id="108" name="Google Shape;108;p17"/>
          <p:cNvSpPr txBox="1"/>
          <p:nvPr/>
        </p:nvSpPr>
        <p:spPr>
          <a:xfrm>
            <a:off x="226200" y="1241589"/>
            <a:ext cx="8779800" cy="1153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sz="1600">
                <a:solidFill>
                  <a:schemeClr val="lt2"/>
                </a:solidFill>
                <a:latin typeface="Nunito"/>
                <a:ea typeface="Nunito"/>
                <a:cs typeface="Nunito"/>
                <a:sym typeface="Nunito"/>
              </a:rPr>
              <a:t>Prawidłowo przeprowadzony atak musi uwzględniać dwa kluczowe elementy:</a:t>
            </a:r>
            <a:endParaRPr sz="1600">
              <a:solidFill>
                <a:schemeClr val="lt2"/>
              </a:solidFill>
              <a:latin typeface="Nunito"/>
              <a:ea typeface="Nunito"/>
              <a:cs typeface="Nunito"/>
              <a:sym typeface="Nunito"/>
            </a:endParaRPr>
          </a:p>
          <a:p>
            <a:pPr indent="-330200" lvl="0" marL="457200" rtl="0" algn="just">
              <a:spcBef>
                <a:spcPts val="1000"/>
              </a:spcBef>
              <a:spcAft>
                <a:spcPts val="0"/>
              </a:spcAft>
              <a:buClr>
                <a:schemeClr val="lt2"/>
              </a:buClr>
              <a:buSzPts val="1600"/>
              <a:buFont typeface="Nunito"/>
              <a:buAutoNum type="arabicPeriod"/>
            </a:pPr>
            <a:r>
              <a:rPr lang="pl" sz="1600">
                <a:solidFill>
                  <a:schemeClr val="lt2"/>
                </a:solidFill>
                <a:latin typeface="Nunito"/>
                <a:ea typeface="Nunito"/>
                <a:cs typeface="Nunito"/>
                <a:sym typeface="Nunito"/>
              </a:rPr>
              <a:t>Identyfikacja </a:t>
            </a:r>
            <a:r>
              <a:rPr lang="pl" sz="1600">
                <a:solidFill>
                  <a:srgbClr val="00FF00"/>
                </a:solidFill>
                <a:latin typeface="Nunito"/>
                <a:ea typeface="Nunito"/>
                <a:cs typeface="Nunito"/>
                <a:sym typeface="Nunito"/>
              </a:rPr>
              <a:t>słabości</a:t>
            </a:r>
            <a:r>
              <a:rPr lang="pl" sz="1600">
                <a:solidFill>
                  <a:schemeClr val="lt2"/>
                </a:solidFill>
                <a:latin typeface="Nunito"/>
                <a:ea typeface="Nunito"/>
                <a:cs typeface="Nunito"/>
                <a:sym typeface="Nunito"/>
              </a:rPr>
              <a:t> grup przeciwnika</a:t>
            </a:r>
            <a:endParaRPr sz="1600">
              <a:solidFill>
                <a:schemeClr val="lt2"/>
              </a:solidFill>
              <a:latin typeface="Nunito"/>
              <a:ea typeface="Nunito"/>
              <a:cs typeface="Nunito"/>
              <a:sym typeface="Nunito"/>
            </a:endParaRPr>
          </a:p>
          <a:p>
            <a:pPr indent="-330200" lvl="0" marL="457200" rtl="0" algn="just">
              <a:spcBef>
                <a:spcPts val="0"/>
              </a:spcBef>
              <a:spcAft>
                <a:spcPts val="0"/>
              </a:spcAft>
              <a:buClr>
                <a:schemeClr val="lt2"/>
              </a:buClr>
              <a:buSzPts val="1600"/>
              <a:buFont typeface="Nunito"/>
              <a:buAutoNum type="arabicPeriod"/>
            </a:pPr>
            <a:r>
              <a:rPr lang="pl" sz="1600">
                <a:solidFill>
                  <a:schemeClr val="lt2"/>
                </a:solidFill>
                <a:latin typeface="Nunito"/>
                <a:ea typeface="Nunito"/>
                <a:cs typeface="Nunito"/>
                <a:sym typeface="Nunito"/>
              </a:rPr>
              <a:t>Ocena </a:t>
            </a:r>
            <a:r>
              <a:rPr lang="pl" sz="1600">
                <a:solidFill>
                  <a:srgbClr val="00FF00"/>
                </a:solidFill>
                <a:latin typeface="Nunito"/>
                <a:ea typeface="Nunito"/>
                <a:cs typeface="Nunito"/>
                <a:sym typeface="Nunito"/>
              </a:rPr>
              <a:t>korzyści</a:t>
            </a:r>
            <a:r>
              <a:rPr lang="pl" sz="1600">
                <a:solidFill>
                  <a:schemeClr val="lt2"/>
                </a:solidFill>
                <a:latin typeface="Nunito"/>
                <a:ea typeface="Nunito"/>
                <a:cs typeface="Nunito"/>
                <a:sym typeface="Nunito"/>
              </a:rPr>
              <a:t> jakie </a:t>
            </a:r>
            <a:r>
              <a:rPr lang="pl" sz="1600">
                <a:solidFill>
                  <a:schemeClr val="lt2"/>
                </a:solidFill>
                <a:latin typeface="Nunito"/>
                <a:ea typeface="Nunito"/>
                <a:cs typeface="Nunito"/>
                <a:sym typeface="Nunito"/>
              </a:rPr>
              <a:t>mogę odnieść </a:t>
            </a:r>
            <a:r>
              <a:rPr lang="pl" sz="1600">
                <a:solidFill>
                  <a:schemeClr val="lt2"/>
                </a:solidFill>
                <a:latin typeface="Nunito"/>
                <a:ea typeface="Nunito"/>
                <a:cs typeface="Nunito"/>
                <a:sym typeface="Nunito"/>
              </a:rPr>
              <a:t>z ataku</a:t>
            </a:r>
            <a:endParaRPr sz="1600">
              <a:solidFill>
                <a:schemeClr val="lt2"/>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8"/>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Rodzaje korzyści z </a:t>
            </a:r>
            <a:r>
              <a:rPr b="1" lang="pl" sz="3500">
                <a:solidFill>
                  <a:schemeClr val="dk2"/>
                </a:solidFill>
                <a:latin typeface="Nunito"/>
                <a:ea typeface="Nunito"/>
                <a:cs typeface="Nunito"/>
                <a:sym typeface="Nunito"/>
              </a:rPr>
              <a:t>ataku</a:t>
            </a:r>
            <a:endParaRPr b="1" sz="3900">
              <a:solidFill>
                <a:schemeClr val="dk2"/>
              </a:solidFill>
              <a:latin typeface="Nunito"/>
              <a:ea typeface="Nunito"/>
              <a:cs typeface="Nunito"/>
              <a:sym typeface="Nunito"/>
            </a:endParaRPr>
          </a:p>
        </p:txBody>
      </p:sp>
      <p:pic>
        <p:nvPicPr>
          <p:cNvPr id="115" name="Google Shape;115;p18"/>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16" name="Google Shape;116;p18"/>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17" name="Google Shape;117;p18"/>
          <p:cNvSpPr txBox="1"/>
          <p:nvPr/>
        </p:nvSpPr>
        <p:spPr>
          <a:xfrm>
            <a:off x="125825" y="1489452"/>
            <a:ext cx="8779800" cy="8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rPr lang="pl" sz="2400">
                <a:solidFill>
                  <a:schemeClr val="lt2"/>
                </a:solidFill>
                <a:latin typeface="Nunito"/>
                <a:ea typeface="Nunito"/>
                <a:cs typeface="Nunito"/>
                <a:sym typeface="Nunito"/>
              </a:rPr>
              <a:t>✅ </a:t>
            </a:r>
            <a:r>
              <a:rPr b="1" lang="pl" sz="2400" u="sng">
                <a:solidFill>
                  <a:schemeClr val="lt2"/>
                </a:solidFill>
                <a:latin typeface="Nunito"/>
                <a:ea typeface="Nunito"/>
                <a:cs typeface="Nunito"/>
                <a:sym typeface="Nunito"/>
              </a:rPr>
              <a:t>Terytorium</a:t>
            </a:r>
            <a:r>
              <a:rPr b="1" lang="pl" sz="2400">
                <a:solidFill>
                  <a:schemeClr val="lt2"/>
                </a:solidFill>
                <a:latin typeface="Nunito"/>
                <a:ea typeface="Nunito"/>
                <a:cs typeface="Nunito"/>
                <a:sym typeface="Nunito"/>
              </a:rPr>
              <a:t> </a:t>
            </a:r>
            <a:r>
              <a:rPr lang="pl" sz="2400">
                <a:solidFill>
                  <a:schemeClr val="lt2"/>
                </a:solidFill>
                <a:latin typeface="Nunito"/>
                <a:ea typeface="Nunito"/>
                <a:cs typeface="Nunito"/>
                <a:sym typeface="Nunito"/>
              </a:rPr>
              <a:t>- kamienie, które stawiam na planszy atakując, otaczają dla mnie nowy teren </a:t>
            </a:r>
            <a:endParaRPr sz="600">
              <a:solidFill>
                <a:schemeClr val="lt2"/>
              </a:solidFill>
              <a:latin typeface="Nunito"/>
              <a:ea typeface="Nunito"/>
              <a:cs typeface="Nunito"/>
              <a:sym typeface="Nunito"/>
            </a:endParaRPr>
          </a:p>
        </p:txBody>
      </p:sp>
      <p:sp>
        <p:nvSpPr>
          <p:cNvPr id="118" name="Google Shape;118;p18"/>
          <p:cNvSpPr txBox="1"/>
          <p:nvPr/>
        </p:nvSpPr>
        <p:spPr>
          <a:xfrm>
            <a:off x="128450" y="2645813"/>
            <a:ext cx="8779800" cy="8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2400">
                <a:solidFill>
                  <a:schemeClr val="lt2"/>
                </a:solidFill>
                <a:latin typeface="Nunito"/>
                <a:ea typeface="Nunito"/>
                <a:cs typeface="Nunito"/>
                <a:sym typeface="Nunito"/>
              </a:rPr>
              <a:t>✅ </a:t>
            </a:r>
            <a:r>
              <a:rPr b="1" lang="pl" sz="2400" u="sng">
                <a:solidFill>
                  <a:schemeClr val="lt2"/>
                </a:solidFill>
                <a:latin typeface="Nunito"/>
                <a:ea typeface="Nunito"/>
                <a:cs typeface="Nunito"/>
                <a:sym typeface="Nunito"/>
              </a:rPr>
              <a:t>Wzmocnienie</a:t>
            </a:r>
            <a:r>
              <a:rPr b="1" lang="pl" sz="2400">
                <a:solidFill>
                  <a:schemeClr val="lt2"/>
                </a:solidFill>
                <a:latin typeface="Nunito"/>
                <a:ea typeface="Nunito"/>
                <a:cs typeface="Nunito"/>
                <a:sym typeface="Nunito"/>
              </a:rPr>
              <a:t> </a:t>
            </a:r>
            <a:r>
              <a:rPr lang="pl" sz="2400">
                <a:solidFill>
                  <a:schemeClr val="lt2"/>
                </a:solidFill>
                <a:latin typeface="Nunito"/>
                <a:ea typeface="Nunito"/>
                <a:cs typeface="Nunito"/>
                <a:sym typeface="Nunito"/>
              </a:rPr>
              <a:t>- </a:t>
            </a:r>
            <a:r>
              <a:rPr lang="pl" sz="2400">
                <a:solidFill>
                  <a:schemeClr val="lt2"/>
                </a:solidFill>
                <a:latin typeface="Nunito"/>
                <a:ea typeface="Nunito"/>
                <a:cs typeface="Nunito"/>
                <a:sym typeface="Nunito"/>
              </a:rPr>
              <a:t>atakuję od strony mojej słabej grupy, aby ją wzmocnić (czasem atak jest także aktywną formą obrony)</a:t>
            </a:r>
            <a:endParaRPr sz="2400">
              <a:solidFill>
                <a:schemeClr val="lt2"/>
              </a:solidFill>
              <a:latin typeface="Nunito"/>
              <a:ea typeface="Nunito"/>
              <a:cs typeface="Nunito"/>
              <a:sym typeface="Nunito"/>
            </a:endParaRPr>
          </a:p>
          <a:p>
            <a:pPr indent="0" lvl="0" marL="0" rtl="0" algn="l">
              <a:spcBef>
                <a:spcPts val="1000"/>
              </a:spcBef>
              <a:spcAft>
                <a:spcPts val="1000"/>
              </a:spcAft>
              <a:buNone/>
            </a:pPr>
            <a:r>
              <a:t/>
            </a:r>
            <a:endParaRPr sz="2400">
              <a:solidFill>
                <a:schemeClr val="lt2"/>
              </a:solidFill>
              <a:latin typeface="Nunito"/>
              <a:ea typeface="Nunito"/>
              <a:cs typeface="Nunito"/>
              <a:sym typeface="Nunito"/>
            </a:endParaRPr>
          </a:p>
        </p:txBody>
      </p:sp>
      <p:sp>
        <p:nvSpPr>
          <p:cNvPr id="119" name="Google Shape;119;p18"/>
          <p:cNvSpPr txBox="1"/>
          <p:nvPr/>
        </p:nvSpPr>
        <p:spPr>
          <a:xfrm>
            <a:off x="133569" y="3740558"/>
            <a:ext cx="8779800" cy="8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2400">
                <a:solidFill>
                  <a:schemeClr val="lt2"/>
                </a:solidFill>
                <a:latin typeface="Nunito"/>
                <a:ea typeface="Nunito"/>
                <a:cs typeface="Nunito"/>
                <a:sym typeface="Nunito"/>
              </a:rPr>
              <a:t>✅ </a:t>
            </a:r>
            <a:r>
              <a:rPr b="1" lang="pl" sz="2400" u="sng">
                <a:solidFill>
                  <a:schemeClr val="lt2"/>
                </a:solidFill>
                <a:latin typeface="Nunito"/>
                <a:ea typeface="Nunito"/>
                <a:cs typeface="Nunito"/>
                <a:sym typeface="Nunito"/>
              </a:rPr>
              <a:t>Wpływy</a:t>
            </a:r>
            <a:r>
              <a:rPr b="1" lang="pl" sz="2400">
                <a:solidFill>
                  <a:schemeClr val="lt2"/>
                </a:solidFill>
                <a:latin typeface="Nunito"/>
                <a:ea typeface="Nunito"/>
                <a:cs typeface="Nunito"/>
                <a:sym typeface="Nunito"/>
              </a:rPr>
              <a:t> </a:t>
            </a:r>
            <a:r>
              <a:rPr lang="pl" sz="2400">
                <a:solidFill>
                  <a:schemeClr val="lt2"/>
                </a:solidFill>
                <a:latin typeface="Nunito"/>
                <a:ea typeface="Nunito"/>
                <a:cs typeface="Nunito"/>
                <a:sym typeface="Nunito"/>
              </a:rPr>
              <a:t>- </a:t>
            </a:r>
            <a:r>
              <a:rPr lang="pl" sz="2400">
                <a:solidFill>
                  <a:schemeClr val="lt2"/>
                </a:solidFill>
                <a:latin typeface="Nunito"/>
                <a:ea typeface="Nunito"/>
                <a:cs typeface="Nunito"/>
                <a:sym typeface="Nunito"/>
              </a:rPr>
              <a:t>atak na grupę przeciwnika pozwala zbudować mi strefę wpływów (transfer siły)</a:t>
            </a:r>
            <a:endParaRPr sz="2400">
              <a:solidFill>
                <a:schemeClr val="lt2"/>
              </a:solidFill>
              <a:latin typeface="Nunito"/>
              <a:ea typeface="Nunito"/>
              <a:cs typeface="Nunito"/>
              <a:sym typeface="Nunito"/>
            </a:endParaRPr>
          </a:p>
          <a:p>
            <a:pPr indent="0" lvl="0" marL="0" rtl="0" algn="l">
              <a:spcBef>
                <a:spcPts val="1000"/>
              </a:spcBef>
              <a:spcAft>
                <a:spcPts val="0"/>
              </a:spcAft>
              <a:buNone/>
            </a:pPr>
            <a:r>
              <a:t/>
            </a:r>
            <a:endParaRPr sz="2400">
              <a:solidFill>
                <a:schemeClr val="lt2"/>
              </a:solidFill>
              <a:latin typeface="Nunito"/>
              <a:ea typeface="Nunito"/>
              <a:cs typeface="Nunito"/>
              <a:sym typeface="Nunito"/>
            </a:endParaRPr>
          </a:p>
          <a:p>
            <a:pPr indent="0" lvl="0" marL="0" rtl="0" algn="l">
              <a:spcBef>
                <a:spcPts val="1000"/>
              </a:spcBef>
              <a:spcAft>
                <a:spcPts val="1000"/>
              </a:spcAft>
              <a:buNone/>
            </a:pPr>
            <a:r>
              <a:t/>
            </a:r>
            <a:endParaRPr sz="2400">
              <a:solidFill>
                <a:schemeClr val="lt2"/>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 name="Google Shape;125;p19"/>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Atak dla zyskania terytorium</a:t>
            </a:r>
            <a:endParaRPr b="1" sz="3900">
              <a:solidFill>
                <a:schemeClr val="dk2"/>
              </a:solidFill>
              <a:latin typeface="Nunito"/>
              <a:ea typeface="Nunito"/>
              <a:cs typeface="Nunito"/>
              <a:sym typeface="Nunito"/>
            </a:endParaRPr>
          </a:p>
        </p:txBody>
      </p:sp>
      <p:pic>
        <p:nvPicPr>
          <p:cNvPr id="126" name="Google Shape;126;p19"/>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27" name="Google Shape;127;p19"/>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128" name="Google Shape;128;p19"/>
          <p:cNvPicPr preferRelativeResize="0"/>
          <p:nvPr/>
        </p:nvPicPr>
        <p:blipFill>
          <a:blip r:embed="rId4">
            <a:alphaModFix/>
          </a:blip>
          <a:stretch>
            <a:fillRect/>
          </a:stretch>
        </p:blipFill>
        <p:spPr>
          <a:xfrm>
            <a:off x="5326518" y="1141475"/>
            <a:ext cx="3665807" cy="3654050"/>
          </a:xfrm>
          <a:prstGeom prst="rect">
            <a:avLst/>
          </a:prstGeom>
          <a:noFill/>
          <a:ln cap="flat" cmpd="sng" w="38100">
            <a:solidFill>
              <a:schemeClr val="lt2"/>
            </a:solidFill>
            <a:prstDash val="solid"/>
            <a:round/>
            <a:headEnd len="sm" w="sm" type="none"/>
            <a:tailEnd len="sm" w="sm" type="none"/>
          </a:ln>
        </p:spPr>
      </p:pic>
      <p:sp>
        <p:nvSpPr>
          <p:cNvPr id="129" name="Google Shape;129;p19"/>
          <p:cNvSpPr txBox="1"/>
          <p:nvPr/>
        </p:nvSpPr>
        <p:spPr>
          <a:xfrm>
            <a:off x="135575" y="1094308"/>
            <a:ext cx="5055000" cy="400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sz="1900">
                <a:solidFill>
                  <a:schemeClr val="lt2"/>
                </a:solidFill>
                <a:latin typeface="Nunito"/>
                <a:ea typeface="Nunito"/>
                <a:cs typeface="Nunito"/>
                <a:sym typeface="Nunito"/>
              </a:rPr>
              <a:t>Ruch białego</a:t>
            </a:r>
            <a:endParaRPr sz="1900">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Na diagramie obok gracz grający białymi zidentyfikował słabą grupę czarnych na dole planszy. Jak </a:t>
            </a:r>
            <a:r>
              <a:rPr lang="pl">
                <a:solidFill>
                  <a:schemeClr val="lt2"/>
                </a:solidFill>
                <a:latin typeface="Nunito"/>
                <a:ea typeface="Nunito"/>
                <a:cs typeface="Nunito"/>
                <a:sym typeface="Nunito"/>
              </a:rPr>
              <a:t>powinien</a:t>
            </a:r>
            <a:r>
              <a:rPr lang="pl">
                <a:solidFill>
                  <a:schemeClr val="lt2"/>
                </a:solidFill>
                <a:latin typeface="Nunito"/>
                <a:ea typeface="Nunito"/>
                <a:cs typeface="Nunito"/>
                <a:sym typeface="Nunito"/>
              </a:rPr>
              <a:t> zaatakować, aby zyskać nowe terytorium?</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Jeśli białe zaczną atak od ruchu w ‘B’, to na pewno zabiorą miejsce na zbudowanie dwojga oczu lokalnie. Czarny będzie uciekać. Zabicie grupy będzie raczej niemożliwe, a uciekająca czarna grupa zniszczy potencjał białego w górnej części planszy.</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Atak ruchem w ‘A’ to przykład zmuszenia przeciwnika do przeżycia. Biały domyka swoje moyo (strefę wpływów) u góry, dzięki czemu większa część tego obszaru stanie się terytorium białego - korzyść z ataku.</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To klasyczny przykład na to jak uzyskać realny zysk ze słabości przeciwnika, nie ryzykując przy tym strat własnych.</a:t>
            </a:r>
            <a:endParaRPr>
              <a:solidFill>
                <a:schemeClr val="lt2"/>
              </a:solidFill>
              <a:latin typeface="Nunito"/>
              <a:ea typeface="Nunito"/>
              <a:cs typeface="Nunito"/>
              <a:sym typeface="Nunito"/>
            </a:endParaRPr>
          </a:p>
        </p:txBody>
      </p:sp>
      <p:sp>
        <p:nvSpPr>
          <p:cNvPr id="130" name="Google Shape;130;p19"/>
          <p:cNvSpPr txBox="1"/>
          <p:nvPr/>
        </p:nvSpPr>
        <p:spPr>
          <a:xfrm>
            <a:off x="5338375" y="4864800"/>
            <a:ext cx="3665700" cy="233100"/>
          </a:xfrm>
          <a:prstGeom prst="rect">
            <a:avLst/>
          </a:prstGeom>
          <a:noFill/>
          <a:ln>
            <a:noFill/>
          </a:ln>
        </p:spPr>
        <p:txBody>
          <a:bodyPr anchorCtr="0" anchor="t" bIns="54000" lIns="91425" spcFirstLastPara="1" rIns="91425" wrap="square" tIns="18000">
            <a:noAutofit/>
          </a:bodyPr>
          <a:lstStyle/>
          <a:p>
            <a:pPr indent="0" lvl="0" marL="0" rtl="0" algn="ctr">
              <a:spcBef>
                <a:spcPts val="0"/>
              </a:spcBef>
              <a:spcAft>
                <a:spcPts val="1000"/>
              </a:spcAft>
              <a:buClr>
                <a:schemeClr val="dk1"/>
              </a:buClr>
              <a:buSzPts val="1100"/>
              <a:buFont typeface="Arial"/>
              <a:buNone/>
            </a:pPr>
            <a:r>
              <a:rPr lang="pl" sz="1200">
                <a:solidFill>
                  <a:schemeClr val="lt2"/>
                </a:solidFill>
                <a:latin typeface="Nunito"/>
                <a:ea typeface="Nunito"/>
                <a:cs typeface="Nunito"/>
                <a:sym typeface="Nunito"/>
              </a:rPr>
              <a:t>Ishida Akira - Attack and Defense, p.23</a:t>
            </a:r>
            <a:endParaRPr sz="16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20"/>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Atak dla zyskania siły</a:t>
            </a:r>
            <a:endParaRPr b="1" sz="3900">
              <a:solidFill>
                <a:schemeClr val="dk2"/>
              </a:solidFill>
              <a:latin typeface="Nunito"/>
              <a:ea typeface="Nunito"/>
              <a:cs typeface="Nunito"/>
              <a:sym typeface="Nunito"/>
            </a:endParaRPr>
          </a:p>
        </p:txBody>
      </p:sp>
      <p:pic>
        <p:nvPicPr>
          <p:cNvPr id="137" name="Google Shape;137;p20"/>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38" name="Google Shape;138;p20"/>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39" name="Google Shape;139;p20"/>
          <p:cNvSpPr txBox="1"/>
          <p:nvPr/>
        </p:nvSpPr>
        <p:spPr>
          <a:xfrm>
            <a:off x="135575" y="1094300"/>
            <a:ext cx="5202900" cy="400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sz="1900">
                <a:solidFill>
                  <a:schemeClr val="lt2"/>
                </a:solidFill>
                <a:latin typeface="Nunito"/>
                <a:ea typeface="Nunito"/>
                <a:cs typeface="Nunito"/>
                <a:sym typeface="Nunito"/>
              </a:rPr>
              <a:t>Ruch czarnego</a:t>
            </a:r>
            <a:endParaRPr sz="1900">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W środku planszy widać bardzo słabą grupę białych.</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Jaki kierunek ataku jest optymalny?</a:t>
            </a:r>
            <a:br>
              <a:rPr lang="pl">
                <a:solidFill>
                  <a:schemeClr val="lt2"/>
                </a:solidFill>
                <a:latin typeface="Nunito"/>
                <a:ea typeface="Nunito"/>
                <a:cs typeface="Nunito"/>
                <a:sym typeface="Nunito"/>
              </a:rPr>
            </a:br>
            <a:r>
              <a:rPr lang="pl">
                <a:solidFill>
                  <a:schemeClr val="lt2"/>
                </a:solidFill>
                <a:latin typeface="Nunito"/>
                <a:ea typeface="Nunito"/>
                <a:cs typeface="Nunito"/>
                <a:sym typeface="Nunito"/>
              </a:rPr>
              <a:t>Co może zyskać czarny na ataku?</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Białe mają spory potencjał terytorialny na lewej bandzie.</a:t>
            </a:r>
            <a:br>
              <a:rPr lang="pl">
                <a:solidFill>
                  <a:schemeClr val="lt2"/>
                </a:solidFill>
                <a:latin typeface="Nunito"/>
                <a:ea typeface="Nunito"/>
                <a:cs typeface="Nunito"/>
                <a:sym typeface="Nunito"/>
              </a:rPr>
            </a:br>
            <a:r>
              <a:rPr lang="pl">
                <a:solidFill>
                  <a:schemeClr val="lt2"/>
                </a:solidFill>
                <a:latin typeface="Nunito"/>
                <a:ea typeface="Nunito"/>
                <a:cs typeface="Nunito"/>
                <a:sym typeface="Nunito"/>
              </a:rPr>
              <a:t>Czarne bardzo chętnie zagrałyby tam inwazję, ale taka inwazja bez przygotowania </a:t>
            </a:r>
            <a:r>
              <a:rPr lang="pl">
                <a:solidFill>
                  <a:schemeClr val="lt2"/>
                </a:solidFill>
                <a:latin typeface="Nunito"/>
                <a:ea typeface="Nunito"/>
                <a:cs typeface="Nunito"/>
                <a:sym typeface="Nunito"/>
              </a:rPr>
              <a:t>zakończyłaby</a:t>
            </a:r>
            <a:r>
              <a:rPr lang="pl">
                <a:solidFill>
                  <a:schemeClr val="lt2"/>
                </a:solidFill>
                <a:latin typeface="Nunito"/>
                <a:ea typeface="Nunito"/>
                <a:cs typeface="Nunito"/>
                <a:sym typeface="Nunito"/>
              </a:rPr>
              <a:t> się ostrym atakiem białych i czarne mogłyby w efekcie więcej stracić niż zyskać na takiej </a:t>
            </a:r>
            <a:r>
              <a:rPr lang="pl">
                <a:solidFill>
                  <a:schemeClr val="lt2"/>
                </a:solidFill>
                <a:latin typeface="Nunito"/>
                <a:ea typeface="Nunito"/>
                <a:cs typeface="Nunito"/>
                <a:sym typeface="Nunito"/>
              </a:rPr>
              <a:t>inwazji</a:t>
            </a:r>
            <a:r>
              <a:rPr lang="pl">
                <a:solidFill>
                  <a:schemeClr val="lt2"/>
                </a:solidFill>
                <a:latin typeface="Nunito"/>
                <a:ea typeface="Nunito"/>
                <a:cs typeface="Nunito"/>
                <a:sym typeface="Nunito"/>
              </a:rPr>
              <a:t>.</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Dlatego czarny powinien zaatakować ruchem w ‘B’, aby zyskać siłę od strony lewej bandy, gdzie planuje dokonać inwazji i gdzie przewiduje walkę z białym. </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Ruch w ‘A’ wydaje się dosyć naturalny, ale jest on zbyt “delikatny”, pozwala białym łatwo uciec i nie widać wyraźnych korzyści takiego ataku.</a:t>
            </a:r>
            <a:endParaRPr>
              <a:solidFill>
                <a:schemeClr val="lt2"/>
              </a:solidFill>
              <a:latin typeface="Nunito"/>
              <a:ea typeface="Nunito"/>
              <a:cs typeface="Nunito"/>
              <a:sym typeface="Nunito"/>
            </a:endParaRPr>
          </a:p>
        </p:txBody>
      </p:sp>
      <p:sp>
        <p:nvSpPr>
          <p:cNvPr id="140" name="Google Shape;140;p20"/>
          <p:cNvSpPr txBox="1"/>
          <p:nvPr/>
        </p:nvSpPr>
        <p:spPr>
          <a:xfrm>
            <a:off x="5338375" y="4864800"/>
            <a:ext cx="3665700" cy="233100"/>
          </a:xfrm>
          <a:prstGeom prst="rect">
            <a:avLst/>
          </a:prstGeom>
          <a:noFill/>
          <a:ln>
            <a:noFill/>
          </a:ln>
        </p:spPr>
        <p:txBody>
          <a:bodyPr anchorCtr="0" anchor="t" bIns="54000" lIns="91425" spcFirstLastPara="1" rIns="91425" wrap="square" tIns="18000">
            <a:noAutofit/>
          </a:bodyPr>
          <a:lstStyle/>
          <a:p>
            <a:pPr indent="0" lvl="0" marL="0" rtl="0" algn="ctr">
              <a:spcBef>
                <a:spcPts val="0"/>
              </a:spcBef>
              <a:spcAft>
                <a:spcPts val="1000"/>
              </a:spcAft>
              <a:buNone/>
            </a:pPr>
            <a:r>
              <a:rPr lang="pl" sz="1200">
                <a:solidFill>
                  <a:schemeClr val="lt2"/>
                </a:solidFill>
                <a:latin typeface="Nunito"/>
                <a:ea typeface="Nunito"/>
                <a:cs typeface="Nunito"/>
                <a:sym typeface="Nunito"/>
              </a:rPr>
              <a:t>Ishida Akira - Attack and Defense, p.27</a:t>
            </a:r>
            <a:endParaRPr sz="1600">
              <a:solidFill>
                <a:schemeClr val="dk2"/>
              </a:solidFill>
            </a:endParaRPr>
          </a:p>
        </p:txBody>
      </p:sp>
      <p:pic>
        <p:nvPicPr>
          <p:cNvPr id="141" name="Google Shape;141;p20"/>
          <p:cNvPicPr preferRelativeResize="0"/>
          <p:nvPr/>
        </p:nvPicPr>
        <p:blipFill>
          <a:blip r:embed="rId4">
            <a:alphaModFix/>
          </a:blip>
          <a:stretch>
            <a:fillRect/>
          </a:stretch>
        </p:blipFill>
        <p:spPr>
          <a:xfrm>
            <a:off x="5464127" y="1192029"/>
            <a:ext cx="3546445" cy="3554050"/>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1"/>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Zasady dobrego ataku</a:t>
            </a:r>
            <a:endParaRPr b="1" sz="3900">
              <a:solidFill>
                <a:schemeClr val="dk2"/>
              </a:solidFill>
              <a:latin typeface="Nunito"/>
              <a:ea typeface="Nunito"/>
              <a:cs typeface="Nunito"/>
              <a:sym typeface="Nunito"/>
            </a:endParaRPr>
          </a:p>
        </p:txBody>
      </p:sp>
      <p:pic>
        <p:nvPicPr>
          <p:cNvPr id="148" name="Google Shape;148;p21"/>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49" name="Google Shape;149;p21"/>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50" name="Google Shape;150;p21"/>
          <p:cNvSpPr txBox="1"/>
          <p:nvPr/>
        </p:nvSpPr>
        <p:spPr>
          <a:xfrm>
            <a:off x="226200" y="1500000"/>
            <a:ext cx="8779800" cy="3353700"/>
          </a:xfrm>
          <a:prstGeom prst="rect">
            <a:avLst/>
          </a:prstGeom>
          <a:noFill/>
          <a:ln>
            <a:noFill/>
          </a:ln>
        </p:spPr>
        <p:txBody>
          <a:bodyPr anchorCtr="0" anchor="t" bIns="91425" lIns="91425" spcFirstLastPara="1" rIns="91425" wrap="square" tIns="91425">
            <a:noAutofit/>
          </a:bodyPr>
          <a:lstStyle/>
          <a:p>
            <a:pPr indent="-317500" lvl="0" marL="457200" rtl="0" algn="just">
              <a:lnSpc>
                <a:spcPct val="150000"/>
              </a:lnSpc>
              <a:spcBef>
                <a:spcPts val="0"/>
              </a:spcBef>
              <a:spcAft>
                <a:spcPts val="0"/>
              </a:spcAft>
              <a:buClr>
                <a:schemeClr val="lt2"/>
              </a:buClr>
              <a:buSzPts val="1400"/>
              <a:buFont typeface="Nunito"/>
              <a:buAutoNum type="arabicPeriod"/>
            </a:pPr>
            <a:r>
              <a:rPr b="1" lang="pl">
                <a:solidFill>
                  <a:schemeClr val="lt2"/>
                </a:solidFill>
                <a:latin typeface="Nunito"/>
                <a:ea typeface="Nunito"/>
                <a:cs typeface="Nunito"/>
                <a:sym typeface="Nunito"/>
              </a:rPr>
              <a:t>Nie zabijaj! - </a:t>
            </a:r>
            <a:r>
              <a:rPr lang="pl">
                <a:solidFill>
                  <a:schemeClr val="lt2"/>
                </a:solidFill>
                <a:latin typeface="Nunito"/>
                <a:ea typeface="Nunito"/>
                <a:cs typeface="Nunito"/>
                <a:sym typeface="Nunito"/>
              </a:rPr>
              <a:t>Cały czas pamiętaj o korzyściach z ataku, odpędzaj do siebie myśli o zabijaniu</a:t>
            </a:r>
            <a:endParaRPr>
              <a:solidFill>
                <a:schemeClr val="lt2"/>
              </a:solidFill>
              <a:latin typeface="Nunito"/>
              <a:ea typeface="Nunito"/>
              <a:cs typeface="Nunito"/>
              <a:sym typeface="Nunito"/>
            </a:endParaRPr>
          </a:p>
          <a:p>
            <a:pPr indent="-317500" lvl="0" marL="457200" rtl="0" algn="just">
              <a:lnSpc>
                <a:spcPct val="150000"/>
              </a:lnSpc>
              <a:spcBef>
                <a:spcPts val="0"/>
              </a:spcBef>
              <a:spcAft>
                <a:spcPts val="0"/>
              </a:spcAft>
              <a:buClr>
                <a:schemeClr val="lt2"/>
              </a:buClr>
              <a:buSzPts val="1400"/>
              <a:buFont typeface="Nunito"/>
              <a:buAutoNum type="arabicPeriod"/>
            </a:pPr>
            <a:r>
              <a:rPr b="1" lang="pl">
                <a:solidFill>
                  <a:schemeClr val="lt2"/>
                </a:solidFill>
                <a:latin typeface="Nunito"/>
                <a:ea typeface="Nunito"/>
                <a:cs typeface="Nunito"/>
                <a:sym typeface="Nunito"/>
              </a:rPr>
              <a:t>Zachowaj ostrożność </a:t>
            </a:r>
            <a:r>
              <a:rPr lang="pl">
                <a:solidFill>
                  <a:schemeClr val="lt2"/>
                </a:solidFill>
                <a:latin typeface="Nunito"/>
                <a:ea typeface="Nunito"/>
                <a:cs typeface="Nunito"/>
                <a:sym typeface="Nunito"/>
              </a:rPr>
              <a:t>- w pierwszej kolejności zadbaj o swoje bezpieczeństwo</a:t>
            </a:r>
            <a:endParaRPr>
              <a:solidFill>
                <a:schemeClr val="lt2"/>
              </a:solidFill>
              <a:latin typeface="Nunito"/>
              <a:ea typeface="Nunito"/>
              <a:cs typeface="Nunito"/>
              <a:sym typeface="Nunito"/>
            </a:endParaRPr>
          </a:p>
          <a:p>
            <a:pPr indent="-317500" lvl="0" marL="457200" rtl="0" algn="just">
              <a:lnSpc>
                <a:spcPct val="150000"/>
              </a:lnSpc>
              <a:spcBef>
                <a:spcPts val="0"/>
              </a:spcBef>
              <a:spcAft>
                <a:spcPts val="0"/>
              </a:spcAft>
              <a:buClr>
                <a:schemeClr val="lt2"/>
              </a:buClr>
              <a:buSzPts val="1400"/>
              <a:buFont typeface="Nunito"/>
              <a:buAutoNum type="arabicPeriod"/>
            </a:pPr>
            <a:r>
              <a:rPr b="1" lang="pl">
                <a:solidFill>
                  <a:schemeClr val="lt2"/>
                </a:solidFill>
                <a:latin typeface="Nunito"/>
                <a:ea typeface="Nunito"/>
                <a:cs typeface="Nunito"/>
                <a:sym typeface="Nunito"/>
              </a:rPr>
              <a:t>Nie atakuj kosztem własnych słabości </a:t>
            </a:r>
            <a:r>
              <a:rPr lang="pl">
                <a:solidFill>
                  <a:schemeClr val="lt2"/>
                </a:solidFill>
                <a:latin typeface="Nunito"/>
                <a:ea typeface="Nunito"/>
                <a:cs typeface="Nunito"/>
                <a:sym typeface="Nunito"/>
              </a:rPr>
              <a:t>- lepiej zaprzestać atakowania niż osłabić własne grupy </a:t>
            </a:r>
            <a:endParaRPr>
              <a:solidFill>
                <a:schemeClr val="lt2"/>
              </a:solidFill>
              <a:latin typeface="Nunito"/>
              <a:ea typeface="Nunito"/>
              <a:cs typeface="Nunito"/>
              <a:sym typeface="Nunito"/>
            </a:endParaRPr>
          </a:p>
          <a:p>
            <a:pPr indent="-317500" lvl="0" marL="457200" rtl="0" algn="just">
              <a:lnSpc>
                <a:spcPct val="150000"/>
              </a:lnSpc>
              <a:spcBef>
                <a:spcPts val="0"/>
              </a:spcBef>
              <a:spcAft>
                <a:spcPts val="0"/>
              </a:spcAft>
              <a:buClr>
                <a:schemeClr val="lt2"/>
              </a:buClr>
              <a:buSzPts val="1400"/>
              <a:buFont typeface="Nunito"/>
              <a:buAutoNum type="arabicPeriod"/>
            </a:pPr>
            <a:r>
              <a:rPr b="1" lang="pl">
                <a:solidFill>
                  <a:schemeClr val="lt2"/>
                </a:solidFill>
                <a:latin typeface="Nunito"/>
                <a:ea typeface="Nunito"/>
                <a:cs typeface="Nunito"/>
                <a:sym typeface="Nunito"/>
              </a:rPr>
              <a:t>Bądź cierpliwy </a:t>
            </a:r>
            <a:r>
              <a:rPr lang="pl">
                <a:solidFill>
                  <a:schemeClr val="lt2"/>
                </a:solidFill>
                <a:latin typeface="Nunito"/>
                <a:ea typeface="Nunito"/>
                <a:cs typeface="Nunito"/>
                <a:sym typeface="Nunito"/>
              </a:rPr>
              <a:t>- atakuj jeśli widzisz, że przeciwnik się nie broni, zaniechaj, gdy przeciwnik się wzmocni</a:t>
            </a:r>
            <a:endParaRPr>
              <a:solidFill>
                <a:schemeClr val="lt2"/>
              </a:solidFill>
              <a:latin typeface="Nunito"/>
              <a:ea typeface="Nunito"/>
              <a:cs typeface="Nunito"/>
              <a:sym typeface="Nunito"/>
            </a:endParaRPr>
          </a:p>
          <a:p>
            <a:pPr indent="-317500" lvl="0" marL="457200" rtl="0" algn="just">
              <a:lnSpc>
                <a:spcPct val="150000"/>
              </a:lnSpc>
              <a:spcBef>
                <a:spcPts val="0"/>
              </a:spcBef>
              <a:spcAft>
                <a:spcPts val="0"/>
              </a:spcAft>
              <a:buClr>
                <a:schemeClr val="lt2"/>
              </a:buClr>
              <a:buSzPts val="1400"/>
              <a:buFont typeface="Nunito"/>
              <a:buAutoNum type="arabicPeriod"/>
            </a:pPr>
            <a:r>
              <a:rPr b="1" lang="pl">
                <a:solidFill>
                  <a:schemeClr val="lt2"/>
                </a:solidFill>
                <a:latin typeface="Nunito"/>
                <a:ea typeface="Nunito"/>
                <a:cs typeface="Nunito"/>
                <a:sym typeface="Nunito"/>
              </a:rPr>
              <a:t>Rozdzielaj </a:t>
            </a:r>
            <a:r>
              <a:rPr lang="pl">
                <a:solidFill>
                  <a:schemeClr val="lt2"/>
                </a:solidFill>
                <a:latin typeface="Nunito"/>
                <a:ea typeface="Nunito"/>
                <a:cs typeface="Nunito"/>
                <a:sym typeface="Nunito"/>
              </a:rPr>
              <a:t>- atakowanie kilku słabych grup przeciwnika jednocześnie to gwarancja sukcesu</a:t>
            </a:r>
            <a:endParaRPr>
              <a:solidFill>
                <a:schemeClr val="lt2"/>
              </a:solidFill>
              <a:latin typeface="Nunito"/>
              <a:ea typeface="Nunito"/>
              <a:cs typeface="Nunito"/>
              <a:sym typeface="Nunito"/>
            </a:endParaRPr>
          </a:p>
          <a:p>
            <a:pPr indent="-317500" lvl="0" marL="457200" rtl="0" algn="just">
              <a:lnSpc>
                <a:spcPct val="150000"/>
              </a:lnSpc>
              <a:spcBef>
                <a:spcPts val="0"/>
              </a:spcBef>
              <a:spcAft>
                <a:spcPts val="0"/>
              </a:spcAft>
              <a:buClr>
                <a:schemeClr val="lt2"/>
              </a:buClr>
              <a:buSzPts val="1400"/>
              <a:buFont typeface="Nunito"/>
              <a:buAutoNum type="arabicPeriod"/>
            </a:pPr>
            <a:r>
              <a:rPr b="1" lang="pl">
                <a:solidFill>
                  <a:schemeClr val="lt2"/>
                </a:solidFill>
                <a:latin typeface="Nunito"/>
                <a:ea typeface="Nunito"/>
                <a:cs typeface="Nunito"/>
                <a:sym typeface="Nunito"/>
              </a:rPr>
              <a:t>Przygotuj się</a:t>
            </a:r>
            <a:r>
              <a:rPr lang="pl">
                <a:solidFill>
                  <a:schemeClr val="lt2"/>
                </a:solidFill>
                <a:latin typeface="Nunito"/>
                <a:ea typeface="Nunito"/>
                <a:cs typeface="Nunito"/>
                <a:sym typeface="Nunito"/>
              </a:rPr>
              <a:t> - nigdy nie atakuj słabą grupą; wzmocnij się przed rozpoczęciem ataku</a:t>
            </a:r>
            <a:endParaRPr>
              <a:solidFill>
                <a:schemeClr val="lt2"/>
              </a:solidFill>
              <a:latin typeface="Nunito"/>
              <a:ea typeface="Nunito"/>
              <a:cs typeface="Nunito"/>
              <a:sym typeface="Nunito"/>
            </a:endParaRPr>
          </a:p>
          <a:p>
            <a:pPr indent="-317500" lvl="0" marL="457200" rtl="0" algn="just">
              <a:lnSpc>
                <a:spcPct val="150000"/>
              </a:lnSpc>
              <a:spcBef>
                <a:spcPts val="0"/>
              </a:spcBef>
              <a:spcAft>
                <a:spcPts val="0"/>
              </a:spcAft>
              <a:buClr>
                <a:schemeClr val="lt2"/>
              </a:buClr>
              <a:buSzPts val="1400"/>
              <a:buFont typeface="Nunito"/>
              <a:buAutoNum type="arabicPeriod"/>
            </a:pPr>
            <a:r>
              <a:rPr b="1" lang="pl">
                <a:solidFill>
                  <a:schemeClr val="lt2"/>
                </a:solidFill>
                <a:latin typeface="Nunito"/>
                <a:ea typeface="Nunito"/>
                <a:cs typeface="Nunito"/>
                <a:sym typeface="Nunito"/>
              </a:rPr>
              <a:t>Silny może więcej</a:t>
            </a:r>
            <a:r>
              <a:rPr lang="pl">
                <a:solidFill>
                  <a:schemeClr val="lt2"/>
                </a:solidFill>
                <a:latin typeface="Nunito"/>
                <a:ea typeface="Nunito"/>
                <a:cs typeface="Nunito"/>
                <a:sym typeface="Nunito"/>
              </a:rPr>
              <a:t> - jeśli jesteś bardzo silny, możesz sobie pozwolić na więcej agresji</a:t>
            </a:r>
            <a:endParaRPr>
              <a:solidFill>
                <a:schemeClr val="lt2"/>
              </a:solidFill>
              <a:latin typeface="Nunito"/>
              <a:ea typeface="Nunito"/>
              <a:cs typeface="Nunito"/>
              <a:sym typeface="Nunito"/>
            </a:endParaRPr>
          </a:p>
          <a:p>
            <a:pPr indent="-317500" lvl="0" marL="457200" rtl="0" algn="just">
              <a:lnSpc>
                <a:spcPct val="150000"/>
              </a:lnSpc>
              <a:spcBef>
                <a:spcPts val="0"/>
              </a:spcBef>
              <a:spcAft>
                <a:spcPts val="0"/>
              </a:spcAft>
              <a:buClr>
                <a:schemeClr val="lt2"/>
              </a:buClr>
              <a:buSzPts val="1400"/>
              <a:buFont typeface="Nunito"/>
              <a:buAutoNum type="arabicPeriod"/>
            </a:pPr>
            <a:r>
              <a:rPr b="1" lang="pl">
                <a:solidFill>
                  <a:schemeClr val="lt2"/>
                </a:solidFill>
                <a:latin typeface="Nunito"/>
                <a:ea typeface="Nunito"/>
                <a:cs typeface="Nunito"/>
                <a:sym typeface="Nunito"/>
              </a:rPr>
              <a:t>Przemyśl kierunek ataku</a:t>
            </a:r>
            <a:r>
              <a:rPr lang="pl">
                <a:solidFill>
                  <a:schemeClr val="lt2"/>
                </a:solidFill>
                <a:latin typeface="Nunito"/>
                <a:ea typeface="Nunito"/>
                <a:cs typeface="Nunito"/>
                <a:sym typeface="Nunito"/>
              </a:rPr>
              <a:t> - upewnij się, że uciekająca grupa przeciwnika nie uderzy w Twój słaby punkt; zawsze atakuj od strony swojej słabszej grupy tak, aby </a:t>
            </a:r>
            <a:r>
              <a:rPr lang="pl">
                <a:solidFill>
                  <a:schemeClr val="lt2"/>
                </a:solidFill>
                <a:latin typeface="Nunito"/>
                <a:ea typeface="Nunito"/>
                <a:cs typeface="Nunito"/>
                <a:sym typeface="Nunito"/>
              </a:rPr>
              <a:t>spychać</a:t>
            </a:r>
            <a:r>
              <a:rPr lang="pl">
                <a:solidFill>
                  <a:schemeClr val="lt2"/>
                </a:solidFill>
                <a:latin typeface="Nunito"/>
                <a:ea typeface="Nunito"/>
                <a:cs typeface="Nunito"/>
                <a:sym typeface="Nunito"/>
              </a:rPr>
              <a:t> przeciwnika w stronę swojej siły</a:t>
            </a:r>
            <a:endParaRPr>
              <a:solidFill>
                <a:schemeClr val="lt2"/>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