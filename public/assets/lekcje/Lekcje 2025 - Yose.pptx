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Nuni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21E10E6-2BC3-4657-975B-9DC21B602940}">
  <a:tblStyle styleId="{E21E10E6-2BC3-4657-975B-9DC21B60294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.fntdata"/><Relationship Id="rId11" Type="http://schemas.openxmlformats.org/officeDocument/2006/relationships/slide" Target="slides/slide5.xml"/><Relationship Id="rId22" Type="http://schemas.openxmlformats.org/officeDocument/2006/relationships/font" Target="fonts/Nunito-boldItalic.fntdata"/><Relationship Id="rId10" Type="http://schemas.openxmlformats.org/officeDocument/2006/relationships/slide" Target="slides/slide4.xml"/><Relationship Id="rId21" Type="http://schemas.openxmlformats.org/officeDocument/2006/relationships/font" Target="fonts/Nunit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Nunito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5260e8a63b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5260e8a63b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45241adec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45241adec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5260e8a63b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5260e8a63b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45241adec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45241adec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a652deda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7a652deda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7a652deda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7a652deda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a652deda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7a652deda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7a652deda3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7a652deda3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7a652deda3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7a652deda3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a652deda3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7a652deda3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a652deda3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7a652deda3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43434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youtu.be/fyAfxHG2kxg://cdn.online-go.com/shape_up.pdf" TargetMode="External"/><Relationship Id="rId5" Type="http://schemas.openxmlformats.org/officeDocument/2006/relationships/hyperlink" Target="https://senseis.xmp.net/?BasicEndgameTheory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5.png"/><Relationship Id="rId6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47975" y="1317775"/>
            <a:ext cx="8558400" cy="11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50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Wprowadzenie do YOSE</a:t>
            </a:r>
            <a:endParaRPr b="1" sz="50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5" name="Google Shape;55;p13"/>
          <p:cNvSpPr/>
          <p:nvPr/>
        </p:nvSpPr>
        <p:spPr>
          <a:xfrm rot="10800000">
            <a:off x="25" y="-100"/>
            <a:ext cx="9159900" cy="10269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2351250" y="132300"/>
            <a:ext cx="44415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Lubelski Klub Go</a:t>
            </a:r>
            <a:endParaRPr b="1" sz="3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28450" y="66100"/>
            <a:ext cx="659159" cy="8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2750" y="92735"/>
            <a:ext cx="659159" cy="894501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/>
        </p:nvSpPr>
        <p:spPr>
          <a:xfrm>
            <a:off x="368750" y="3796050"/>
            <a:ext cx="6021900" cy="11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Dalsza lektura: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Char char="●"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Go Magic - </a:t>
            </a:r>
            <a:r>
              <a:rPr lang="pl" u="sng">
                <a:solidFill>
                  <a:srgbClr val="00FFFF"/>
                </a:solidFill>
                <a:latin typeface="Nunito"/>
                <a:ea typeface="Nunito"/>
                <a:cs typeface="Nunito"/>
                <a:sym typeface="Nuni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 Guide to Counting Move Values in Go</a:t>
            </a:r>
            <a:endParaRPr>
              <a:solidFill>
                <a:srgbClr val="00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Char char="●"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Sensei’s Library - </a:t>
            </a:r>
            <a:r>
              <a:rPr lang="pl" u="sng">
                <a:solidFill>
                  <a:srgbClr val="00FFFF"/>
                </a:solidFill>
                <a:latin typeface="Nunito"/>
                <a:ea typeface="Nunito"/>
                <a:cs typeface="Nunito"/>
                <a:sym typeface="Nuni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Basic Endgame Theory</a:t>
            </a:r>
            <a:endParaRPr>
              <a:solidFill>
                <a:srgbClr val="00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603300" y="2433175"/>
            <a:ext cx="7937400" cy="11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6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Jak liczyć wartość ruchów?</a:t>
            </a:r>
            <a:endParaRPr b="1" sz="36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 rot="10800000">
            <a:off x="25" y="-100"/>
            <a:ext cx="9159900" cy="10269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1082688" y="132300"/>
            <a:ext cx="6956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Czym jest YOSE?</a:t>
            </a:r>
            <a:endParaRPr b="1" sz="3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28450" y="66100"/>
            <a:ext cx="659159" cy="8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2750" y="92735"/>
            <a:ext cx="659159" cy="894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 txBox="1"/>
          <p:nvPr/>
        </p:nvSpPr>
        <p:spPr>
          <a:xfrm>
            <a:off x="368750" y="1275250"/>
            <a:ext cx="8567700" cy="3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YOSE </a:t>
            </a: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to końcowa faza gry. Nie ma sztywnej reguły określającej kiedy kończy się faza środkowa (</a:t>
            </a:r>
            <a:r>
              <a:rPr b="1"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CHUBAN</a:t>
            </a: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), a kiedy zaczyna się </a:t>
            </a:r>
            <a:r>
              <a:rPr b="1"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YOSE</a:t>
            </a: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. Czasem Yose zaczyna się stosunkowo szybko (po 60-70 ruchach), ale zdarza się także, że gra cechuje się wyjątkowo skomplikowaną walką w chubanie i yose zaczyna się po 200 ruchach.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Wyznacznikiem tego, że wkraczamy w Yose jest fakt, iż wszystkie grupy znajdujące się na planszy (zarówno nasze, jak i </a:t>
            </a: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przeciwnika</a:t>
            </a: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) są stabilne, a walka o środek nie wpływa na zmiany w wyniku w znaczący sposób (ruchy warte mniej niż 10 pkt). To znak, że czas na yose.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W Yose skupiamy się na domykaniu granic naszego terytorium, zwłaszcza na brzegach planszy (1-3 linia).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Kto pierwszy wyczuje odpowiedni moment na zagranie wszystkich dużych ruchów yose, może zyskać nawet 20 pkt. Poszczególne ruchy w yose mogą wydawać się małe, ale ich suma może stanowić dużą wartość.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 rot="10800000">
            <a:off x="25" y="-100"/>
            <a:ext cx="9159900" cy="10269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 txBox="1"/>
          <p:nvPr/>
        </p:nvSpPr>
        <p:spPr>
          <a:xfrm>
            <a:off x="1082688" y="132300"/>
            <a:ext cx="6956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SENTE oraz GOTE</a:t>
            </a:r>
            <a:endParaRPr b="1" sz="3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28450" y="66100"/>
            <a:ext cx="659159" cy="8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2750" y="92735"/>
            <a:ext cx="659159" cy="894501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/>
          <p:nvPr/>
        </p:nvSpPr>
        <p:spPr>
          <a:xfrm>
            <a:off x="368750" y="1275250"/>
            <a:ext cx="8567700" cy="3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SENTE </a:t>
            </a: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to inicjatywa. Kto posiada sente, ten decyduje gdzie zagra swój kolejny ruch. Ruchy sente to takie, na które nasz przeciwnik powinien odpowiedzieć, a my zachowujemy inicjatywę i dalej decydujemy o tym gdzie będzie toczyła się gra. Ruchy sente przeważnie czymś grożą - wtargnięciem w obszar kontrolowany przez przeciwnika, znaczącą redukcją terenu przeciwnika, zbiciem grupy kamieni czy też uzyskaniem znaczącej przewagi lokalnej (lepszej pozycji / kształtu). Przeciwnik jest skłonny odpowiedzieć bezpośrednio na nasze ruchy, jeśli ich zignorowanie wiązałoby się ze startą, z którą nie jest gotów się pogodzić i nie jest w stanie tej straty zrekompensować.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1"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GOTE</a:t>
            </a: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 jest przeciwieństwem </a:t>
            </a:r>
            <a:r>
              <a:rPr b="1"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SENTE</a:t>
            </a: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. Gdy gramy ruch GOTE musimy być przygotowani na to, że oddajemy inicjatywę przeciwnikowi i to on w kolejnym ruchu będzie starał się zagrażać naszym pozycjom i kamieniom.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Posiadanie SENTE jest w Go kluczowym aspektem gry, a w YOSE jego znaczenie jest jeszcze większe.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/>
          <p:nvPr/>
        </p:nvSpPr>
        <p:spPr>
          <a:xfrm rot="10800000">
            <a:off x="25" y="-100"/>
            <a:ext cx="9159900" cy="10269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 txBox="1"/>
          <p:nvPr/>
        </p:nvSpPr>
        <p:spPr>
          <a:xfrm>
            <a:off x="1082688" y="132300"/>
            <a:ext cx="6956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Kategorie ruchów SENTE i GOTE</a:t>
            </a:r>
            <a:endParaRPr b="1" sz="3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28450" y="66100"/>
            <a:ext cx="659159" cy="8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2750" y="92735"/>
            <a:ext cx="659159" cy="894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 txBox="1"/>
          <p:nvPr/>
        </p:nvSpPr>
        <p:spPr>
          <a:xfrm>
            <a:off x="368750" y="1346100"/>
            <a:ext cx="8529600" cy="35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AutoNum type="arabicPeriod"/>
            </a:pPr>
            <a:r>
              <a:rPr b="1"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Obustronne SENTE - </a:t>
            </a: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ruch w danym miejscu jest dla obu graczy ruchem sente. Przykładowo kto pierwszy zagra ten </a:t>
            </a: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grozi </a:t>
            </a: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zbiciem kamieni, zbudowaniem moyo, otoczeniem grupy itp.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AutoNum type="arabicPeriod"/>
            </a:pPr>
            <a:r>
              <a:rPr b="1"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Jednostronne SENTE</a:t>
            </a: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 - ruch w danym miejscu jest ruchem sente tylko dla jednego z graczy. Z perspektywy przeciwnika byłby to ruch gote. Przykładowo ja mam sente bo grożę wejściem w teren przeciwnika, ale przeciwnik w tym miejscu nie ma ruchu by wejść w mój teren i nie muszę odpowiadać na jego ruch.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AutoNum type="arabicPeriod"/>
            </a:pPr>
            <a:r>
              <a:rPr b="1"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Odwrócone SENTE</a:t>
            </a: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 - </a:t>
            </a:r>
            <a:r>
              <a:rPr b="1"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ruch gote</a:t>
            </a: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, który zapobiega ruchowi </a:t>
            </a:r>
            <a:r>
              <a:rPr b="1"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sente</a:t>
            </a: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b="1"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przeciwnika</a:t>
            </a: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. Przeciwnik mógłby zagrać ruch, na który muszę odpowiedzieć (i po mojej odpowiedzi zachowa sente), ale mogę go uprzedzić i zagrać tam jako pierwszy tracąc przy tym sente. Przykładowo mogę załatać dziurę w mojej ścianie, by przeciwnik nie mógł mi grozić wejściem w mój teren. 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AutoNum type="arabicPeriod"/>
            </a:pPr>
            <a:r>
              <a:rPr b="1"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Obustronne GOTE</a:t>
            </a: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 - miejsce, w którym ruch dowolnego z graczy nie wymaga natychmiastowej odpowiedzi.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/>
          <p:nvPr/>
        </p:nvSpPr>
        <p:spPr>
          <a:xfrm rot="10800000">
            <a:off x="25" y="-100"/>
            <a:ext cx="9159900" cy="10269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7"/>
          <p:cNvSpPr txBox="1"/>
          <p:nvPr/>
        </p:nvSpPr>
        <p:spPr>
          <a:xfrm>
            <a:off x="1082688" y="132300"/>
            <a:ext cx="6956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Rozpoznawanie </a:t>
            </a:r>
            <a:r>
              <a:rPr b="1" lang="pl" sz="3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SENTE i GOTE</a:t>
            </a:r>
            <a:endParaRPr b="1" sz="3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28450" y="66100"/>
            <a:ext cx="659159" cy="8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2750" y="92735"/>
            <a:ext cx="659159" cy="8945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 txBox="1"/>
          <p:nvPr/>
        </p:nvSpPr>
        <p:spPr>
          <a:xfrm>
            <a:off x="368750" y="1256025"/>
            <a:ext cx="30747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" sz="20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1. </a:t>
            </a:r>
            <a:r>
              <a:rPr lang="pl" sz="20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Obustronne sente</a:t>
            </a:r>
            <a:endParaRPr sz="20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5150" y="1179200"/>
            <a:ext cx="3803984" cy="3811901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8" name="Google Shape;98;p17"/>
          <p:cNvSpPr txBox="1"/>
          <p:nvPr/>
        </p:nvSpPr>
        <p:spPr>
          <a:xfrm>
            <a:off x="368750" y="2293650"/>
            <a:ext cx="34041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000"/>
              </a:spcAft>
              <a:buNone/>
            </a:pPr>
            <a:r>
              <a:rPr lang="pl" sz="20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3. </a:t>
            </a:r>
            <a:r>
              <a:rPr lang="pl" sz="20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O</a:t>
            </a:r>
            <a:r>
              <a:rPr lang="pl" sz="20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bustronne got</a:t>
            </a:r>
            <a:r>
              <a:rPr lang="pl" sz="20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e</a:t>
            </a:r>
            <a:endParaRPr sz="20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368750" y="1774825"/>
            <a:ext cx="29892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20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2. Odwrócone sente</a:t>
            </a:r>
            <a:endParaRPr sz="20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368750" y="2805700"/>
            <a:ext cx="22866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000"/>
              </a:spcAft>
              <a:buNone/>
            </a:pPr>
            <a:r>
              <a:rPr lang="pl" sz="20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4. </a:t>
            </a:r>
            <a:r>
              <a:rPr lang="pl" sz="20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S</a:t>
            </a:r>
            <a:r>
              <a:rPr lang="pl" sz="20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ente</a:t>
            </a:r>
            <a:endParaRPr sz="20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/>
          <p:nvPr/>
        </p:nvSpPr>
        <p:spPr>
          <a:xfrm rot="10800000">
            <a:off x="25" y="-100"/>
            <a:ext cx="9159900" cy="10269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8"/>
          <p:cNvSpPr txBox="1"/>
          <p:nvPr/>
        </p:nvSpPr>
        <p:spPr>
          <a:xfrm>
            <a:off x="1082688" y="132300"/>
            <a:ext cx="6956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Obustronne sente</a:t>
            </a:r>
            <a:endParaRPr b="1" sz="3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07" name="Google Shape;10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28450" y="66100"/>
            <a:ext cx="659159" cy="8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2750" y="92735"/>
            <a:ext cx="659159" cy="894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 txBox="1"/>
          <p:nvPr/>
        </p:nvSpPr>
        <p:spPr>
          <a:xfrm>
            <a:off x="1178750" y="4432200"/>
            <a:ext cx="10161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" sz="20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Remis</a:t>
            </a:r>
            <a:endParaRPr sz="20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0" name="Google Shape;110;p18"/>
          <p:cNvSpPr txBox="1"/>
          <p:nvPr/>
        </p:nvSpPr>
        <p:spPr>
          <a:xfrm>
            <a:off x="6196600" y="4389150"/>
            <a:ext cx="25383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000"/>
              </a:spcAft>
              <a:buNone/>
            </a:pPr>
            <a:r>
              <a:rPr lang="pl" sz="20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Czarny traci 2 pkt</a:t>
            </a:r>
            <a:endParaRPr sz="20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3460375" y="4389150"/>
            <a:ext cx="22392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20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Biały traci 2 pkt</a:t>
            </a:r>
            <a:endParaRPr sz="20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12" name="Google Shape;11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0850" y="1505453"/>
            <a:ext cx="2538238" cy="2669850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3" name="Google Shape;11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8675" y="1505450"/>
            <a:ext cx="2696250" cy="2669850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4" name="Google Shape;114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17613" y="1478130"/>
            <a:ext cx="2696250" cy="2742869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/>
          <p:nvPr/>
        </p:nvSpPr>
        <p:spPr>
          <a:xfrm rot="10800000">
            <a:off x="25" y="-100"/>
            <a:ext cx="9159900" cy="10269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9"/>
          <p:cNvSpPr txBox="1"/>
          <p:nvPr/>
        </p:nvSpPr>
        <p:spPr>
          <a:xfrm>
            <a:off x="1082688" y="132300"/>
            <a:ext cx="6956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Odwrócone </a:t>
            </a:r>
            <a:r>
              <a:rPr b="1" lang="pl" sz="3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sente</a:t>
            </a:r>
            <a:endParaRPr b="1" sz="3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21" name="Google Shape;12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28450" y="66100"/>
            <a:ext cx="659159" cy="8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2750" y="92735"/>
            <a:ext cx="659159" cy="894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9"/>
          <p:cNvSpPr txBox="1"/>
          <p:nvPr/>
        </p:nvSpPr>
        <p:spPr>
          <a:xfrm>
            <a:off x="1095525" y="4389150"/>
            <a:ext cx="10161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" sz="20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Remis</a:t>
            </a:r>
            <a:endParaRPr sz="20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4" name="Google Shape;124;p19"/>
          <p:cNvSpPr txBox="1"/>
          <p:nvPr/>
        </p:nvSpPr>
        <p:spPr>
          <a:xfrm>
            <a:off x="6264950" y="4346100"/>
            <a:ext cx="25383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000"/>
              </a:spcAft>
              <a:buNone/>
            </a:pPr>
            <a:r>
              <a:rPr lang="pl" sz="20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Czarny traci 2 pkt</a:t>
            </a:r>
            <a:endParaRPr sz="20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5" name="Google Shape;125;p19"/>
          <p:cNvSpPr txBox="1"/>
          <p:nvPr/>
        </p:nvSpPr>
        <p:spPr>
          <a:xfrm>
            <a:off x="3455400" y="4346100"/>
            <a:ext cx="22113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20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Biały traci 1 pkt</a:t>
            </a:r>
            <a:endParaRPr sz="20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26" name="Google Shape;12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7325" y="1353371"/>
            <a:ext cx="2728820" cy="2735400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7" name="Google Shape;12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9507" y="1353371"/>
            <a:ext cx="2768144" cy="2735400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8" name="Google Shape;128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12093" y="1353371"/>
            <a:ext cx="2844006" cy="2735400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/>
          <p:nvPr/>
        </p:nvSpPr>
        <p:spPr>
          <a:xfrm rot="10800000">
            <a:off x="25" y="-100"/>
            <a:ext cx="9159900" cy="10269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0"/>
          <p:cNvSpPr txBox="1"/>
          <p:nvPr/>
        </p:nvSpPr>
        <p:spPr>
          <a:xfrm>
            <a:off x="1082688" y="132300"/>
            <a:ext cx="6956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Obustronne gote</a:t>
            </a:r>
            <a:endParaRPr b="1" sz="3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35" name="Google Shape;13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28450" y="66100"/>
            <a:ext cx="659159" cy="8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2750" y="92735"/>
            <a:ext cx="659159" cy="894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0"/>
          <p:cNvSpPr txBox="1"/>
          <p:nvPr/>
        </p:nvSpPr>
        <p:spPr>
          <a:xfrm>
            <a:off x="1095525" y="4389150"/>
            <a:ext cx="10161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" sz="20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Remis</a:t>
            </a:r>
            <a:endParaRPr sz="20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8" name="Google Shape;138;p20"/>
          <p:cNvSpPr txBox="1"/>
          <p:nvPr/>
        </p:nvSpPr>
        <p:spPr>
          <a:xfrm>
            <a:off x="6319738" y="4346100"/>
            <a:ext cx="25383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000"/>
              </a:spcAft>
              <a:buNone/>
            </a:pPr>
            <a:r>
              <a:rPr lang="pl" sz="20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Czarny traci 1 pkt</a:t>
            </a:r>
            <a:endParaRPr sz="20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3455400" y="4346100"/>
            <a:ext cx="22113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20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Biały traci 1 pkt</a:t>
            </a:r>
            <a:endParaRPr sz="20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40" name="Google Shape;14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4300" y="1500111"/>
            <a:ext cx="2559650" cy="2480238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1" name="Google Shape;14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43775" y="1500136"/>
            <a:ext cx="2770853" cy="2480250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2" name="Google Shape;142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15410" y="1520311"/>
            <a:ext cx="2746962" cy="2480250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/>
          <p:nvPr/>
        </p:nvSpPr>
        <p:spPr>
          <a:xfrm rot="10800000">
            <a:off x="25" y="-100"/>
            <a:ext cx="9159900" cy="10269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1"/>
          <p:cNvSpPr txBox="1"/>
          <p:nvPr/>
        </p:nvSpPr>
        <p:spPr>
          <a:xfrm>
            <a:off x="1082688" y="132300"/>
            <a:ext cx="6956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Sente</a:t>
            </a:r>
            <a:endParaRPr b="1" sz="3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49" name="Google Shape;14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28450" y="66100"/>
            <a:ext cx="659159" cy="8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2750" y="92735"/>
            <a:ext cx="659159" cy="894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1"/>
          <p:cNvSpPr txBox="1"/>
          <p:nvPr/>
        </p:nvSpPr>
        <p:spPr>
          <a:xfrm>
            <a:off x="1095525" y="4389150"/>
            <a:ext cx="10161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" sz="20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Remis</a:t>
            </a:r>
            <a:endParaRPr sz="20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2" name="Google Shape;152;p21"/>
          <p:cNvSpPr txBox="1"/>
          <p:nvPr/>
        </p:nvSpPr>
        <p:spPr>
          <a:xfrm>
            <a:off x="6319738" y="4346100"/>
            <a:ext cx="25383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000"/>
              </a:spcAft>
              <a:buNone/>
            </a:pPr>
            <a:r>
              <a:rPr lang="pl" sz="20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Czarny traci 1 pkt</a:t>
            </a:r>
            <a:endParaRPr sz="20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3" name="Google Shape;153;p21"/>
          <p:cNvSpPr txBox="1"/>
          <p:nvPr/>
        </p:nvSpPr>
        <p:spPr>
          <a:xfrm>
            <a:off x="3455400" y="4346100"/>
            <a:ext cx="22113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20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Biały traci 2 pkt</a:t>
            </a:r>
            <a:endParaRPr sz="20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54" name="Google Shape;15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951" y="1338699"/>
            <a:ext cx="2685367" cy="2788375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5" name="Google Shape;15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71247" y="1341750"/>
            <a:ext cx="2819182" cy="2788375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6" name="Google Shape;15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00800" y="1344050"/>
            <a:ext cx="2776200" cy="2783765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/>
          <p:nvPr/>
        </p:nvSpPr>
        <p:spPr>
          <a:xfrm rot="10800000">
            <a:off x="25" y="-100"/>
            <a:ext cx="9159900" cy="10269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2"/>
          <p:cNvSpPr txBox="1"/>
          <p:nvPr/>
        </p:nvSpPr>
        <p:spPr>
          <a:xfrm>
            <a:off x="1082688" y="132300"/>
            <a:ext cx="6956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Obliczanie</a:t>
            </a:r>
            <a:r>
              <a:rPr b="1" lang="pl" sz="3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wielkości ruchu</a:t>
            </a:r>
            <a:endParaRPr b="1" sz="3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63" name="Google Shape;16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28450" y="66100"/>
            <a:ext cx="659159" cy="8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2750" y="92735"/>
            <a:ext cx="659159" cy="894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5" name="Google Shape;165;p22"/>
          <p:cNvGraphicFramePr/>
          <p:nvPr/>
        </p:nvGraphicFramePr>
        <p:xfrm>
          <a:off x="172450" y="1690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{E21E10E6-2BC3-4657-975B-9DC21B602940}</a:tableStyleId>
              </a:tblPr>
              <a:tblGrid>
                <a:gridCol w="2400450"/>
                <a:gridCol w="1196950"/>
                <a:gridCol w="1583800"/>
                <a:gridCol w="1497825"/>
                <a:gridCol w="982050"/>
                <a:gridCol w="1153975"/>
              </a:tblGrid>
              <a:tr h="792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800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Kategoria</a:t>
                      </a:r>
                      <a:endParaRPr sz="180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800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Ruchu</a:t>
                      </a:r>
                      <a:endParaRPr sz="180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800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Mnożnik</a:t>
                      </a:r>
                      <a:endParaRPr sz="180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800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Może zyskać</a:t>
                      </a:r>
                      <a:endParaRPr sz="180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800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Może stracić</a:t>
                      </a:r>
                      <a:endParaRPr sz="180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800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Suma</a:t>
                      </a:r>
                      <a:endParaRPr sz="180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800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Wartość</a:t>
                      </a:r>
                      <a:endParaRPr sz="180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604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800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Obustronne Sente</a:t>
                      </a:r>
                      <a:endParaRPr sz="180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800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sz="180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800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800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800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sz="180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800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16</a:t>
                      </a:r>
                      <a:endParaRPr sz="180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504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800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Sente</a:t>
                      </a:r>
                      <a:endParaRPr sz="180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800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800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800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800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80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800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561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800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Odwrócone Sente</a:t>
                      </a:r>
                      <a:endParaRPr sz="180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800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800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800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800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80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800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461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800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Obustronne Gote</a:t>
                      </a:r>
                      <a:endParaRPr sz="180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800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800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800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800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800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3"/>
          <p:cNvSpPr/>
          <p:nvPr/>
        </p:nvSpPr>
        <p:spPr>
          <a:xfrm rot="10800000">
            <a:off x="25" y="-100"/>
            <a:ext cx="9159900" cy="10269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3"/>
          <p:cNvSpPr txBox="1"/>
          <p:nvPr/>
        </p:nvSpPr>
        <p:spPr>
          <a:xfrm>
            <a:off x="1082688" y="132300"/>
            <a:ext cx="6956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Prawidłowa sekwencja</a:t>
            </a:r>
            <a:endParaRPr b="1" sz="3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72" name="Google Shape;17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28450" y="66100"/>
            <a:ext cx="659159" cy="8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2750" y="92735"/>
            <a:ext cx="659159" cy="894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3"/>
          <p:cNvSpPr txBox="1"/>
          <p:nvPr/>
        </p:nvSpPr>
        <p:spPr>
          <a:xfrm>
            <a:off x="368750" y="1256025"/>
            <a:ext cx="44214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" sz="20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A</a:t>
            </a:r>
            <a:r>
              <a:rPr lang="pl" sz="20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. Obustronne sente - zysk 2 pkt</a:t>
            </a:r>
            <a:endParaRPr sz="20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5" name="Google Shape;175;p23"/>
          <p:cNvSpPr txBox="1"/>
          <p:nvPr/>
        </p:nvSpPr>
        <p:spPr>
          <a:xfrm>
            <a:off x="368750" y="2293650"/>
            <a:ext cx="39486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000"/>
              </a:spcAft>
              <a:buNone/>
            </a:pPr>
            <a:r>
              <a:rPr lang="pl" sz="20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C. Odwrócone sente - zysk 1 pkt </a:t>
            </a:r>
            <a:endParaRPr sz="20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6" name="Google Shape;176;p23"/>
          <p:cNvSpPr txBox="1"/>
          <p:nvPr/>
        </p:nvSpPr>
        <p:spPr>
          <a:xfrm>
            <a:off x="368750" y="1774825"/>
            <a:ext cx="29892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20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B</a:t>
            </a:r>
            <a:r>
              <a:rPr lang="pl" sz="20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. Sente - Zysk 2 pkt</a:t>
            </a:r>
            <a:endParaRPr sz="20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7" name="Google Shape;177;p23"/>
          <p:cNvSpPr txBox="1"/>
          <p:nvPr/>
        </p:nvSpPr>
        <p:spPr>
          <a:xfrm>
            <a:off x="368750" y="2805700"/>
            <a:ext cx="39486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000"/>
              </a:spcAft>
              <a:buNone/>
            </a:pPr>
            <a:r>
              <a:rPr lang="pl" sz="20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D. Gote białego - strata 1 pkt</a:t>
            </a:r>
            <a:endParaRPr sz="20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78" name="Google Shape;17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8772" y="1161401"/>
            <a:ext cx="3801900" cy="3829700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9" name="Google Shape;179;p23"/>
          <p:cNvSpPr txBox="1"/>
          <p:nvPr/>
        </p:nvSpPr>
        <p:spPr>
          <a:xfrm>
            <a:off x="368750" y="3836575"/>
            <a:ext cx="39486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000"/>
              </a:spcAft>
              <a:buNone/>
            </a:pPr>
            <a:r>
              <a:rPr lang="pl" sz="20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Bilans - czarne zyskały 4 pkt</a:t>
            </a:r>
            <a:endParaRPr sz="20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/>
          <p:nvPr/>
        </p:nvSpPr>
        <p:spPr>
          <a:xfrm rot="10800000">
            <a:off x="25" y="-100"/>
            <a:ext cx="9159900" cy="10269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4"/>
          <p:cNvSpPr txBox="1"/>
          <p:nvPr/>
        </p:nvSpPr>
        <p:spPr>
          <a:xfrm>
            <a:off x="1082688" y="132300"/>
            <a:ext cx="6956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Błędna </a:t>
            </a:r>
            <a:r>
              <a:rPr b="1" lang="pl" sz="3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sekwencja</a:t>
            </a:r>
            <a:endParaRPr b="1" sz="3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86" name="Google Shape;18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28450" y="66100"/>
            <a:ext cx="659159" cy="8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2750" y="92735"/>
            <a:ext cx="659159" cy="894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4"/>
          <p:cNvSpPr txBox="1"/>
          <p:nvPr/>
        </p:nvSpPr>
        <p:spPr>
          <a:xfrm>
            <a:off x="368750" y="1256025"/>
            <a:ext cx="4421400" cy="25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" sz="20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D</a:t>
            </a:r>
            <a:r>
              <a:rPr lang="pl" sz="20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. Gote- zysk 1 pkt (utrata sente)</a:t>
            </a:r>
            <a:endParaRPr sz="20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l" sz="20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A. </a:t>
            </a:r>
            <a:r>
              <a:rPr lang="pl" sz="20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Biały gra obustronne Sente - </a:t>
            </a:r>
            <a:br>
              <a:rPr lang="pl" sz="20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pl" sz="20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strata 2 pkt dla czarnego</a:t>
            </a:r>
            <a:endParaRPr sz="20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l" sz="20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C. Biały gra swoje Sente - strata 2 pkt dla czarnego</a:t>
            </a:r>
            <a:endParaRPr sz="20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l" sz="20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B. Biały gra odwrócone Sente - strata 1 pkt dla czarnego</a:t>
            </a:r>
            <a:endParaRPr sz="20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9" name="Google Shape;189;p24"/>
          <p:cNvSpPr txBox="1"/>
          <p:nvPr/>
        </p:nvSpPr>
        <p:spPr>
          <a:xfrm>
            <a:off x="368750" y="4183450"/>
            <a:ext cx="39486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000"/>
              </a:spcAft>
              <a:buNone/>
            </a:pPr>
            <a:r>
              <a:rPr lang="pl" sz="20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Bilans - czarne straciły 4 pkt</a:t>
            </a:r>
            <a:endParaRPr sz="20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90" name="Google Shape;19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5302" y="1157980"/>
            <a:ext cx="3809675" cy="3817626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