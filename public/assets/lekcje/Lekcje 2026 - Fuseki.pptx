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Nuni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uni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italic.fntdata"/><Relationship Id="rId30" Type="http://schemas.openxmlformats.org/officeDocument/2006/relationships/font" Target="fonts/Nunito-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Nunit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56b5d1e944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56b5d1e944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591f347ac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591f347ac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591f347ac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591f347ac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591f347ac6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591f347ac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5a7d0f281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5a7d0f281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5a7d0f281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5a7d0f281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591f347ac6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591f347ac6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5b39186c1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5b39186c1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5b39186c10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5b39186c10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5ddb75b1b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5ddb75b1b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5ddb75b1b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5ddb75b1b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5ddb75b1be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5ddb75b1be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5b39186c1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5b39186c1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d08c9c639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d08c9c639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d08c9c639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d08c9c639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d08c9c639f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d08c9c639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d08c9c639f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d08c9c639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d08c9c639f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d08c9c639f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d08c9c639f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d08c9c639f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d08c9c639f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d08c9c639f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d08c9c639f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d08c9c639f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d08c9c639f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d08c9c639f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434343"/>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3.png"/><Relationship Id="rId7" Type="http://schemas.openxmlformats.org/officeDocument/2006/relationships/image" Target="../media/image20.png"/><Relationship Id="rId8"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23.png"/><Relationship Id="rId5" Type="http://schemas.openxmlformats.org/officeDocument/2006/relationships/image" Target="../media/image11.png"/><Relationship Id="rId6"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image" Target="../media/image9.png"/><Relationship Id="rId6"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31.png"/><Relationship Id="rId5"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37.png"/><Relationship Id="rId5"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24.png"/><Relationship Id="rId5" Type="http://schemas.openxmlformats.org/officeDocument/2006/relationships/image" Target="../media/image34.png"/><Relationship Id="rId6" Type="http://schemas.openxmlformats.org/officeDocument/2006/relationships/image" Target="../media/image26.png"/><Relationship Id="rId7"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36.png"/><Relationship Id="rId5" Type="http://schemas.openxmlformats.org/officeDocument/2006/relationships/image" Target="../media/image4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27.png"/><Relationship Id="rId5" Type="http://schemas.openxmlformats.org/officeDocument/2006/relationships/image" Target="../media/image3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656600" y="1785450"/>
            <a:ext cx="5830800" cy="96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6000">
                <a:solidFill>
                  <a:schemeClr val="lt2"/>
                </a:solidFill>
                <a:latin typeface="Nunito"/>
                <a:ea typeface="Nunito"/>
                <a:cs typeface="Nunito"/>
                <a:sym typeface="Nunito"/>
              </a:rPr>
              <a:t>FUSEKI</a:t>
            </a:r>
            <a:endParaRPr b="1" sz="6200">
              <a:solidFill>
                <a:schemeClr val="lt2"/>
              </a:solidFill>
              <a:latin typeface="Nunito"/>
              <a:ea typeface="Nunito"/>
              <a:cs typeface="Nunito"/>
              <a:sym typeface="Nunito"/>
            </a:endParaRPr>
          </a:p>
        </p:txBody>
      </p:sp>
      <p:sp>
        <p:nvSpPr>
          <p:cNvPr id="55" name="Google Shape;55;p13"/>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 name="Google Shape;56;p13"/>
          <p:cNvSpPr txBox="1"/>
          <p:nvPr/>
        </p:nvSpPr>
        <p:spPr>
          <a:xfrm>
            <a:off x="2351250" y="132300"/>
            <a:ext cx="44415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Lubelski Klub Go</a:t>
            </a:r>
            <a:endParaRPr b="1" sz="3900">
              <a:solidFill>
                <a:schemeClr val="dk2"/>
              </a:solidFill>
              <a:latin typeface="Nunito"/>
              <a:ea typeface="Nunito"/>
              <a:cs typeface="Nunito"/>
              <a:sym typeface="Nunito"/>
            </a:endParaRPr>
          </a:p>
        </p:txBody>
      </p:sp>
      <p:pic>
        <p:nvPicPr>
          <p:cNvPr id="57" name="Google Shape;57;p13"/>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58" name="Google Shape;58;p13"/>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59" name="Google Shape;59;p13"/>
          <p:cNvSpPr txBox="1"/>
          <p:nvPr/>
        </p:nvSpPr>
        <p:spPr>
          <a:xfrm>
            <a:off x="375850" y="4047200"/>
            <a:ext cx="7904100" cy="814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pl">
                <a:solidFill>
                  <a:schemeClr val="lt2"/>
                </a:solidFill>
                <a:latin typeface="Nunito"/>
                <a:ea typeface="Nunito"/>
                <a:cs typeface="Nunito"/>
                <a:sym typeface="Nunito"/>
              </a:rPr>
              <a:t>Dalsza lektura:</a:t>
            </a:r>
            <a:endParaRPr>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Char char="●"/>
            </a:pPr>
            <a:r>
              <a:rPr lang="pl">
                <a:solidFill>
                  <a:schemeClr val="lt2"/>
                </a:solidFill>
                <a:latin typeface="Nunito"/>
                <a:ea typeface="Nunito"/>
                <a:cs typeface="Nunito"/>
                <a:sym typeface="Nunito"/>
              </a:rPr>
              <a:t>Otake Hideo - Opening Theory Made Easy</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Richard Bozulich - Get Strong at Opening</a:t>
            </a:r>
            <a:endParaRPr>
              <a:solidFill>
                <a:schemeClr val="lt2"/>
              </a:solidFill>
              <a:latin typeface="Nunito"/>
              <a:ea typeface="Nunito"/>
              <a:cs typeface="Nunito"/>
              <a:sym typeface="Nunito"/>
            </a:endParaRPr>
          </a:p>
        </p:txBody>
      </p:sp>
      <p:sp>
        <p:nvSpPr>
          <p:cNvPr id="60" name="Google Shape;60;p13"/>
          <p:cNvSpPr txBox="1"/>
          <p:nvPr/>
        </p:nvSpPr>
        <p:spPr>
          <a:xfrm>
            <a:off x="1656600" y="2699850"/>
            <a:ext cx="5830800" cy="74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4000">
                <a:solidFill>
                  <a:schemeClr val="lt2"/>
                </a:solidFill>
                <a:latin typeface="Nunito"/>
                <a:ea typeface="Nunito"/>
                <a:cs typeface="Nunito"/>
                <a:sym typeface="Nunito"/>
              </a:rPr>
              <a:t>Jak grać otwarcia</a:t>
            </a:r>
            <a:endParaRPr b="1" sz="4000">
              <a:solidFill>
                <a:schemeClr val="lt2"/>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 name="Google Shape;66;p14"/>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Nieskończone możliwości</a:t>
            </a:r>
            <a:endParaRPr b="1" sz="3900">
              <a:solidFill>
                <a:schemeClr val="dk2"/>
              </a:solidFill>
              <a:latin typeface="Nunito"/>
              <a:ea typeface="Nunito"/>
              <a:cs typeface="Nunito"/>
              <a:sym typeface="Nunito"/>
            </a:endParaRPr>
          </a:p>
        </p:txBody>
      </p:sp>
      <p:pic>
        <p:nvPicPr>
          <p:cNvPr id="67" name="Google Shape;67;p14"/>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68" name="Google Shape;68;p14"/>
          <p:cNvSpPr txBox="1"/>
          <p:nvPr/>
        </p:nvSpPr>
        <p:spPr>
          <a:xfrm>
            <a:off x="73800" y="987225"/>
            <a:ext cx="4868100" cy="3950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Na początku gry plansza jest całkowicie pusta. Nie wiadomo gdzie będą stać nasze kamienie, a gdzie kamienie przeciwnika. Nie jesteśmy zatem w żaden sposób przywiązani do któregokolwiek z miejsc na planszy. Możemy dowolnie wybierać gdzie chcemy zacząć budować nasze terytorium. Czarne mają przewagę, bo dokonują tego wyboru jako pierwsze i niejako ograniczają wybór białym. Plansza jest jednak bardzo duża i warto pamiętać, że jeden ruch przeciwnika nie ogranicza nas do jednego obszaru i w trakcie całego otwarcia decydujemy w każdym ruchu które obszary planszy będą bardziej nasze niż przeciwnika.</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Dlatego pierwszą zasadą wartą zapamiętania jest aby </a:t>
            </a:r>
            <a:r>
              <a:rPr lang="pl">
                <a:solidFill>
                  <a:srgbClr val="00FF00"/>
                </a:solidFill>
                <a:latin typeface="Nunito"/>
                <a:ea typeface="Nunito"/>
                <a:cs typeface="Nunito"/>
                <a:sym typeface="Nunito"/>
              </a:rPr>
              <a:t>nie ograniczać się w otwarciu tylko do jednej części planszy</a:t>
            </a:r>
            <a:r>
              <a:rPr lang="pl">
                <a:solidFill>
                  <a:schemeClr val="lt2"/>
                </a:solidFill>
                <a:latin typeface="Nunito"/>
                <a:ea typeface="Nunito"/>
                <a:cs typeface="Nunito"/>
                <a:sym typeface="Nunito"/>
              </a:rPr>
              <a:t>. Staraj się zaznaczyć swoją obecność w wielu jej częściach. Jeśli w otwarciu skupimy się tylko na jednej stronie planszy to w późniejszych etapach gry może być trudno to zmienić i zostaniemy z dużo </a:t>
            </a:r>
            <a:r>
              <a:rPr lang="pl">
                <a:solidFill>
                  <a:schemeClr val="lt2"/>
                </a:solidFill>
                <a:latin typeface="Nunito"/>
                <a:ea typeface="Nunito"/>
                <a:cs typeface="Nunito"/>
                <a:sym typeface="Nunito"/>
              </a:rPr>
              <a:t>mniejszym</a:t>
            </a:r>
            <a:r>
              <a:rPr lang="pl">
                <a:solidFill>
                  <a:schemeClr val="lt2"/>
                </a:solidFill>
                <a:latin typeface="Nunito"/>
                <a:ea typeface="Nunito"/>
                <a:cs typeface="Nunito"/>
                <a:sym typeface="Nunito"/>
              </a:rPr>
              <a:t> obszarem .</a:t>
            </a:r>
            <a:endParaRPr>
              <a:solidFill>
                <a:schemeClr val="lt2"/>
              </a:solidFill>
              <a:latin typeface="Nunito"/>
              <a:ea typeface="Nunito"/>
              <a:cs typeface="Nunito"/>
              <a:sym typeface="Nunito"/>
            </a:endParaRPr>
          </a:p>
        </p:txBody>
      </p:sp>
      <p:pic>
        <p:nvPicPr>
          <p:cNvPr id="69" name="Google Shape;69;p14"/>
          <p:cNvPicPr preferRelativeResize="0"/>
          <p:nvPr/>
        </p:nvPicPr>
        <p:blipFill>
          <a:blip r:embed="rId3">
            <a:alphaModFix/>
          </a:blip>
          <a:stretch>
            <a:fillRect/>
          </a:stretch>
        </p:blipFill>
        <p:spPr>
          <a:xfrm>
            <a:off x="8362750" y="92735"/>
            <a:ext cx="659159" cy="894501"/>
          </a:xfrm>
          <a:prstGeom prst="rect">
            <a:avLst/>
          </a:prstGeom>
          <a:noFill/>
          <a:ln>
            <a:noFill/>
          </a:ln>
        </p:spPr>
      </p:pic>
      <p:pic>
        <p:nvPicPr>
          <p:cNvPr id="70" name="Google Shape;70;p14"/>
          <p:cNvPicPr preferRelativeResize="0"/>
          <p:nvPr/>
        </p:nvPicPr>
        <p:blipFill>
          <a:blip r:embed="rId4">
            <a:alphaModFix/>
          </a:blip>
          <a:stretch>
            <a:fillRect/>
          </a:stretch>
        </p:blipFill>
        <p:spPr>
          <a:xfrm>
            <a:off x="5186001" y="1179200"/>
            <a:ext cx="3805600" cy="3791675"/>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 name="Google Shape;76;p15"/>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Szukamy dużych ruchów</a:t>
            </a:r>
            <a:endParaRPr b="1" sz="3900">
              <a:solidFill>
                <a:schemeClr val="dk2"/>
              </a:solidFill>
              <a:latin typeface="Nunito"/>
              <a:ea typeface="Nunito"/>
              <a:cs typeface="Nunito"/>
              <a:sym typeface="Nunito"/>
            </a:endParaRPr>
          </a:p>
        </p:txBody>
      </p:sp>
      <p:pic>
        <p:nvPicPr>
          <p:cNvPr id="77" name="Google Shape;77;p15"/>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78" name="Google Shape;78;p15"/>
          <p:cNvSpPr txBox="1"/>
          <p:nvPr/>
        </p:nvSpPr>
        <p:spPr>
          <a:xfrm>
            <a:off x="184200" y="1217825"/>
            <a:ext cx="4810500" cy="3688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W otwarciach mamy dosyć dużą swobodę grania i pomijając ruchy na najniższych liniach w zasadzie można </a:t>
            </a:r>
            <a:r>
              <a:rPr lang="pl">
                <a:solidFill>
                  <a:schemeClr val="lt2"/>
                </a:solidFill>
                <a:latin typeface="Nunito"/>
                <a:ea typeface="Nunito"/>
                <a:cs typeface="Nunito"/>
                <a:sym typeface="Nunito"/>
              </a:rPr>
              <a:t>grać</a:t>
            </a:r>
            <a:r>
              <a:rPr lang="pl">
                <a:solidFill>
                  <a:schemeClr val="lt2"/>
                </a:solidFill>
                <a:latin typeface="Nunito"/>
                <a:ea typeface="Nunito"/>
                <a:cs typeface="Nunito"/>
                <a:sym typeface="Nunito"/>
              </a:rPr>
              <a:t> niemal wszystko. Z drugiej strony jednak strony są miejsca na planszy, gdzie łatwiej jest wykorzystać nasze kamienie do budowania stabilnych grup i szybkiego otaczania terenu. Dlatego przestrzeganie podstawowych  zasad grania otwarć sprawia, że gra nam się łatwiej nie tylko w otwarciu, ale także w dalszych etapach gry. </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rgbClr val="00FF00"/>
                </a:solidFill>
                <a:latin typeface="Nunito"/>
                <a:ea typeface="Nunito"/>
                <a:cs typeface="Nunito"/>
                <a:sym typeface="Nunito"/>
              </a:rPr>
              <a:t>Tradycyjnie więc grę zaczynamy w rogach.</a:t>
            </a:r>
            <a:r>
              <a:rPr lang="pl">
                <a:solidFill>
                  <a:schemeClr val="lt2"/>
                </a:solidFill>
                <a:latin typeface="Nunito"/>
                <a:ea typeface="Nunito"/>
                <a:cs typeface="Nunito"/>
                <a:sym typeface="Nunito"/>
              </a:rPr>
              <a:t> Rogi są bardzo cenne, gdyż pozwalają na łatwe otaczanie terenu i szybkie zbudowanie bezpiecznej grupy. </a:t>
            </a:r>
            <a:r>
              <a:rPr lang="pl">
                <a:solidFill>
                  <a:srgbClr val="00FF00"/>
                </a:solidFill>
                <a:latin typeface="Nunito"/>
                <a:ea typeface="Nunito"/>
                <a:cs typeface="Nunito"/>
                <a:sym typeface="Nunito"/>
              </a:rPr>
              <a:t>Dopóki są jakieś wolne rogi, najpierw zajmujemy rogi.</a:t>
            </a:r>
            <a:endParaRPr>
              <a:solidFill>
                <a:srgbClr val="00FF00"/>
              </a:solidFill>
              <a:latin typeface="Nunito"/>
              <a:ea typeface="Nunito"/>
              <a:cs typeface="Nunito"/>
              <a:sym typeface="Nunito"/>
            </a:endParaRPr>
          </a:p>
          <a:p>
            <a:pPr indent="0" lvl="0" marL="0" rtl="0" algn="just">
              <a:spcBef>
                <a:spcPts val="1000"/>
              </a:spcBef>
              <a:spcAft>
                <a:spcPts val="1000"/>
              </a:spcAft>
              <a:buNone/>
            </a:pPr>
            <a:r>
              <a:t/>
            </a:r>
            <a:endParaRPr>
              <a:solidFill>
                <a:schemeClr val="lt2"/>
              </a:solidFill>
              <a:latin typeface="Nunito"/>
              <a:ea typeface="Nunito"/>
              <a:cs typeface="Nunito"/>
              <a:sym typeface="Nunito"/>
            </a:endParaRPr>
          </a:p>
        </p:txBody>
      </p:sp>
      <p:pic>
        <p:nvPicPr>
          <p:cNvPr id="79" name="Google Shape;79;p15"/>
          <p:cNvPicPr preferRelativeResize="0"/>
          <p:nvPr/>
        </p:nvPicPr>
        <p:blipFill>
          <a:blip r:embed="rId3">
            <a:alphaModFix/>
          </a:blip>
          <a:stretch>
            <a:fillRect/>
          </a:stretch>
        </p:blipFill>
        <p:spPr>
          <a:xfrm>
            <a:off x="8362750" y="92735"/>
            <a:ext cx="659159" cy="894501"/>
          </a:xfrm>
          <a:prstGeom prst="rect">
            <a:avLst/>
          </a:prstGeom>
          <a:noFill/>
          <a:ln>
            <a:noFill/>
          </a:ln>
        </p:spPr>
      </p:pic>
      <p:pic>
        <p:nvPicPr>
          <p:cNvPr id="80" name="Google Shape;80;p15"/>
          <p:cNvPicPr preferRelativeResize="0"/>
          <p:nvPr/>
        </p:nvPicPr>
        <p:blipFill>
          <a:blip r:embed="rId4">
            <a:alphaModFix/>
          </a:blip>
          <a:stretch>
            <a:fillRect/>
          </a:stretch>
        </p:blipFill>
        <p:spPr>
          <a:xfrm>
            <a:off x="5340203" y="1254925"/>
            <a:ext cx="3588349" cy="3614301"/>
          </a:xfrm>
          <a:prstGeom prst="rect">
            <a:avLst/>
          </a:prstGeom>
          <a:noFill/>
          <a:ln cap="flat" cmpd="sng" w="38100">
            <a:solidFill>
              <a:schemeClr val="lt2"/>
            </a:solidFill>
            <a:prstDash val="solid"/>
            <a:round/>
            <a:headEnd len="sm" w="sm" type="none"/>
            <a:tailEnd len="sm" w="sm" type="none"/>
          </a:ln>
          <a:effectLst>
            <a:outerShdw blurRad="57150" rotWithShape="0" algn="bl" dir="5400000" dist="19050">
              <a:srgbClr val="000000">
                <a:alpha val="5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6"/>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Jak</a:t>
            </a:r>
            <a:r>
              <a:rPr b="1" lang="pl" sz="3500">
                <a:solidFill>
                  <a:schemeClr val="dk2"/>
                </a:solidFill>
                <a:latin typeface="Nunito"/>
                <a:ea typeface="Nunito"/>
                <a:cs typeface="Nunito"/>
                <a:sym typeface="Nunito"/>
              </a:rPr>
              <a:t> grać w rogach</a:t>
            </a:r>
            <a:endParaRPr b="1" sz="3900">
              <a:solidFill>
                <a:schemeClr val="dk2"/>
              </a:solidFill>
              <a:latin typeface="Nunito"/>
              <a:ea typeface="Nunito"/>
              <a:cs typeface="Nunito"/>
              <a:sym typeface="Nunito"/>
            </a:endParaRPr>
          </a:p>
        </p:txBody>
      </p:sp>
      <p:pic>
        <p:nvPicPr>
          <p:cNvPr id="87" name="Google Shape;87;p16"/>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88" name="Google Shape;88;p16"/>
          <p:cNvSpPr txBox="1"/>
          <p:nvPr/>
        </p:nvSpPr>
        <p:spPr>
          <a:xfrm>
            <a:off x="184200" y="1147725"/>
            <a:ext cx="8728500" cy="3758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W otwarciu unikamy grania na 1 oraz 2 linii i dotyczy to także rogów. </a:t>
            </a:r>
            <a:r>
              <a:rPr lang="pl">
                <a:solidFill>
                  <a:schemeClr val="lt2"/>
                </a:solidFill>
                <a:latin typeface="Nunito"/>
                <a:ea typeface="Nunito"/>
                <a:cs typeface="Nunito"/>
                <a:sym typeface="Nunito"/>
              </a:rPr>
              <a:t>Ilość</a:t>
            </a:r>
            <a:r>
              <a:rPr lang="pl">
                <a:solidFill>
                  <a:schemeClr val="lt2"/>
                </a:solidFill>
                <a:latin typeface="Nunito"/>
                <a:ea typeface="Nunito"/>
                <a:cs typeface="Nunito"/>
                <a:sym typeface="Nunito"/>
              </a:rPr>
              <a:t> opcji na sensowne umieszczenie kamienia w rogu jest w zasadzie mocno ograniczona. Omówimy 4 z nich. Punktu oznaczone jako ‘X’ to ruchy popularne w dawnych czasach. Obecnie są rzadko spotykane, ale niektóre książki nadal je omawiają.</a:t>
            </a:r>
            <a:endParaRPr>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AutoNum type="arabicPeriod"/>
            </a:pPr>
            <a:r>
              <a:rPr lang="pl">
                <a:solidFill>
                  <a:schemeClr val="lt2"/>
                </a:solidFill>
                <a:latin typeface="Nunito"/>
                <a:ea typeface="Nunito"/>
                <a:cs typeface="Nunito"/>
                <a:sym typeface="Nunito"/>
              </a:rPr>
              <a:t>3-3 - San-San - dosłownie z japońskiego 3-3.</a:t>
            </a:r>
            <a:endParaRPr>
              <a:solidFill>
                <a:schemeClr val="lt2"/>
              </a:solidFill>
              <a:latin typeface="Nunito"/>
              <a:ea typeface="Nunito"/>
              <a:cs typeface="Nunito"/>
              <a:sym typeface="Nunito"/>
            </a:endParaRPr>
          </a:p>
          <a:p>
            <a:pPr indent="-317500" lvl="0" marL="457200" rtl="0" algn="just">
              <a:spcBef>
                <a:spcPts val="0"/>
              </a:spcBef>
              <a:spcAft>
                <a:spcPts val="0"/>
              </a:spcAft>
              <a:buClr>
                <a:srgbClr val="00FF00"/>
              </a:buClr>
              <a:buSzPts val="1400"/>
              <a:buFont typeface="Nunito"/>
              <a:buAutoNum type="arabicPeriod"/>
            </a:pPr>
            <a:r>
              <a:rPr lang="pl">
                <a:solidFill>
                  <a:srgbClr val="00FF00"/>
                </a:solidFill>
                <a:latin typeface="Nunito"/>
                <a:ea typeface="Nunito"/>
                <a:cs typeface="Nunito"/>
                <a:sym typeface="Nunito"/>
              </a:rPr>
              <a:t>3-4 - Komoku</a:t>
            </a:r>
            <a:endParaRPr>
              <a:solidFill>
                <a:srgbClr val="00FF00"/>
              </a:solidFill>
              <a:latin typeface="Nunito"/>
              <a:ea typeface="Nunito"/>
              <a:cs typeface="Nunito"/>
              <a:sym typeface="Nunito"/>
            </a:endParaRPr>
          </a:p>
          <a:p>
            <a:pPr indent="-317500" lvl="0" marL="457200" marR="0" rtl="0" algn="just">
              <a:lnSpc>
                <a:spcPct val="100000"/>
              </a:lnSpc>
              <a:spcBef>
                <a:spcPts val="0"/>
              </a:spcBef>
              <a:spcAft>
                <a:spcPts val="0"/>
              </a:spcAft>
              <a:buClr>
                <a:srgbClr val="00FF00"/>
              </a:buClr>
              <a:buSzPts val="1400"/>
              <a:buFont typeface="Nunito"/>
              <a:buAutoNum type="arabicPeriod"/>
            </a:pPr>
            <a:r>
              <a:rPr lang="pl">
                <a:solidFill>
                  <a:srgbClr val="00FF00"/>
                </a:solidFill>
                <a:latin typeface="Nunito"/>
                <a:ea typeface="Nunito"/>
                <a:cs typeface="Nunito"/>
                <a:sym typeface="Nunito"/>
              </a:rPr>
              <a:t>4-3 - Komoku</a:t>
            </a:r>
            <a:endParaRPr>
              <a:solidFill>
                <a:srgbClr val="00FF00"/>
              </a:solidFill>
              <a:latin typeface="Nunito"/>
              <a:ea typeface="Nunito"/>
              <a:cs typeface="Nunito"/>
              <a:sym typeface="Nunito"/>
            </a:endParaRPr>
          </a:p>
          <a:p>
            <a:pPr indent="-317500" lvl="0" marL="457200" marR="0" rtl="0" algn="just">
              <a:lnSpc>
                <a:spcPct val="100000"/>
              </a:lnSpc>
              <a:spcBef>
                <a:spcPts val="0"/>
              </a:spcBef>
              <a:spcAft>
                <a:spcPts val="0"/>
              </a:spcAft>
              <a:buClr>
                <a:srgbClr val="00FF00"/>
              </a:buClr>
              <a:buSzPts val="1400"/>
              <a:buFont typeface="Nunito"/>
              <a:buAutoNum type="arabicPeriod"/>
            </a:pPr>
            <a:r>
              <a:rPr lang="pl">
                <a:solidFill>
                  <a:srgbClr val="00FF00"/>
                </a:solidFill>
                <a:latin typeface="Nunito"/>
                <a:ea typeface="Nunito"/>
                <a:cs typeface="Nunito"/>
                <a:sym typeface="Nunito"/>
              </a:rPr>
              <a:t>4-4 - Hoshi</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AutoNum type="arabicPeriod"/>
            </a:pPr>
            <a:r>
              <a:rPr lang="pl">
                <a:solidFill>
                  <a:schemeClr val="lt2"/>
                </a:solidFill>
                <a:latin typeface="Nunito"/>
                <a:ea typeface="Nunito"/>
                <a:cs typeface="Nunito"/>
                <a:sym typeface="Nunito"/>
              </a:rPr>
              <a:t>3-5 - Mokuhazushi</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AutoNum type="arabicPeriod"/>
            </a:pPr>
            <a:r>
              <a:rPr lang="pl">
                <a:solidFill>
                  <a:schemeClr val="lt2"/>
                </a:solidFill>
                <a:latin typeface="Nunito"/>
                <a:ea typeface="Nunito"/>
                <a:cs typeface="Nunito"/>
                <a:sym typeface="Nunito"/>
              </a:rPr>
              <a:t>5-3 - </a:t>
            </a:r>
            <a:r>
              <a:rPr lang="pl">
                <a:solidFill>
                  <a:schemeClr val="lt2"/>
                </a:solidFill>
                <a:latin typeface="Nunito"/>
                <a:ea typeface="Nunito"/>
                <a:cs typeface="Nunito"/>
                <a:sym typeface="Nunito"/>
              </a:rPr>
              <a:t>Mokuhazushi</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AutoNum type="arabicPeriod"/>
            </a:pPr>
            <a:r>
              <a:rPr lang="pl">
                <a:solidFill>
                  <a:schemeClr val="lt2"/>
                </a:solidFill>
                <a:latin typeface="Nunito"/>
                <a:ea typeface="Nunito"/>
                <a:cs typeface="Nunito"/>
                <a:sym typeface="Nunito"/>
              </a:rPr>
              <a:t>4-5 - Takamoku</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AutoNum type="arabicPeriod"/>
            </a:pPr>
            <a:r>
              <a:rPr lang="pl">
                <a:solidFill>
                  <a:schemeClr val="lt2"/>
                </a:solidFill>
                <a:latin typeface="Nunito"/>
                <a:ea typeface="Nunito"/>
                <a:cs typeface="Nunito"/>
                <a:sym typeface="Nunito"/>
              </a:rPr>
              <a:t>5-4 - Takamoku</a:t>
            </a:r>
            <a:endParaRPr>
              <a:solidFill>
                <a:schemeClr val="lt2"/>
              </a:solidFill>
              <a:latin typeface="Nunito"/>
              <a:ea typeface="Nunito"/>
              <a:cs typeface="Nunito"/>
              <a:sym typeface="Nunito"/>
            </a:endParaRPr>
          </a:p>
          <a:p>
            <a:pPr indent="0" lvl="0" marL="0" rtl="0" algn="just">
              <a:spcBef>
                <a:spcPts val="1000"/>
              </a:spcBef>
              <a:spcAft>
                <a:spcPts val="1000"/>
              </a:spcAft>
              <a:buNone/>
            </a:pPr>
            <a:r>
              <a:t/>
            </a:r>
            <a:endParaRPr>
              <a:solidFill>
                <a:schemeClr val="lt2"/>
              </a:solidFill>
              <a:latin typeface="Nunito"/>
              <a:ea typeface="Nunito"/>
              <a:cs typeface="Nunito"/>
              <a:sym typeface="Nunito"/>
            </a:endParaRPr>
          </a:p>
        </p:txBody>
      </p:sp>
      <p:pic>
        <p:nvPicPr>
          <p:cNvPr id="89" name="Google Shape;89;p16"/>
          <p:cNvPicPr preferRelativeResize="0"/>
          <p:nvPr/>
        </p:nvPicPr>
        <p:blipFill>
          <a:blip r:embed="rId3">
            <a:alphaModFix/>
          </a:blip>
          <a:stretch>
            <a:fillRect/>
          </a:stretch>
        </p:blipFill>
        <p:spPr>
          <a:xfrm>
            <a:off x="8362750" y="92735"/>
            <a:ext cx="659159" cy="894501"/>
          </a:xfrm>
          <a:prstGeom prst="rect">
            <a:avLst/>
          </a:prstGeom>
          <a:noFill/>
          <a:ln>
            <a:noFill/>
          </a:ln>
        </p:spPr>
      </p:pic>
      <p:pic>
        <p:nvPicPr>
          <p:cNvPr id="90" name="Google Shape;90;p16"/>
          <p:cNvPicPr preferRelativeResize="0"/>
          <p:nvPr/>
        </p:nvPicPr>
        <p:blipFill>
          <a:blip r:embed="rId4">
            <a:alphaModFix/>
          </a:blip>
          <a:stretch>
            <a:fillRect/>
          </a:stretch>
        </p:blipFill>
        <p:spPr>
          <a:xfrm>
            <a:off x="6016475" y="2227598"/>
            <a:ext cx="2554750" cy="2516275"/>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 name="Google Shape;96;p17"/>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San-San</a:t>
            </a:r>
            <a:endParaRPr b="1" sz="3900">
              <a:solidFill>
                <a:schemeClr val="dk2"/>
              </a:solidFill>
              <a:latin typeface="Nunito"/>
              <a:ea typeface="Nunito"/>
              <a:cs typeface="Nunito"/>
              <a:sym typeface="Nunito"/>
            </a:endParaRPr>
          </a:p>
        </p:txBody>
      </p:sp>
      <p:pic>
        <p:nvPicPr>
          <p:cNvPr id="97" name="Google Shape;97;p17"/>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98" name="Google Shape;98;p17"/>
          <p:cNvSpPr txBox="1"/>
          <p:nvPr/>
        </p:nvSpPr>
        <p:spPr>
          <a:xfrm>
            <a:off x="184200" y="1147725"/>
            <a:ext cx="5699100" cy="3758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San-San jest ruchem, który pozwala opanować terytorium w rogu jednym kamieniem. </a:t>
            </a:r>
            <a:r>
              <a:rPr lang="pl">
                <a:solidFill>
                  <a:schemeClr val="lt2"/>
                </a:solidFill>
                <a:latin typeface="Nunito"/>
                <a:ea typeface="Nunito"/>
                <a:cs typeface="Nunito"/>
                <a:sym typeface="Nunito"/>
              </a:rPr>
              <a:t>Przeciwnik</a:t>
            </a:r>
            <a:r>
              <a:rPr lang="pl">
                <a:solidFill>
                  <a:schemeClr val="lt2"/>
                </a:solidFill>
                <a:latin typeface="Nunito"/>
                <a:ea typeface="Nunito"/>
                <a:cs typeface="Nunito"/>
                <a:sym typeface="Nunito"/>
              </a:rPr>
              <a:t> nie jest w stanie zabić tego kamienia czy też przejąć terytorium w rogu. </a:t>
            </a:r>
            <a:r>
              <a:rPr lang="pl">
                <a:solidFill>
                  <a:srgbClr val="00FF00"/>
                </a:solidFill>
                <a:latin typeface="Nunito"/>
                <a:ea typeface="Nunito"/>
                <a:cs typeface="Nunito"/>
                <a:sym typeface="Nunito"/>
              </a:rPr>
              <a:t>San-san jest więc bardzo solidnym, silnym kamieniem.</a:t>
            </a:r>
            <a:r>
              <a:rPr lang="pl">
                <a:solidFill>
                  <a:schemeClr val="lt2"/>
                </a:solidFill>
                <a:latin typeface="Nunito"/>
                <a:ea typeface="Nunito"/>
                <a:cs typeface="Nunito"/>
                <a:sym typeface="Nunito"/>
              </a:rPr>
              <a:t> Czy w takim razie to jest najlepszy wybór do grania w rogu?</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W praktyce jest rzadko używany przez silnych graczy, mimo swojej solidności. </a:t>
            </a:r>
            <a:r>
              <a:rPr lang="pl">
                <a:solidFill>
                  <a:srgbClr val="FF9900"/>
                </a:solidFill>
                <a:latin typeface="Nunito"/>
                <a:ea typeface="Nunito"/>
                <a:cs typeface="Nunito"/>
                <a:sym typeface="Nunito"/>
              </a:rPr>
              <a:t>Jego poważną wadą jest trudność w wykorzystaniu tego kamienia do rozbudowy terytorium i wpływów na </a:t>
            </a:r>
            <a:r>
              <a:rPr lang="pl">
                <a:solidFill>
                  <a:srgbClr val="FF9900"/>
                </a:solidFill>
                <a:latin typeface="Nunito"/>
                <a:ea typeface="Nunito"/>
                <a:cs typeface="Nunito"/>
                <a:sym typeface="Nunito"/>
              </a:rPr>
              <a:t>sąsiadujących</a:t>
            </a:r>
            <a:r>
              <a:rPr lang="pl">
                <a:solidFill>
                  <a:srgbClr val="FF9900"/>
                </a:solidFill>
                <a:latin typeface="Nunito"/>
                <a:ea typeface="Nunito"/>
                <a:cs typeface="Nunito"/>
                <a:sym typeface="Nunito"/>
              </a:rPr>
              <a:t> z nim brzegach planszy oraz centrum.</a:t>
            </a:r>
            <a:endParaRPr>
              <a:solidFill>
                <a:srgbClr val="FF9900"/>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Terytorium otaczane w rogu przez ten kamień jest też stosunkowo małe. Bez użycia dodatkowych kamieni to raptem 4-6 pkt. Jednocześnie dosyć łatwo “przykryć” ten kamień z góry i odciąć go od reszty planszy. W wielu przypadkach sens jego istnienia, to zajęcie terenu w rogu, ale wpływ na dalszą grę może być znikomy.</a:t>
            </a:r>
            <a:endParaRPr>
              <a:solidFill>
                <a:schemeClr val="lt2"/>
              </a:solidFill>
              <a:latin typeface="Nunito"/>
              <a:ea typeface="Nunito"/>
              <a:cs typeface="Nunito"/>
              <a:sym typeface="Nunito"/>
            </a:endParaRPr>
          </a:p>
        </p:txBody>
      </p:sp>
      <p:pic>
        <p:nvPicPr>
          <p:cNvPr id="99" name="Google Shape;99;p17"/>
          <p:cNvPicPr preferRelativeResize="0"/>
          <p:nvPr/>
        </p:nvPicPr>
        <p:blipFill>
          <a:blip r:embed="rId3">
            <a:alphaModFix/>
          </a:blip>
          <a:stretch>
            <a:fillRect/>
          </a:stretch>
        </p:blipFill>
        <p:spPr>
          <a:xfrm>
            <a:off x="8362750" y="92735"/>
            <a:ext cx="659159" cy="894501"/>
          </a:xfrm>
          <a:prstGeom prst="rect">
            <a:avLst/>
          </a:prstGeom>
          <a:noFill/>
          <a:ln>
            <a:noFill/>
          </a:ln>
        </p:spPr>
      </p:pic>
      <p:pic>
        <p:nvPicPr>
          <p:cNvPr id="100" name="Google Shape;100;p17"/>
          <p:cNvPicPr preferRelativeResize="0"/>
          <p:nvPr/>
        </p:nvPicPr>
        <p:blipFill>
          <a:blip r:embed="rId4">
            <a:alphaModFix/>
          </a:blip>
          <a:stretch>
            <a:fillRect/>
          </a:stretch>
        </p:blipFill>
        <p:spPr>
          <a:xfrm>
            <a:off x="6252125" y="1701000"/>
            <a:ext cx="2616100" cy="2495925"/>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8"/>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18"/>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Hoshi</a:t>
            </a:r>
            <a:endParaRPr b="1" sz="3900">
              <a:solidFill>
                <a:schemeClr val="dk2"/>
              </a:solidFill>
              <a:latin typeface="Nunito"/>
              <a:ea typeface="Nunito"/>
              <a:cs typeface="Nunito"/>
              <a:sym typeface="Nunito"/>
            </a:endParaRPr>
          </a:p>
        </p:txBody>
      </p:sp>
      <p:pic>
        <p:nvPicPr>
          <p:cNvPr id="107" name="Google Shape;107;p18"/>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108" name="Google Shape;108;p18"/>
          <p:cNvSpPr txBox="1"/>
          <p:nvPr/>
        </p:nvSpPr>
        <p:spPr>
          <a:xfrm>
            <a:off x="177100" y="1176075"/>
            <a:ext cx="6078300" cy="3758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Hoshi (gwiazda) to ruch w punkt 4-4. Pod wieloma względami jest zaprzeczeniem san-sana. </a:t>
            </a:r>
            <a:r>
              <a:rPr lang="pl">
                <a:solidFill>
                  <a:schemeClr val="accent4"/>
                </a:solidFill>
                <a:latin typeface="Nunito"/>
                <a:ea typeface="Nunito"/>
                <a:cs typeface="Nunito"/>
                <a:sym typeface="Nunito"/>
              </a:rPr>
              <a:t>H</a:t>
            </a:r>
            <a:r>
              <a:rPr lang="pl">
                <a:solidFill>
                  <a:srgbClr val="F6B26B"/>
                </a:solidFill>
                <a:latin typeface="Nunito"/>
                <a:ea typeface="Nunito"/>
                <a:cs typeface="Nunito"/>
                <a:sym typeface="Nunito"/>
              </a:rPr>
              <a:t>oshi bowiem nie skupia na zabezpieczaniu terytorium w rogu.</a:t>
            </a:r>
            <a:r>
              <a:rPr lang="pl">
                <a:solidFill>
                  <a:schemeClr val="lt2"/>
                </a:solidFill>
                <a:latin typeface="Nunito"/>
                <a:ea typeface="Nunito"/>
                <a:cs typeface="Nunito"/>
                <a:sym typeface="Nunito"/>
              </a:rPr>
              <a:t> Punkt ‘A’ na diagramie 1 jest słabością hoshi. Jest to właśnie san-san. Bardzo często już na początku gry nasz przeciwnik wskakuje w san-sana i przejmuje nasz narożnik i nic na to nie możemy poradzić. Grając w rogu hoshi musimy być pogodzeni z tym, że przeciwnik może tak zagrać, a my możemy stracić terytorium w rogu.</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Po co więc grać w rogu kamień ustawiony tak, że nie chroni on terytorium w rogu? </a:t>
            </a:r>
            <a:r>
              <a:rPr lang="pl">
                <a:solidFill>
                  <a:srgbClr val="00FF00"/>
                </a:solidFill>
                <a:latin typeface="Nunito"/>
                <a:ea typeface="Nunito"/>
                <a:cs typeface="Nunito"/>
                <a:sym typeface="Nunito"/>
              </a:rPr>
              <a:t>Zadaniem Hoshi jest bowiem szybkie rozwijanie się od rogu na boki planszy, ekspansja wpływów i lepsza kontrola środka planszy w dalszych etapach gry.</a:t>
            </a:r>
            <a:endParaRPr>
              <a:solidFill>
                <a:srgbClr val="00FF00"/>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Warto także pamiętać, że nasz przeciwnik zabierając nam teren w rogu płaci za to cenę w postaci wpływów jakie nam daje w zamian. Pamiętajmy także, iż san-san zbyt wielu punktów w rogu nie otacza. Strata ta więc nie jest aż tak bolesna, jakby się mogło wydawać. Czasem hoshi może jednak wziąć teren w rogu, jeśli zagramy tam dodatkowe kamienie.</a:t>
            </a:r>
            <a:endParaRPr>
              <a:solidFill>
                <a:schemeClr val="lt2"/>
              </a:solidFill>
              <a:latin typeface="Nunito"/>
              <a:ea typeface="Nunito"/>
              <a:cs typeface="Nunito"/>
              <a:sym typeface="Nunito"/>
            </a:endParaRPr>
          </a:p>
        </p:txBody>
      </p:sp>
      <p:pic>
        <p:nvPicPr>
          <p:cNvPr id="109" name="Google Shape;109;p18"/>
          <p:cNvPicPr preferRelativeResize="0"/>
          <p:nvPr/>
        </p:nvPicPr>
        <p:blipFill>
          <a:blip r:embed="rId3">
            <a:alphaModFix/>
          </a:blip>
          <a:stretch>
            <a:fillRect/>
          </a:stretch>
        </p:blipFill>
        <p:spPr>
          <a:xfrm>
            <a:off x="8362750" y="92735"/>
            <a:ext cx="659159" cy="894501"/>
          </a:xfrm>
          <a:prstGeom prst="rect">
            <a:avLst/>
          </a:prstGeom>
          <a:noFill/>
          <a:ln>
            <a:noFill/>
          </a:ln>
        </p:spPr>
      </p:pic>
      <p:pic>
        <p:nvPicPr>
          <p:cNvPr id="110" name="Google Shape;110;p18"/>
          <p:cNvPicPr preferRelativeResize="0"/>
          <p:nvPr/>
        </p:nvPicPr>
        <p:blipFill>
          <a:blip r:embed="rId4">
            <a:alphaModFix/>
          </a:blip>
          <a:stretch>
            <a:fillRect/>
          </a:stretch>
        </p:blipFill>
        <p:spPr>
          <a:xfrm>
            <a:off x="6497400" y="1257888"/>
            <a:ext cx="2419350" cy="2790825"/>
          </a:xfrm>
          <a:prstGeom prst="rect">
            <a:avLst/>
          </a:prstGeom>
          <a:noFill/>
          <a:ln cap="flat" cmpd="sng" w="38100">
            <a:solidFill>
              <a:schemeClr val="lt2"/>
            </a:solidFill>
            <a:prstDash val="solid"/>
            <a:round/>
            <a:headEnd len="sm" w="sm" type="none"/>
            <a:tailEnd len="sm" w="sm" type="none"/>
          </a:ln>
        </p:spPr>
      </p:pic>
      <p:sp>
        <p:nvSpPr>
          <p:cNvPr id="111" name="Google Shape;111;p18"/>
          <p:cNvSpPr txBox="1"/>
          <p:nvPr/>
        </p:nvSpPr>
        <p:spPr>
          <a:xfrm>
            <a:off x="6857025" y="4089913"/>
            <a:ext cx="1700100" cy="237600"/>
          </a:xfrm>
          <a:prstGeom prst="rect">
            <a:avLst/>
          </a:prstGeom>
          <a:noFill/>
          <a:ln>
            <a:noFill/>
          </a:ln>
        </p:spPr>
        <p:txBody>
          <a:bodyPr anchorCtr="0" anchor="t" bIns="18000" lIns="91425" spcFirstLastPara="1" rIns="91425" wrap="square" tIns="0">
            <a:noAutofit/>
          </a:bodyPr>
          <a:lstStyle/>
          <a:p>
            <a:pPr indent="0" lvl="0" marL="0" marR="0" rtl="0" algn="ctr">
              <a:lnSpc>
                <a:spcPct val="100000"/>
              </a:lnSpc>
              <a:spcBef>
                <a:spcPts val="0"/>
              </a:spcBef>
              <a:spcAft>
                <a:spcPts val="1000"/>
              </a:spcAft>
              <a:buNone/>
            </a:pPr>
            <a:r>
              <a:rPr lang="pl">
                <a:solidFill>
                  <a:schemeClr val="lt2"/>
                </a:solidFill>
                <a:latin typeface="Nunito"/>
                <a:ea typeface="Nunito"/>
                <a:cs typeface="Nunito"/>
                <a:sym typeface="Nunito"/>
              </a:rPr>
              <a:t>Diagram 1</a:t>
            </a:r>
            <a:endParaRPr>
              <a:solidFill>
                <a:schemeClr val="lt2"/>
              </a:solidFill>
              <a:latin typeface="Nunito"/>
              <a:ea typeface="Nunito"/>
              <a:cs typeface="Nunito"/>
              <a:sym typeface="Nuni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9"/>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19"/>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Komoku</a:t>
            </a:r>
            <a:endParaRPr b="1" sz="3900">
              <a:solidFill>
                <a:schemeClr val="dk2"/>
              </a:solidFill>
              <a:latin typeface="Nunito"/>
              <a:ea typeface="Nunito"/>
              <a:cs typeface="Nunito"/>
              <a:sym typeface="Nunito"/>
            </a:endParaRPr>
          </a:p>
        </p:txBody>
      </p:sp>
      <p:pic>
        <p:nvPicPr>
          <p:cNvPr id="118" name="Google Shape;118;p19"/>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119" name="Google Shape;119;p19"/>
          <p:cNvSpPr txBox="1"/>
          <p:nvPr/>
        </p:nvSpPr>
        <p:spPr>
          <a:xfrm>
            <a:off x="177100" y="1176075"/>
            <a:ext cx="7049400" cy="3758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San-san i </a:t>
            </a:r>
            <a:r>
              <a:rPr lang="pl">
                <a:solidFill>
                  <a:schemeClr val="lt2"/>
                </a:solidFill>
                <a:latin typeface="Nunito"/>
                <a:ea typeface="Nunito"/>
                <a:cs typeface="Nunito"/>
                <a:sym typeface="Nunito"/>
              </a:rPr>
              <a:t>Hoshi są ustawione symetrycznie względem brzegów planszy. </a:t>
            </a:r>
            <a:r>
              <a:rPr lang="pl">
                <a:solidFill>
                  <a:srgbClr val="00FFFF"/>
                </a:solidFill>
                <a:latin typeface="Nunito"/>
                <a:ea typeface="Nunito"/>
                <a:cs typeface="Nunito"/>
                <a:sym typeface="Nunito"/>
              </a:rPr>
              <a:t>Komoku jest zawsze skierowane w jedną stronę.</a:t>
            </a:r>
            <a:r>
              <a:rPr lang="pl">
                <a:solidFill>
                  <a:schemeClr val="lt2"/>
                </a:solidFill>
                <a:latin typeface="Nunito"/>
                <a:ea typeface="Nunito"/>
                <a:cs typeface="Nunito"/>
                <a:sym typeface="Nunito"/>
              </a:rPr>
              <a:t> Na diagramie 1 kamień w komoku patrzy się na górną bandę, a na diagramie 2 na prawą bandę.</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Komoku ma </a:t>
            </a:r>
            <a:r>
              <a:rPr lang="pl">
                <a:solidFill>
                  <a:schemeClr val="lt2"/>
                </a:solidFill>
                <a:latin typeface="Nunito"/>
                <a:ea typeface="Nunito"/>
                <a:cs typeface="Nunito"/>
                <a:sym typeface="Nunito"/>
              </a:rPr>
              <a:t>charakterystykę</a:t>
            </a:r>
            <a:r>
              <a:rPr lang="pl">
                <a:solidFill>
                  <a:schemeClr val="lt2"/>
                </a:solidFill>
                <a:latin typeface="Nunito"/>
                <a:ea typeface="Nunito"/>
                <a:cs typeface="Nunito"/>
                <a:sym typeface="Nunito"/>
              </a:rPr>
              <a:t> pośrednią pomiędzy hoshi, a san-sanem. Samodzielnie postawiony kamień w rogu ani nie broni tak dobrze terenu w rogu jak san-san, ani nie daje tak dużych możliwości ekspansji jak hoshi. Wydaje się więc nie mieć żadnych zalet. Dlatego grając komoku </a:t>
            </a:r>
            <a:r>
              <a:rPr lang="pl">
                <a:solidFill>
                  <a:schemeClr val="lt2"/>
                </a:solidFill>
                <a:latin typeface="Nunito"/>
                <a:ea typeface="Nunito"/>
                <a:cs typeface="Nunito"/>
                <a:sym typeface="Nunito"/>
              </a:rPr>
              <a:t>chcielibyśmy</a:t>
            </a:r>
            <a:r>
              <a:rPr lang="pl">
                <a:solidFill>
                  <a:schemeClr val="lt2"/>
                </a:solidFill>
                <a:latin typeface="Nunito"/>
                <a:ea typeface="Nunito"/>
                <a:cs typeface="Nunito"/>
                <a:sym typeface="Nunito"/>
              </a:rPr>
              <a:t> dołożyć do niego kolejny kamień </a:t>
            </a:r>
            <a:br>
              <a:rPr lang="pl">
                <a:solidFill>
                  <a:schemeClr val="lt2"/>
                </a:solidFill>
                <a:latin typeface="Nunito"/>
                <a:ea typeface="Nunito"/>
                <a:cs typeface="Nunito"/>
                <a:sym typeface="Nunito"/>
              </a:rPr>
            </a:br>
            <a:r>
              <a:rPr lang="pl">
                <a:solidFill>
                  <a:schemeClr val="lt2"/>
                </a:solidFill>
                <a:latin typeface="Nunito"/>
                <a:ea typeface="Nunito"/>
                <a:cs typeface="Nunito"/>
                <a:sym typeface="Nunito"/>
              </a:rPr>
              <a:t>(diagram 3). </a:t>
            </a:r>
            <a:r>
              <a:rPr lang="pl">
                <a:solidFill>
                  <a:srgbClr val="00FFFF"/>
                </a:solidFill>
                <a:latin typeface="Nunito"/>
                <a:ea typeface="Nunito"/>
                <a:cs typeface="Nunito"/>
                <a:sym typeface="Nunito"/>
              </a:rPr>
              <a:t>Taka formacja dwóch kamieni w rogu nazywana jest shimari.</a:t>
            </a:r>
            <a:endParaRPr>
              <a:solidFill>
                <a:srgbClr val="00FFFF"/>
              </a:solidFill>
              <a:latin typeface="Nunito"/>
              <a:ea typeface="Nunito"/>
              <a:cs typeface="Nunito"/>
              <a:sym typeface="Nunito"/>
            </a:endParaRPr>
          </a:p>
          <a:p>
            <a:pPr indent="0" lvl="0" marL="0" rtl="0" algn="just">
              <a:spcBef>
                <a:spcPts val="1000"/>
              </a:spcBef>
              <a:spcAft>
                <a:spcPts val="0"/>
              </a:spcAft>
              <a:buNone/>
            </a:pPr>
            <a:r>
              <a:rPr lang="pl">
                <a:solidFill>
                  <a:srgbClr val="00FF00"/>
                </a:solidFill>
                <a:latin typeface="Nunito"/>
                <a:ea typeface="Nunito"/>
                <a:cs typeface="Nunito"/>
                <a:sym typeface="Nunito"/>
              </a:rPr>
              <a:t>Shimari od komoku łączy zalety san-sana i hoshi. </a:t>
            </a:r>
            <a:r>
              <a:rPr lang="pl">
                <a:solidFill>
                  <a:schemeClr val="lt2"/>
                </a:solidFill>
                <a:latin typeface="Nunito"/>
                <a:ea typeface="Nunito"/>
                <a:cs typeface="Nunito"/>
                <a:sym typeface="Nunito"/>
              </a:rPr>
              <a:t>Teren w rogu </a:t>
            </a:r>
            <a:br>
              <a:rPr lang="pl">
                <a:solidFill>
                  <a:schemeClr val="lt2"/>
                </a:solidFill>
                <a:latin typeface="Nunito"/>
                <a:ea typeface="Nunito"/>
                <a:cs typeface="Nunito"/>
                <a:sym typeface="Nunito"/>
              </a:rPr>
            </a:br>
            <a:r>
              <a:rPr lang="pl">
                <a:solidFill>
                  <a:schemeClr val="lt2"/>
                </a:solidFill>
                <a:latin typeface="Nunito"/>
                <a:ea typeface="Nunito"/>
                <a:cs typeface="Nunito"/>
                <a:sym typeface="Nunito"/>
              </a:rPr>
              <a:t>jest </a:t>
            </a:r>
            <a:r>
              <a:rPr lang="pl">
                <a:solidFill>
                  <a:schemeClr val="lt2"/>
                </a:solidFill>
                <a:latin typeface="Nunito"/>
                <a:ea typeface="Nunito"/>
                <a:cs typeface="Nunito"/>
                <a:sym typeface="Nunito"/>
              </a:rPr>
              <a:t>duży (minimum 10 pkt) i bezpieczny. Shimari daje też duże </a:t>
            </a:r>
            <a:br>
              <a:rPr lang="pl">
                <a:solidFill>
                  <a:schemeClr val="lt2"/>
                </a:solidFill>
                <a:latin typeface="Nunito"/>
                <a:ea typeface="Nunito"/>
                <a:cs typeface="Nunito"/>
                <a:sym typeface="Nunito"/>
              </a:rPr>
            </a:br>
            <a:r>
              <a:rPr lang="pl">
                <a:solidFill>
                  <a:schemeClr val="lt2"/>
                </a:solidFill>
                <a:latin typeface="Nunito"/>
                <a:ea typeface="Nunito"/>
                <a:cs typeface="Nunito"/>
                <a:sym typeface="Nunito"/>
              </a:rPr>
              <a:t>możliwości szybkiej ekspansji.</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rgbClr val="FF9900"/>
                </a:solidFill>
                <a:latin typeface="Nunito"/>
                <a:ea typeface="Nunito"/>
                <a:cs typeface="Nunito"/>
                <a:sym typeface="Nunito"/>
              </a:rPr>
              <a:t>Zbudowanie shimari wymaga jednak 2 ruchów</a:t>
            </a:r>
            <a:r>
              <a:rPr lang="pl">
                <a:solidFill>
                  <a:schemeClr val="lt2"/>
                </a:solidFill>
                <a:latin typeface="Nunito"/>
                <a:ea typeface="Nunito"/>
                <a:cs typeface="Nunito"/>
                <a:sym typeface="Nunito"/>
              </a:rPr>
              <a:t>, a to oznacza, </a:t>
            </a:r>
            <a:br>
              <a:rPr lang="pl">
                <a:solidFill>
                  <a:schemeClr val="lt2"/>
                </a:solidFill>
                <a:latin typeface="Nunito"/>
                <a:ea typeface="Nunito"/>
                <a:cs typeface="Nunito"/>
                <a:sym typeface="Nunito"/>
              </a:rPr>
            </a:br>
            <a:r>
              <a:rPr lang="pl">
                <a:solidFill>
                  <a:schemeClr val="lt2"/>
                </a:solidFill>
                <a:latin typeface="Nunito"/>
                <a:ea typeface="Nunito"/>
                <a:cs typeface="Nunito"/>
                <a:sym typeface="Nunito"/>
              </a:rPr>
              <a:t>że nasz przeciwnik może nam uniemożliwić zbudowanie </a:t>
            </a:r>
            <a:br>
              <a:rPr lang="pl">
                <a:solidFill>
                  <a:schemeClr val="lt2"/>
                </a:solidFill>
                <a:latin typeface="Nunito"/>
                <a:ea typeface="Nunito"/>
                <a:cs typeface="Nunito"/>
                <a:sym typeface="Nunito"/>
              </a:rPr>
            </a:br>
            <a:r>
              <a:rPr lang="pl">
                <a:solidFill>
                  <a:schemeClr val="lt2"/>
                </a:solidFill>
                <a:latin typeface="Nunito"/>
                <a:ea typeface="Nunito"/>
                <a:cs typeface="Nunito"/>
                <a:sym typeface="Nunito"/>
              </a:rPr>
              <a:t>shimari lub w tym czasie samemu zająć jakiś ważny punkt </a:t>
            </a:r>
            <a:br>
              <a:rPr lang="pl">
                <a:solidFill>
                  <a:schemeClr val="lt2"/>
                </a:solidFill>
                <a:latin typeface="Nunito"/>
                <a:ea typeface="Nunito"/>
                <a:cs typeface="Nunito"/>
                <a:sym typeface="Nunito"/>
              </a:rPr>
            </a:br>
            <a:r>
              <a:rPr lang="pl">
                <a:solidFill>
                  <a:schemeClr val="lt2"/>
                </a:solidFill>
                <a:latin typeface="Nunito"/>
                <a:ea typeface="Nunito"/>
                <a:cs typeface="Nunito"/>
                <a:sym typeface="Nunito"/>
              </a:rPr>
              <a:t>na planszy.</a:t>
            </a:r>
            <a:endParaRPr>
              <a:solidFill>
                <a:schemeClr val="lt2"/>
              </a:solidFill>
              <a:latin typeface="Nunito"/>
              <a:ea typeface="Nunito"/>
              <a:cs typeface="Nunito"/>
              <a:sym typeface="Nunito"/>
            </a:endParaRPr>
          </a:p>
        </p:txBody>
      </p:sp>
      <p:pic>
        <p:nvPicPr>
          <p:cNvPr id="120" name="Google Shape;120;p19"/>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121" name="Google Shape;121;p19"/>
          <p:cNvSpPr txBox="1"/>
          <p:nvPr/>
        </p:nvSpPr>
        <p:spPr>
          <a:xfrm>
            <a:off x="7345650" y="4879138"/>
            <a:ext cx="1700100" cy="237600"/>
          </a:xfrm>
          <a:prstGeom prst="rect">
            <a:avLst/>
          </a:prstGeom>
          <a:noFill/>
          <a:ln>
            <a:noFill/>
          </a:ln>
        </p:spPr>
        <p:txBody>
          <a:bodyPr anchorCtr="0" anchor="t" bIns="18000" lIns="91425" spcFirstLastPara="1" rIns="91425" wrap="square" tIns="0">
            <a:noAutofit/>
          </a:bodyPr>
          <a:lstStyle/>
          <a:p>
            <a:pPr indent="0" lvl="0" marL="0" marR="0" rtl="0" algn="ctr">
              <a:lnSpc>
                <a:spcPct val="100000"/>
              </a:lnSpc>
              <a:spcBef>
                <a:spcPts val="0"/>
              </a:spcBef>
              <a:spcAft>
                <a:spcPts val="1000"/>
              </a:spcAft>
              <a:buNone/>
            </a:pPr>
            <a:r>
              <a:rPr lang="pl" sz="1200">
                <a:solidFill>
                  <a:schemeClr val="lt2"/>
                </a:solidFill>
                <a:latin typeface="Nunito"/>
                <a:ea typeface="Nunito"/>
                <a:cs typeface="Nunito"/>
                <a:sym typeface="Nunito"/>
              </a:rPr>
              <a:t>Diagram 2</a:t>
            </a:r>
            <a:endParaRPr sz="1200">
              <a:solidFill>
                <a:schemeClr val="lt2"/>
              </a:solidFill>
              <a:latin typeface="Nunito"/>
              <a:ea typeface="Nunito"/>
              <a:cs typeface="Nunito"/>
              <a:sym typeface="Nunito"/>
            </a:endParaRPr>
          </a:p>
        </p:txBody>
      </p:sp>
      <p:pic>
        <p:nvPicPr>
          <p:cNvPr id="122" name="Google Shape;122;p19"/>
          <p:cNvPicPr preferRelativeResize="0"/>
          <p:nvPr/>
        </p:nvPicPr>
        <p:blipFill>
          <a:blip r:embed="rId4">
            <a:alphaModFix/>
          </a:blip>
          <a:stretch>
            <a:fillRect/>
          </a:stretch>
        </p:blipFill>
        <p:spPr>
          <a:xfrm>
            <a:off x="7445701" y="1099874"/>
            <a:ext cx="1500000" cy="1309578"/>
          </a:xfrm>
          <a:prstGeom prst="rect">
            <a:avLst/>
          </a:prstGeom>
          <a:noFill/>
          <a:ln cap="flat" cmpd="sng" w="38100">
            <a:solidFill>
              <a:schemeClr val="lt2"/>
            </a:solidFill>
            <a:prstDash val="solid"/>
            <a:round/>
            <a:headEnd len="sm" w="sm" type="none"/>
            <a:tailEnd len="sm" w="sm" type="none"/>
          </a:ln>
        </p:spPr>
      </p:pic>
      <p:pic>
        <p:nvPicPr>
          <p:cNvPr id="123" name="Google Shape;123;p19"/>
          <p:cNvPicPr preferRelativeResize="0"/>
          <p:nvPr/>
        </p:nvPicPr>
        <p:blipFill>
          <a:blip r:embed="rId5">
            <a:alphaModFix/>
          </a:blip>
          <a:stretch>
            <a:fillRect/>
          </a:stretch>
        </p:blipFill>
        <p:spPr>
          <a:xfrm>
            <a:off x="7517187" y="2799450"/>
            <a:ext cx="1357025" cy="2003500"/>
          </a:xfrm>
          <a:prstGeom prst="rect">
            <a:avLst/>
          </a:prstGeom>
          <a:noFill/>
          <a:ln cap="flat" cmpd="sng" w="38100">
            <a:solidFill>
              <a:schemeClr val="lt2"/>
            </a:solidFill>
            <a:prstDash val="solid"/>
            <a:round/>
            <a:headEnd len="sm" w="sm" type="none"/>
            <a:tailEnd len="sm" w="sm" type="none"/>
          </a:ln>
        </p:spPr>
      </p:pic>
      <p:sp>
        <p:nvSpPr>
          <p:cNvPr id="124" name="Google Shape;124;p19"/>
          <p:cNvSpPr txBox="1"/>
          <p:nvPr/>
        </p:nvSpPr>
        <p:spPr>
          <a:xfrm>
            <a:off x="7445700" y="2485650"/>
            <a:ext cx="1500000" cy="237600"/>
          </a:xfrm>
          <a:prstGeom prst="rect">
            <a:avLst/>
          </a:prstGeom>
          <a:noFill/>
          <a:ln>
            <a:noFill/>
          </a:ln>
        </p:spPr>
        <p:txBody>
          <a:bodyPr anchorCtr="0" anchor="t" bIns="18000" lIns="91425" spcFirstLastPara="1" rIns="91425" wrap="square" tIns="0">
            <a:noAutofit/>
          </a:bodyPr>
          <a:lstStyle/>
          <a:p>
            <a:pPr indent="0" lvl="0" marL="0" marR="0" rtl="0" algn="ctr">
              <a:lnSpc>
                <a:spcPct val="100000"/>
              </a:lnSpc>
              <a:spcBef>
                <a:spcPts val="1000"/>
              </a:spcBef>
              <a:spcAft>
                <a:spcPts val="1000"/>
              </a:spcAft>
              <a:buNone/>
            </a:pPr>
            <a:r>
              <a:rPr lang="pl" sz="1200">
                <a:solidFill>
                  <a:schemeClr val="lt2"/>
                </a:solidFill>
                <a:latin typeface="Nunito"/>
                <a:ea typeface="Nunito"/>
                <a:cs typeface="Nunito"/>
                <a:sym typeface="Nunito"/>
              </a:rPr>
              <a:t>Diagram 1</a:t>
            </a:r>
            <a:endParaRPr sz="1200">
              <a:solidFill>
                <a:schemeClr val="lt2"/>
              </a:solidFill>
              <a:latin typeface="Nunito"/>
              <a:ea typeface="Nunito"/>
              <a:cs typeface="Nunito"/>
              <a:sym typeface="Nunito"/>
            </a:endParaRPr>
          </a:p>
        </p:txBody>
      </p:sp>
      <p:pic>
        <p:nvPicPr>
          <p:cNvPr id="125" name="Google Shape;125;p19"/>
          <p:cNvPicPr preferRelativeResize="0"/>
          <p:nvPr/>
        </p:nvPicPr>
        <p:blipFill>
          <a:blip r:embed="rId6">
            <a:alphaModFix/>
          </a:blip>
          <a:stretch>
            <a:fillRect/>
          </a:stretch>
        </p:blipFill>
        <p:spPr>
          <a:xfrm>
            <a:off x="5589426" y="3158976"/>
            <a:ext cx="1588603" cy="1643975"/>
          </a:xfrm>
          <a:prstGeom prst="rect">
            <a:avLst/>
          </a:prstGeom>
          <a:noFill/>
          <a:ln cap="flat" cmpd="sng" w="38100">
            <a:solidFill>
              <a:schemeClr val="lt2"/>
            </a:solidFill>
            <a:prstDash val="solid"/>
            <a:round/>
            <a:headEnd len="sm" w="sm" type="none"/>
            <a:tailEnd len="sm" w="sm" type="none"/>
          </a:ln>
        </p:spPr>
      </p:pic>
      <p:sp>
        <p:nvSpPr>
          <p:cNvPr id="126" name="Google Shape;126;p19"/>
          <p:cNvSpPr txBox="1"/>
          <p:nvPr/>
        </p:nvSpPr>
        <p:spPr>
          <a:xfrm>
            <a:off x="5533675" y="4879138"/>
            <a:ext cx="1700100" cy="237600"/>
          </a:xfrm>
          <a:prstGeom prst="rect">
            <a:avLst/>
          </a:prstGeom>
          <a:noFill/>
          <a:ln>
            <a:noFill/>
          </a:ln>
        </p:spPr>
        <p:txBody>
          <a:bodyPr anchorCtr="0" anchor="t" bIns="18000" lIns="91425" spcFirstLastPara="1" rIns="91425" wrap="square" tIns="0">
            <a:noAutofit/>
          </a:bodyPr>
          <a:lstStyle/>
          <a:p>
            <a:pPr indent="0" lvl="0" marL="0" marR="0" rtl="0" algn="ctr">
              <a:lnSpc>
                <a:spcPct val="100000"/>
              </a:lnSpc>
              <a:spcBef>
                <a:spcPts val="0"/>
              </a:spcBef>
              <a:spcAft>
                <a:spcPts val="1000"/>
              </a:spcAft>
              <a:buNone/>
            </a:pPr>
            <a:r>
              <a:rPr lang="pl" sz="1200">
                <a:solidFill>
                  <a:schemeClr val="lt2"/>
                </a:solidFill>
                <a:latin typeface="Nunito"/>
                <a:ea typeface="Nunito"/>
                <a:cs typeface="Nunito"/>
                <a:sym typeface="Nunito"/>
              </a:rPr>
              <a:t>Diagram 3</a:t>
            </a:r>
            <a:endParaRPr sz="1200">
              <a:solidFill>
                <a:schemeClr val="lt2"/>
              </a:solidFill>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 name="Google Shape;132;p20"/>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Rodzaje shimari dla komoku</a:t>
            </a:r>
            <a:endParaRPr b="1" sz="3900">
              <a:solidFill>
                <a:schemeClr val="dk2"/>
              </a:solidFill>
              <a:latin typeface="Nunito"/>
              <a:ea typeface="Nunito"/>
              <a:cs typeface="Nunito"/>
              <a:sym typeface="Nunito"/>
            </a:endParaRPr>
          </a:p>
        </p:txBody>
      </p:sp>
      <p:pic>
        <p:nvPicPr>
          <p:cNvPr id="133" name="Google Shape;133;p20"/>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134" name="Google Shape;134;p20"/>
          <p:cNvSpPr txBox="1"/>
          <p:nvPr/>
        </p:nvSpPr>
        <p:spPr>
          <a:xfrm>
            <a:off x="184200" y="1107900"/>
            <a:ext cx="7063500" cy="1956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Istnieją 4 rodzaje shimari utworzone od kamienia zagranego w komoku:</a:t>
            </a:r>
            <a:endParaRPr>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AutoNum type="arabicPeriod"/>
            </a:pPr>
            <a:r>
              <a:rPr lang="pl">
                <a:solidFill>
                  <a:schemeClr val="lt2"/>
                </a:solidFill>
                <a:latin typeface="Nunito"/>
                <a:ea typeface="Nunito"/>
                <a:cs typeface="Nunito"/>
                <a:sym typeface="Nunito"/>
              </a:rPr>
              <a:t>Małe niskie - najłatwiejsze, solidnie broni terenu w rogu (diagram 2)</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AutoNum type="arabicPeriod"/>
            </a:pPr>
            <a:r>
              <a:rPr lang="pl">
                <a:solidFill>
                  <a:schemeClr val="lt2"/>
                </a:solidFill>
                <a:latin typeface="Nunito"/>
                <a:ea typeface="Nunito"/>
                <a:cs typeface="Nunito"/>
                <a:sym typeface="Nunito"/>
              </a:rPr>
              <a:t>Małe wysokie - przedkłada wpływy nad teren w rogu (diagram 3)</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AutoNum type="arabicPeriod"/>
            </a:pPr>
            <a:r>
              <a:rPr lang="pl">
                <a:solidFill>
                  <a:schemeClr val="lt2"/>
                </a:solidFill>
                <a:latin typeface="Nunito"/>
                <a:ea typeface="Nunito"/>
                <a:cs typeface="Nunito"/>
                <a:sym typeface="Nunito"/>
              </a:rPr>
              <a:t>Duże niskie - próbuje otoczyć ogromny róg, ale ma pewne słabości (diagram 4)</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AutoNum type="arabicPeriod"/>
            </a:pPr>
            <a:r>
              <a:rPr lang="pl">
                <a:solidFill>
                  <a:schemeClr val="lt2"/>
                </a:solidFill>
                <a:latin typeface="Nunito"/>
                <a:ea typeface="Nunito"/>
                <a:cs typeface="Nunito"/>
                <a:sym typeface="Nunito"/>
              </a:rPr>
              <a:t>Duże wysokie - szybkie budowanie dużych wpływów, dużo słabości (diagram 5)</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Każde z tych shimari ma nieco inne przeznaczenie i </a:t>
            </a:r>
            <a:r>
              <a:rPr lang="pl">
                <a:solidFill>
                  <a:schemeClr val="lt2"/>
                </a:solidFill>
                <a:latin typeface="Nunito"/>
                <a:ea typeface="Nunito"/>
                <a:cs typeface="Nunito"/>
                <a:sym typeface="Nunito"/>
              </a:rPr>
              <a:t>właściwości</a:t>
            </a:r>
            <a:r>
              <a:rPr lang="pl">
                <a:solidFill>
                  <a:schemeClr val="lt2"/>
                </a:solidFill>
                <a:latin typeface="Nunito"/>
                <a:ea typeface="Nunito"/>
                <a:cs typeface="Nunito"/>
                <a:sym typeface="Nunito"/>
              </a:rPr>
              <a:t>. Warto je znać i mieć </a:t>
            </a:r>
            <a:r>
              <a:rPr lang="pl">
                <a:solidFill>
                  <a:schemeClr val="lt2"/>
                </a:solidFill>
                <a:latin typeface="Nunito"/>
                <a:ea typeface="Nunito"/>
                <a:cs typeface="Nunito"/>
                <a:sym typeface="Nunito"/>
              </a:rPr>
              <a:t>świadomość tego co gramy, aby jak najlepiej wykorzystać nasze shimari.</a:t>
            </a:r>
            <a:endParaRPr>
              <a:solidFill>
                <a:schemeClr val="lt2"/>
              </a:solidFill>
              <a:latin typeface="Nunito"/>
              <a:ea typeface="Nunito"/>
              <a:cs typeface="Nunito"/>
              <a:sym typeface="Nunito"/>
            </a:endParaRPr>
          </a:p>
        </p:txBody>
      </p:sp>
      <p:pic>
        <p:nvPicPr>
          <p:cNvPr id="135" name="Google Shape;135;p20"/>
          <p:cNvPicPr preferRelativeResize="0"/>
          <p:nvPr/>
        </p:nvPicPr>
        <p:blipFill>
          <a:blip r:embed="rId3">
            <a:alphaModFix/>
          </a:blip>
          <a:stretch>
            <a:fillRect/>
          </a:stretch>
        </p:blipFill>
        <p:spPr>
          <a:xfrm>
            <a:off x="8362750" y="92735"/>
            <a:ext cx="659159" cy="894501"/>
          </a:xfrm>
          <a:prstGeom prst="rect">
            <a:avLst/>
          </a:prstGeom>
          <a:noFill/>
          <a:ln>
            <a:noFill/>
          </a:ln>
        </p:spPr>
      </p:pic>
      <p:grpSp>
        <p:nvGrpSpPr>
          <p:cNvPr id="136" name="Google Shape;136;p20"/>
          <p:cNvGrpSpPr/>
          <p:nvPr/>
        </p:nvGrpSpPr>
        <p:grpSpPr>
          <a:xfrm>
            <a:off x="7284785" y="1271820"/>
            <a:ext cx="1520717" cy="1792092"/>
            <a:chOff x="7277467" y="1271820"/>
            <a:chExt cx="1520717" cy="1792092"/>
          </a:xfrm>
        </p:grpSpPr>
        <p:sp>
          <p:nvSpPr>
            <p:cNvPr id="137" name="Google Shape;137;p20"/>
            <p:cNvSpPr txBox="1"/>
            <p:nvPr/>
          </p:nvSpPr>
          <p:spPr>
            <a:xfrm>
              <a:off x="7307483" y="2826313"/>
              <a:ext cx="1490700" cy="237600"/>
            </a:xfrm>
            <a:prstGeom prst="rect">
              <a:avLst/>
            </a:prstGeom>
            <a:noFill/>
            <a:ln>
              <a:noFill/>
            </a:ln>
          </p:spPr>
          <p:txBody>
            <a:bodyPr anchorCtr="0" anchor="t" bIns="18000" lIns="91425" spcFirstLastPara="1" rIns="91425" wrap="square" tIns="0">
              <a:noAutofit/>
            </a:bodyPr>
            <a:lstStyle/>
            <a:p>
              <a:pPr indent="0" lvl="0" marL="0" marR="0" rtl="0" algn="ctr">
                <a:lnSpc>
                  <a:spcPct val="100000"/>
                </a:lnSpc>
                <a:spcBef>
                  <a:spcPts val="0"/>
                </a:spcBef>
                <a:spcAft>
                  <a:spcPts val="1000"/>
                </a:spcAft>
                <a:buNone/>
              </a:pPr>
              <a:r>
                <a:rPr lang="pl" sz="1200">
                  <a:solidFill>
                    <a:schemeClr val="lt2"/>
                  </a:solidFill>
                  <a:latin typeface="Nunito"/>
                  <a:ea typeface="Nunito"/>
                  <a:cs typeface="Nunito"/>
                  <a:sym typeface="Nunito"/>
                </a:rPr>
                <a:t>Diagram 1</a:t>
              </a:r>
              <a:endParaRPr sz="1200">
                <a:solidFill>
                  <a:schemeClr val="lt2"/>
                </a:solidFill>
                <a:latin typeface="Nunito"/>
                <a:ea typeface="Nunito"/>
                <a:cs typeface="Nunito"/>
                <a:sym typeface="Nunito"/>
              </a:endParaRPr>
            </a:p>
          </p:txBody>
        </p:sp>
        <p:pic>
          <p:nvPicPr>
            <p:cNvPr id="138" name="Google Shape;138;p20"/>
            <p:cNvPicPr preferRelativeResize="0"/>
            <p:nvPr/>
          </p:nvPicPr>
          <p:blipFill>
            <a:blip r:embed="rId4">
              <a:alphaModFix/>
            </a:blip>
            <a:stretch>
              <a:fillRect/>
            </a:stretch>
          </p:blipFill>
          <p:spPr>
            <a:xfrm>
              <a:off x="7277467" y="1271820"/>
              <a:ext cx="1519975" cy="1520001"/>
            </a:xfrm>
            <a:prstGeom prst="rect">
              <a:avLst/>
            </a:prstGeom>
            <a:noFill/>
            <a:ln cap="flat" cmpd="sng" w="38100">
              <a:solidFill>
                <a:schemeClr val="lt2"/>
              </a:solidFill>
              <a:prstDash val="solid"/>
              <a:round/>
              <a:headEnd len="sm" w="sm" type="none"/>
              <a:tailEnd len="sm" w="sm" type="none"/>
            </a:ln>
          </p:spPr>
        </p:pic>
      </p:grpSp>
      <p:grpSp>
        <p:nvGrpSpPr>
          <p:cNvPr id="139" name="Google Shape;139;p20"/>
          <p:cNvGrpSpPr/>
          <p:nvPr/>
        </p:nvGrpSpPr>
        <p:grpSpPr>
          <a:xfrm>
            <a:off x="7285157" y="3226376"/>
            <a:ext cx="1519973" cy="1874649"/>
            <a:chOff x="7292847" y="3226376"/>
            <a:chExt cx="1519973" cy="1874649"/>
          </a:xfrm>
        </p:grpSpPr>
        <p:pic>
          <p:nvPicPr>
            <p:cNvPr id="140" name="Google Shape;140;p20"/>
            <p:cNvPicPr preferRelativeResize="0"/>
            <p:nvPr/>
          </p:nvPicPr>
          <p:blipFill>
            <a:blip r:embed="rId5">
              <a:alphaModFix/>
            </a:blip>
            <a:stretch>
              <a:fillRect/>
            </a:stretch>
          </p:blipFill>
          <p:spPr>
            <a:xfrm>
              <a:off x="7292847" y="3226376"/>
              <a:ext cx="1519973" cy="1586350"/>
            </a:xfrm>
            <a:prstGeom prst="rect">
              <a:avLst/>
            </a:prstGeom>
            <a:noFill/>
            <a:ln cap="flat" cmpd="sng" w="38100">
              <a:solidFill>
                <a:schemeClr val="lt2"/>
              </a:solidFill>
              <a:prstDash val="solid"/>
              <a:round/>
              <a:headEnd len="sm" w="sm" type="none"/>
              <a:tailEnd len="sm" w="sm" type="none"/>
            </a:ln>
          </p:spPr>
        </p:pic>
        <p:sp>
          <p:nvSpPr>
            <p:cNvPr id="141" name="Google Shape;141;p20"/>
            <p:cNvSpPr txBox="1"/>
            <p:nvPr/>
          </p:nvSpPr>
          <p:spPr>
            <a:xfrm>
              <a:off x="7443681" y="4863425"/>
              <a:ext cx="1218300" cy="237600"/>
            </a:xfrm>
            <a:prstGeom prst="rect">
              <a:avLst/>
            </a:prstGeom>
            <a:noFill/>
            <a:ln>
              <a:noFill/>
            </a:ln>
          </p:spPr>
          <p:txBody>
            <a:bodyPr anchorCtr="0" anchor="t" bIns="18000" lIns="91425" spcFirstLastPara="1" rIns="91425" wrap="square" tIns="0">
              <a:noAutofit/>
            </a:bodyPr>
            <a:lstStyle/>
            <a:p>
              <a:pPr indent="0" lvl="0" marL="0" marR="0" rtl="0" algn="ctr">
                <a:lnSpc>
                  <a:spcPct val="100000"/>
                </a:lnSpc>
                <a:spcBef>
                  <a:spcPts val="0"/>
                </a:spcBef>
                <a:spcAft>
                  <a:spcPts val="1000"/>
                </a:spcAft>
                <a:buNone/>
              </a:pPr>
              <a:r>
                <a:rPr lang="pl" sz="1200">
                  <a:solidFill>
                    <a:schemeClr val="lt2"/>
                  </a:solidFill>
                  <a:latin typeface="Nunito"/>
                  <a:ea typeface="Nunito"/>
                  <a:cs typeface="Nunito"/>
                  <a:sym typeface="Nunito"/>
                </a:rPr>
                <a:t>Diagram 2</a:t>
              </a:r>
              <a:endParaRPr sz="1200">
                <a:solidFill>
                  <a:schemeClr val="lt2"/>
                </a:solidFill>
                <a:latin typeface="Nunito"/>
                <a:ea typeface="Nunito"/>
                <a:cs typeface="Nunito"/>
                <a:sym typeface="Nunito"/>
              </a:endParaRPr>
            </a:p>
          </p:txBody>
        </p:sp>
      </p:grpSp>
      <p:grpSp>
        <p:nvGrpSpPr>
          <p:cNvPr id="142" name="Google Shape;142;p20"/>
          <p:cNvGrpSpPr/>
          <p:nvPr/>
        </p:nvGrpSpPr>
        <p:grpSpPr>
          <a:xfrm>
            <a:off x="5166736" y="3227674"/>
            <a:ext cx="1519975" cy="1873351"/>
            <a:chOff x="5150200" y="3227674"/>
            <a:chExt cx="1519975" cy="1873351"/>
          </a:xfrm>
        </p:grpSpPr>
        <p:pic>
          <p:nvPicPr>
            <p:cNvPr id="143" name="Google Shape;143;p20"/>
            <p:cNvPicPr preferRelativeResize="0"/>
            <p:nvPr/>
          </p:nvPicPr>
          <p:blipFill>
            <a:blip r:embed="rId6">
              <a:alphaModFix/>
            </a:blip>
            <a:stretch>
              <a:fillRect/>
            </a:stretch>
          </p:blipFill>
          <p:spPr>
            <a:xfrm>
              <a:off x="5150200" y="3227674"/>
              <a:ext cx="1519975" cy="1592136"/>
            </a:xfrm>
            <a:prstGeom prst="rect">
              <a:avLst/>
            </a:prstGeom>
            <a:noFill/>
            <a:ln cap="flat" cmpd="sng" w="38100">
              <a:solidFill>
                <a:schemeClr val="lt2"/>
              </a:solidFill>
              <a:prstDash val="solid"/>
              <a:round/>
              <a:headEnd len="sm" w="sm" type="none"/>
              <a:tailEnd len="sm" w="sm" type="none"/>
            </a:ln>
          </p:spPr>
        </p:pic>
        <p:sp>
          <p:nvSpPr>
            <p:cNvPr id="144" name="Google Shape;144;p20"/>
            <p:cNvSpPr txBox="1"/>
            <p:nvPr/>
          </p:nvSpPr>
          <p:spPr>
            <a:xfrm>
              <a:off x="5301047" y="4863425"/>
              <a:ext cx="1218300" cy="237600"/>
            </a:xfrm>
            <a:prstGeom prst="rect">
              <a:avLst/>
            </a:prstGeom>
            <a:noFill/>
            <a:ln>
              <a:noFill/>
            </a:ln>
          </p:spPr>
          <p:txBody>
            <a:bodyPr anchorCtr="0" anchor="t" bIns="18000" lIns="91425" spcFirstLastPara="1" rIns="91425" wrap="square" tIns="0">
              <a:noAutofit/>
            </a:bodyPr>
            <a:lstStyle/>
            <a:p>
              <a:pPr indent="0" lvl="0" marL="0" marR="0" rtl="0" algn="ctr">
                <a:lnSpc>
                  <a:spcPct val="100000"/>
                </a:lnSpc>
                <a:spcBef>
                  <a:spcPts val="0"/>
                </a:spcBef>
                <a:spcAft>
                  <a:spcPts val="1000"/>
                </a:spcAft>
                <a:buNone/>
              </a:pPr>
              <a:r>
                <a:rPr lang="pl" sz="1200">
                  <a:solidFill>
                    <a:schemeClr val="lt2"/>
                  </a:solidFill>
                  <a:latin typeface="Nunito"/>
                  <a:ea typeface="Nunito"/>
                  <a:cs typeface="Nunito"/>
                  <a:sym typeface="Nunito"/>
                </a:rPr>
                <a:t>Diagram 3</a:t>
              </a:r>
              <a:endParaRPr sz="1200">
                <a:solidFill>
                  <a:schemeClr val="lt2"/>
                </a:solidFill>
                <a:latin typeface="Nunito"/>
                <a:ea typeface="Nunito"/>
                <a:cs typeface="Nunito"/>
                <a:sym typeface="Nunito"/>
              </a:endParaRPr>
            </a:p>
          </p:txBody>
        </p:sp>
      </p:grpSp>
      <p:grpSp>
        <p:nvGrpSpPr>
          <p:cNvPr id="145" name="Google Shape;145;p20"/>
          <p:cNvGrpSpPr/>
          <p:nvPr/>
        </p:nvGrpSpPr>
        <p:grpSpPr>
          <a:xfrm>
            <a:off x="2819380" y="3220600"/>
            <a:ext cx="1741221" cy="1880425"/>
            <a:chOff x="2805829" y="3220600"/>
            <a:chExt cx="1741221" cy="1880425"/>
          </a:xfrm>
        </p:grpSpPr>
        <p:pic>
          <p:nvPicPr>
            <p:cNvPr id="146" name="Google Shape;146;p20"/>
            <p:cNvPicPr preferRelativeResize="0"/>
            <p:nvPr/>
          </p:nvPicPr>
          <p:blipFill>
            <a:blip r:embed="rId7">
              <a:alphaModFix/>
            </a:blip>
            <a:stretch>
              <a:fillRect/>
            </a:stretch>
          </p:blipFill>
          <p:spPr>
            <a:xfrm>
              <a:off x="2805829" y="3220600"/>
              <a:ext cx="1741221" cy="1592125"/>
            </a:xfrm>
            <a:prstGeom prst="rect">
              <a:avLst/>
            </a:prstGeom>
            <a:noFill/>
            <a:ln cap="flat" cmpd="sng" w="38100">
              <a:solidFill>
                <a:schemeClr val="lt2"/>
              </a:solidFill>
              <a:prstDash val="solid"/>
              <a:round/>
              <a:headEnd len="sm" w="sm" type="none"/>
              <a:tailEnd len="sm" w="sm" type="none"/>
            </a:ln>
          </p:spPr>
        </p:pic>
        <p:sp>
          <p:nvSpPr>
            <p:cNvPr id="147" name="Google Shape;147;p20"/>
            <p:cNvSpPr txBox="1"/>
            <p:nvPr/>
          </p:nvSpPr>
          <p:spPr>
            <a:xfrm>
              <a:off x="3067297" y="4863425"/>
              <a:ext cx="1218300" cy="237600"/>
            </a:xfrm>
            <a:prstGeom prst="rect">
              <a:avLst/>
            </a:prstGeom>
            <a:noFill/>
            <a:ln>
              <a:noFill/>
            </a:ln>
          </p:spPr>
          <p:txBody>
            <a:bodyPr anchorCtr="0" anchor="t" bIns="18000" lIns="91425" spcFirstLastPara="1" rIns="91425" wrap="square" tIns="0">
              <a:noAutofit/>
            </a:bodyPr>
            <a:lstStyle/>
            <a:p>
              <a:pPr indent="0" lvl="0" marL="0" marR="0" rtl="0" algn="ctr">
                <a:lnSpc>
                  <a:spcPct val="100000"/>
                </a:lnSpc>
                <a:spcBef>
                  <a:spcPts val="0"/>
                </a:spcBef>
                <a:spcAft>
                  <a:spcPts val="1000"/>
                </a:spcAft>
                <a:buNone/>
              </a:pPr>
              <a:r>
                <a:rPr lang="pl" sz="1200">
                  <a:solidFill>
                    <a:schemeClr val="lt2"/>
                  </a:solidFill>
                  <a:latin typeface="Nunito"/>
                  <a:ea typeface="Nunito"/>
                  <a:cs typeface="Nunito"/>
                  <a:sym typeface="Nunito"/>
                </a:rPr>
                <a:t>Diagram 4</a:t>
              </a:r>
              <a:endParaRPr sz="1200">
                <a:solidFill>
                  <a:schemeClr val="lt2"/>
                </a:solidFill>
                <a:latin typeface="Nunito"/>
                <a:ea typeface="Nunito"/>
                <a:cs typeface="Nunito"/>
                <a:sym typeface="Nunito"/>
              </a:endParaRPr>
            </a:p>
          </p:txBody>
        </p:sp>
      </p:grpSp>
      <p:grpSp>
        <p:nvGrpSpPr>
          <p:cNvPr id="148" name="Google Shape;148;p20"/>
          <p:cNvGrpSpPr/>
          <p:nvPr/>
        </p:nvGrpSpPr>
        <p:grpSpPr>
          <a:xfrm>
            <a:off x="358501" y="3226732"/>
            <a:ext cx="1854744" cy="1868155"/>
            <a:chOff x="344301" y="3220595"/>
            <a:chExt cx="1854744" cy="1868155"/>
          </a:xfrm>
        </p:grpSpPr>
        <p:pic>
          <p:nvPicPr>
            <p:cNvPr id="149" name="Google Shape;149;p20"/>
            <p:cNvPicPr preferRelativeResize="0"/>
            <p:nvPr/>
          </p:nvPicPr>
          <p:blipFill>
            <a:blip r:embed="rId8">
              <a:alphaModFix/>
            </a:blip>
            <a:stretch>
              <a:fillRect/>
            </a:stretch>
          </p:blipFill>
          <p:spPr>
            <a:xfrm>
              <a:off x="344301" y="3220595"/>
              <a:ext cx="1854744" cy="1592125"/>
            </a:xfrm>
            <a:prstGeom prst="rect">
              <a:avLst/>
            </a:prstGeom>
            <a:noFill/>
            <a:ln cap="flat" cmpd="sng" w="38100">
              <a:solidFill>
                <a:schemeClr val="lt2"/>
              </a:solidFill>
              <a:prstDash val="solid"/>
              <a:round/>
              <a:headEnd len="sm" w="sm" type="none"/>
              <a:tailEnd len="sm" w="sm" type="none"/>
            </a:ln>
          </p:spPr>
        </p:pic>
        <p:sp>
          <p:nvSpPr>
            <p:cNvPr id="150" name="Google Shape;150;p20"/>
            <p:cNvSpPr txBox="1"/>
            <p:nvPr/>
          </p:nvSpPr>
          <p:spPr>
            <a:xfrm>
              <a:off x="662522" y="4851150"/>
              <a:ext cx="1218300" cy="237600"/>
            </a:xfrm>
            <a:prstGeom prst="rect">
              <a:avLst/>
            </a:prstGeom>
            <a:noFill/>
            <a:ln>
              <a:noFill/>
            </a:ln>
          </p:spPr>
          <p:txBody>
            <a:bodyPr anchorCtr="0" anchor="t" bIns="18000" lIns="91425" spcFirstLastPara="1" rIns="91425" wrap="square" tIns="0">
              <a:noAutofit/>
            </a:bodyPr>
            <a:lstStyle/>
            <a:p>
              <a:pPr indent="0" lvl="0" marL="0" marR="0" rtl="0" algn="ctr">
                <a:lnSpc>
                  <a:spcPct val="100000"/>
                </a:lnSpc>
                <a:spcBef>
                  <a:spcPts val="0"/>
                </a:spcBef>
                <a:spcAft>
                  <a:spcPts val="1000"/>
                </a:spcAft>
                <a:buNone/>
              </a:pPr>
              <a:r>
                <a:rPr lang="pl" sz="1200">
                  <a:solidFill>
                    <a:schemeClr val="lt2"/>
                  </a:solidFill>
                  <a:latin typeface="Nunito"/>
                  <a:ea typeface="Nunito"/>
                  <a:cs typeface="Nunito"/>
                  <a:sym typeface="Nunito"/>
                </a:rPr>
                <a:t>Diagram 5</a:t>
              </a:r>
              <a:endParaRPr sz="1200">
                <a:solidFill>
                  <a:schemeClr val="lt2"/>
                </a:solidFill>
                <a:latin typeface="Nunito"/>
                <a:ea typeface="Nunito"/>
                <a:cs typeface="Nunito"/>
                <a:sym typeface="Nunito"/>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1"/>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 name="Google Shape;156;p21"/>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Podchodzimy do rogu - kakari</a:t>
            </a:r>
            <a:endParaRPr b="1" sz="3900">
              <a:solidFill>
                <a:schemeClr val="dk2"/>
              </a:solidFill>
              <a:latin typeface="Nunito"/>
              <a:ea typeface="Nunito"/>
              <a:cs typeface="Nunito"/>
              <a:sym typeface="Nunito"/>
            </a:endParaRPr>
          </a:p>
        </p:txBody>
      </p:sp>
      <p:pic>
        <p:nvPicPr>
          <p:cNvPr id="157" name="Google Shape;157;p21"/>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158" name="Google Shape;158;p21"/>
          <p:cNvSpPr txBox="1"/>
          <p:nvPr/>
        </p:nvSpPr>
        <p:spPr>
          <a:xfrm>
            <a:off x="184200" y="1107900"/>
            <a:ext cx="8763900" cy="1956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Kakari to ruch w pobliżu rogu przeciwnika, który ma uniemożliwić mu zagranie shimari (domknięcie rogu). </a:t>
            </a:r>
            <a:br>
              <a:rPr lang="pl">
                <a:solidFill>
                  <a:schemeClr val="lt2"/>
                </a:solidFill>
                <a:latin typeface="Nunito"/>
                <a:ea typeface="Nunito"/>
                <a:cs typeface="Nunito"/>
                <a:sym typeface="Nunito"/>
              </a:rPr>
            </a:br>
            <a:r>
              <a:rPr lang="pl">
                <a:solidFill>
                  <a:schemeClr val="lt2"/>
                </a:solidFill>
                <a:latin typeface="Nunito"/>
                <a:ea typeface="Nunito"/>
                <a:cs typeface="Nunito"/>
                <a:sym typeface="Nunito"/>
              </a:rPr>
              <a:t>W przypadku komoku istnieją 2 standardowe  punkty, w które możemy zagrać kakari:</a:t>
            </a:r>
            <a:br>
              <a:rPr lang="pl">
                <a:solidFill>
                  <a:schemeClr val="lt2"/>
                </a:solidFill>
                <a:latin typeface="Nunito"/>
                <a:ea typeface="Nunito"/>
                <a:cs typeface="Nunito"/>
                <a:sym typeface="Nunito"/>
              </a:rPr>
            </a:br>
            <a:endParaRPr>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AutoNum type="arabicPeriod"/>
            </a:pPr>
            <a:r>
              <a:rPr lang="pl">
                <a:solidFill>
                  <a:schemeClr val="lt2"/>
                </a:solidFill>
                <a:latin typeface="Nunito"/>
                <a:ea typeface="Nunito"/>
                <a:cs typeface="Nunito"/>
                <a:sym typeface="Nunito"/>
              </a:rPr>
              <a:t>Niskie podejście przeszkadza na domknięcie dużego terytorium w rogu (diagram 2)</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AutoNum type="arabicPeriod"/>
            </a:pPr>
            <a:r>
              <a:rPr lang="pl">
                <a:solidFill>
                  <a:schemeClr val="lt2"/>
                </a:solidFill>
                <a:latin typeface="Nunito"/>
                <a:ea typeface="Nunito"/>
                <a:cs typeface="Nunito"/>
                <a:sym typeface="Nunito"/>
              </a:rPr>
              <a:t>Wysokie podejście pozwala domknąć przeciwnikowi róg w zamian za wpływy (diagram 3)</a:t>
            </a:r>
            <a:endParaRPr>
              <a:solidFill>
                <a:schemeClr val="lt2"/>
              </a:solidFill>
              <a:latin typeface="Nunito"/>
              <a:ea typeface="Nunito"/>
              <a:cs typeface="Nunito"/>
              <a:sym typeface="Nunito"/>
            </a:endParaRPr>
          </a:p>
        </p:txBody>
      </p:sp>
      <p:pic>
        <p:nvPicPr>
          <p:cNvPr id="159" name="Google Shape;159;p21"/>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160" name="Google Shape;160;p21"/>
          <p:cNvSpPr txBox="1"/>
          <p:nvPr/>
        </p:nvSpPr>
        <p:spPr>
          <a:xfrm>
            <a:off x="6100739" y="4703738"/>
            <a:ext cx="1490700" cy="237600"/>
          </a:xfrm>
          <a:prstGeom prst="rect">
            <a:avLst/>
          </a:prstGeom>
          <a:noFill/>
          <a:ln>
            <a:noFill/>
          </a:ln>
        </p:spPr>
        <p:txBody>
          <a:bodyPr anchorCtr="0" anchor="t" bIns="18000" lIns="91425" spcFirstLastPara="1" rIns="91425" wrap="square" tIns="0">
            <a:noAutofit/>
          </a:bodyPr>
          <a:lstStyle/>
          <a:p>
            <a:pPr indent="0" lvl="0" marL="0" marR="0" rtl="0" algn="ctr">
              <a:lnSpc>
                <a:spcPct val="100000"/>
              </a:lnSpc>
              <a:spcBef>
                <a:spcPts val="0"/>
              </a:spcBef>
              <a:spcAft>
                <a:spcPts val="1000"/>
              </a:spcAft>
              <a:buNone/>
            </a:pPr>
            <a:r>
              <a:rPr lang="pl" sz="1200">
                <a:solidFill>
                  <a:schemeClr val="lt2"/>
                </a:solidFill>
                <a:latin typeface="Nunito"/>
                <a:ea typeface="Nunito"/>
                <a:cs typeface="Nunito"/>
                <a:sym typeface="Nunito"/>
              </a:rPr>
              <a:t>Diagram 1</a:t>
            </a:r>
            <a:endParaRPr sz="1200">
              <a:solidFill>
                <a:schemeClr val="lt2"/>
              </a:solidFill>
              <a:latin typeface="Nunito"/>
              <a:ea typeface="Nunito"/>
              <a:cs typeface="Nunito"/>
              <a:sym typeface="Nunito"/>
            </a:endParaRPr>
          </a:p>
        </p:txBody>
      </p:sp>
      <p:sp>
        <p:nvSpPr>
          <p:cNvPr id="161" name="Google Shape;161;p21"/>
          <p:cNvSpPr txBox="1"/>
          <p:nvPr/>
        </p:nvSpPr>
        <p:spPr>
          <a:xfrm>
            <a:off x="4061942" y="4703750"/>
            <a:ext cx="1218300" cy="237600"/>
          </a:xfrm>
          <a:prstGeom prst="rect">
            <a:avLst/>
          </a:prstGeom>
          <a:noFill/>
          <a:ln>
            <a:noFill/>
          </a:ln>
        </p:spPr>
        <p:txBody>
          <a:bodyPr anchorCtr="0" anchor="t" bIns="18000" lIns="91425" spcFirstLastPara="1" rIns="91425" wrap="square" tIns="0">
            <a:noAutofit/>
          </a:bodyPr>
          <a:lstStyle/>
          <a:p>
            <a:pPr indent="0" lvl="0" marL="0" marR="0" rtl="0" algn="ctr">
              <a:lnSpc>
                <a:spcPct val="100000"/>
              </a:lnSpc>
              <a:spcBef>
                <a:spcPts val="0"/>
              </a:spcBef>
              <a:spcAft>
                <a:spcPts val="1000"/>
              </a:spcAft>
              <a:buNone/>
            </a:pPr>
            <a:r>
              <a:rPr lang="pl" sz="1200">
                <a:solidFill>
                  <a:schemeClr val="lt2"/>
                </a:solidFill>
                <a:latin typeface="Nunito"/>
                <a:ea typeface="Nunito"/>
                <a:cs typeface="Nunito"/>
                <a:sym typeface="Nunito"/>
              </a:rPr>
              <a:t>Diagram 2</a:t>
            </a:r>
            <a:endParaRPr sz="1200">
              <a:solidFill>
                <a:schemeClr val="lt2"/>
              </a:solidFill>
              <a:latin typeface="Nunito"/>
              <a:ea typeface="Nunito"/>
              <a:cs typeface="Nunito"/>
              <a:sym typeface="Nunito"/>
            </a:endParaRPr>
          </a:p>
        </p:txBody>
      </p:sp>
      <p:pic>
        <p:nvPicPr>
          <p:cNvPr id="162" name="Google Shape;162;p21"/>
          <p:cNvPicPr preferRelativeResize="0"/>
          <p:nvPr/>
        </p:nvPicPr>
        <p:blipFill>
          <a:blip r:embed="rId4">
            <a:alphaModFix/>
          </a:blip>
          <a:stretch>
            <a:fillRect/>
          </a:stretch>
        </p:blipFill>
        <p:spPr>
          <a:xfrm>
            <a:off x="3597950" y="2838200"/>
            <a:ext cx="1981007" cy="1774800"/>
          </a:xfrm>
          <a:prstGeom prst="rect">
            <a:avLst/>
          </a:prstGeom>
          <a:noFill/>
          <a:ln cap="flat" cmpd="sng" w="38100">
            <a:solidFill>
              <a:schemeClr val="lt2"/>
            </a:solidFill>
            <a:prstDash val="solid"/>
            <a:round/>
            <a:headEnd len="sm" w="sm" type="none"/>
            <a:tailEnd len="sm" w="sm" type="none"/>
          </a:ln>
        </p:spPr>
      </p:pic>
      <p:pic>
        <p:nvPicPr>
          <p:cNvPr id="163" name="Google Shape;163;p21"/>
          <p:cNvPicPr preferRelativeResize="0"/>
          <p:nvPr/>
        </p:nvPicPr>
        <p:blipFill>
          <a:blip r:embed="rId5">
            <a:alphaModFix/>
          </a:blip>
          <a:stretch>
            <a:fillRect/>
          </a:stretch>
        </p:blipFill>
        <p:spPr>
          <a:xfrm>
            <a:off x="989671" y="2840200"/>
            <a:ext cx="2272979" cy="1774800"/>
          </a:xfrm>
          <a:prstGeom prst="rect">
            <a:avLst/>
          </a:prstGeom>
          <a:noFill/>
          <a:ln cap="flat" cmpd="sng" w="38100">
            <a:solidFill>
              <a:schemeClr val="lt2"/>
            </a:solidFill>
            <a:prstDash val="solid"/>
            <a:round/>
            <a:headEnd len="sm" w="sm" type="none"/>
            <a:tailEnd len="sm" w="sm" type="none"/>
          </a:ln>
        </p:spPr>
      </p:pic>
      <p:pic>
        <p:nvPicPr>
          <p:cNvPr id="164" name="Google Shape;164;p21"/>
          <p:cNvPicPr preferRelativeResize="0"/>
          <p:nvPr/>
        </p:nvPicPr>
        <p:blipFill>
          <a:blip r:embed="rId6">
            <a:alphaModFix/>
          </a:blip>
          <a:stretch>
            <a:fillRect/>
          </a:stretch>
        </p:blipFill>
        <p:spPr>
          <a:xfrm>
            <a:off x="6001826" y="2840200"/>
            <a:ext cx="1688525" cy="1774800"/>
          </a:xfrm>
          <a:prstGeom prst="rect">
            <a:avLst/>
          </a:prstGeom>
          <a:noFill/>
          <a:ln cap="flat" cmpd="sng" w="38100">
            <a:solidFill>
              <a:schemeClr val="lt2"/>
            </a:solidFill>
            <a:prstDash val="solid"/>
            <a:round/>
            <a:headEnd len="sm" w="sm" type="none"/>
            <a:tailEnd len="sm" w="sm" type="none"/>
          </a:ln>
        </p:spPr>
      </p:pic>
      <p:sp>
        <p:nvSpPr>
          <p:cNvPr id="165" name="Google Shape;165;p21"/>
          <p:cNvSpPr txBox="1"/>
          <p:nvPr/>
        </p:nvSpPr>
        <p:spPr>
          <a:xfrm>
            <a:off x="1517004" y="4689200"/>
            <a:ext cx="1218300" cy="237600"/>
          </a:xfrm>
          <a:prstGeom prst="rect">
            <a:avLst/>
          </a:prstGeom>
          <a:noFill/>
          <a:ln>
            <a:noFill/>
          </a:ln>
        </p:spPr>
        <p:txBody>
          <a:bodyPr anchorCtr="0" anchor="t" bIns="18000" lIns="91425" spcFirstLastPara="1" rIns="91425" wrap="square" tIns="0">
            <a:noAutofit/>
          </a:bodyPr>
          <a:lstStyle/>
          <a:p>
            <a:pPr indent="0" lvl="0" marL="0" marR="0" rtl="0" algn="ctr">
              <a:lnSpc>
                <a:spcPct val="100000"/>
              </a:lnSpc>
              <a:spcBef>
                <a:spcPts val="0"/>
              </a:spcBef>
              <a:spcAft>
                <a:spcPts val="1000"/>
              </a:spcAft>
              <a:buNone/>
            </a:pPr>
            <a:r>
              <a:rPr lang="pl" sz="1200">
                <a:solidFill>
                  <a:schemeClr val="lt2"/>
                </a:solidFill>
                <a:latin typeface="Nunito"/>
                <a:ea typeface="Nunito"/>
                <a:cs typeface="Nunito"/>
                <a:sym typeface="Nunito"/>
              </a:rPr>
              <a:t>Diagram 3</a:t>
            </a:r>
            <a:endParaRPr sz="1200">
              <a:solidFill>
                <a:schemeClr val="lt2"/>
              </a:solidFill>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2"/>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 name="Google Shape;171;p22"/>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K</a:t>
            </a:r>
            <a:r>
              <a:rPr b="1" lang="pl" sz="3500">
                <a:solidFill>
                  <a:schemeClr val="dk2"/>
                </a:solidFill>
                <a:latin typeface="Nunito"/>
                <a:ea typeface="Nunito"/>
                <a:cs typeface="Nunito"/>
                <a:sym typeface="Nunito"/>
              </a:rPr>
              <a:t>akari do hoshi</a:t>
            </a:r>
            <a:endParaRPr b="1" sz="3900">
              <a:solidFill>
                <a:schemeClr val="dk2"/>
              </a:solidFill>
              <a:latin typeface="Nunito"/>
              <a:ea typeface="Nunito"/>
              <a:cs typeface="Nunito"/>
              <a:sym typeface="Nunito"/>
            </a:endParaRPr>
          </a:p>
        </p:txBody>
      </p:sp>
      <p:pic>
        <p:nvPicPr>
          <p:cNvPr id="172" name="Google Shape;172;p22"/>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173" name="Google Shape;173;p22"/>
          <p:cNvSpPr txBox="1"/>
          <p:nvPr/>
        </p:nvSpPr>
        <p:spPr>
          <a:xfrm>
            <a:off x="184200" y="1107900"/>
            <a:ext cx="8763900" cy="1956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W przypadku, gdy w rogu przeciwnik ma swój kamień ustawiony w hoshi (4-4) jest jeszcze prościej bo w zasadzie mamy tylko jeden typowy punkt na zagranie kakari oraz opcję bezpośredniego wskoczenia do rogu: </a:t>
            </a:r>
            <a:endParaRPr>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AutoNum type="arabicPeriod"/>
            </a:pPr>
            <a:r>
              <a:rPr lang="pl">
                <a:solidFill>
                  <a:schemeClr val="lt2"/>
                </a:solidFill>
                <a:latin typeface="Nunito"/>
                <a:ea typeface="Nunito"/>
                <a:cs typeface="Nunito"/>
                <a:sym typeface="Nunito"/>
              </a:rPr>
              <a:t>Kakari - ogranicza szybką </a:t>
            </a:r>
            <a:r>
              <a:rPr lang="pl">
                <a:solidFill>
                  <a:schemeClr val="lt2"/>
                </a:solidFill>
                <a:latin typeface="Nunito"/>
                <a:ea typeface="Nunito"/>
                <a:cs typeface="Nunito"/>
                <a:sym typeface="Nunito"/>
              </a:rPr>
              <a:t>ekspansję</a:t>
            </a:r>
            <a:r>
              <a:rPr lang="pl">
                <a:solidFill>
                  <a:schemeClr val="lt2"/>
                </a:solidFill>
                <a:latin typeface="Nunito"/>
                <a:ea typeface="Nunito"/>
                <a:cs typeface="Nunito"/>
                <a:sym typeface="Nunito"/>
              </a:rPr>
              <a:t> od rogu (diagram 2)</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AutoNum type="arabicPeriod"/>
            </a:pPr>
            <a:r>
              <a:rPr lang="pl">
                <a:solidFill>
                  <a:schemeClr val="lt2"/>
                </a:solidFill>
                <a:latin typeface="Nunito"/>
                <a:ea typeface="Nunito"/>
                <a:cs typeface="Nunito"/>
                <a:sym typeface="Nunito"/>
              </a:rPr>
              <a:t>Bezpośrednia inwazja w róg - przejmujemy teren przeciwnika, w zamian dając mu wpływy (diagram 3)</a:t>
            </a:r>
            <a:endParaRPr>
              <a:solidFill>
                <a:schemeClr val="lt2"/>
              </a:solidFill>
              <a:latin typeface="Nunito"/>
              <a:ea typeface="Nunito"/>
              <a:cs typeface="Nunito"/>
              <a:sym typeface="Nunito"/>
            </a:endParaRPr>
          </a:p>
        </p:txBody>
      </p:sp>
      <p:pic>
        <p:nvPicPr>
          <p:cNvPr id="174" name="Google Shape;174;p22"/>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175" name="Google Shape;175;p22"/>
          <p:cNvSpPr txBox="1"/>
          <p:nvPr/>
        </p:nvSpPr>
        <p:spPr>
          <a:xfrm>
            <a:off x="6557939" y="4703738"/>
            <a:ext cx="1490700" cy="237600"/>
          </a:xfrm>
          <a:prstGeom prst="rect">
            <a:avLst/>
          </a:prstGeom>
          <a:noFill/>
          <a:ln>
            <a:noFill/>
          </a:ln>
        </p:spPr>
        <p:txBody>
          <a:bodyPr anchorCtr="0" anchor="t" bIns="18000" lIns="91425" spcFirstLastPara="1" rIns="91425" wrap="square" tIns="0">
            <a:noAutofit/>
          </a:bodyPr>
          <a:lstStyle/>
          <a:p>
            <a:pPr indent="0" lvl="0" marL="0" marR="0" rtl="0" algn="ctr">
              <a:lnSpc>
                <a:spcPct val="100000"/>
              </a:lnSpc>
              <a:spcBef>
                <a:spcPts val="0"/>
              </a:spcBef>
              <a:spcAft>
                <a:spcPts val="1000"/>
              </a:spcAft>
              <a:buNone/>
            </a:pPr>
            <a:r>
              <a:rPr lang="pl" sz="1200">
                <a:solidFill>
                  <a:schemeClr val="lt2"/>
                </a:solidFill>
                <a:latin typeface="Nunito"/>
                <a:ea typeface="Nunito"/>
                <a:cs typeface="Nunito"/>
                <a:sym typeface="Nunito"/>
              </a:rPr>
              <a:t>Diagram 1</a:t>
            </a:r>
            <a:endParaRPr sz="1200">
              <a:solidFill>
                <a:schemeClr val="lt2"/>
              </a:solidFill>
              <a:latin typeface="Nunito"/>
              <a:ea typeface="Nunito"/>
              <a:cs typeface="Nunito"/>
              <a:sym typeface="Nunito"/>
            </a:endParaRPr>
          </a:p>
        </p:txBody>
      </p:sp>
      <p:sp>
        <p:nvSpPr>
          <p:cNvPr id="176" name="Google Shape;176;p22"/>
          <p:cNvSpPr txBox="1"/>
          <p:nvPr/>
        </p:nvSpPr>
        <p:spPr>
          <a:xfrm>
            <a:off x="4250279" y="4703750"/>
            <a:ext cx="1218300" cy="237600"/>
          </a:xfrm>
          <a:prstGeom prst="rect">
            <a:avLst/>
          </a:prstGeom>
          <a:noFill/>
          <a:ln>
            <a:noFill/>
          </a:ln>
        </p:spPr>
        <p:txBody>
          <a:bodyPr anchorCtr="0" anchor="t" bIns="18000" lIns="91425" spcFirstLastPara="1" rIns="91425" wrap="square" tIns="0">
            <a:noAutofit/>
          </a:bodyPr>
          <a:lstStyle/>
          <a:p>
            <a:pPr indent="0" lvl="0" marL="0" marR="0" rtl="0" algn="ctr">
              <a:lnSpc>
                <a:spcPct val="100000"/>
              </a:lnSpc>
              <a:spcBef>
                <a:spcPts val="0"/>
              </a:spcBef>
              <a:spcAft>
                <a:spcPts val="1000"/>
              </a:spcAft>
              <a:buNone/>
            </a:pPr>
            <a:r>
              <a:rPr lang="pl" sz="1200">
                <a:solidFill>
                  <a:schemeClr val="lt2"/>
                </a:solidFill>
                <a:latin typeface="Nunito"/>
                <a:ea typeface="Nunito"/>
                <a:cs typeface="Nunito"/>
                <a:sym typeface="Nunito"/>
              </a:rPr>
              <a:t>Diagram 2</a:t>
            </a:r>
            <a:endParaRPr sz="1200">
              <a:solidFill>
                <a:schemeClr val="lt2"/>
              </a:solidFill>
              <a:latin typeface="Nunito"/>
              <a:ea typeface="Nunito"/>
              <a:cs typeface="Nunito"/>
              <a:sym typeface="Nunito"/>
            </a:endParaRPr>
          </a:p>
        </p:txBody>
      </p:sp>
      <p:sp>
        <p:nvSpPr>
          <p:cNvPr id="177" name="Google Shape;177;p22"/>
          <p:cNvSpPr txBox="1"/>
          <p:nvPr/>
        </p:nvSpPr>
        <p:spPr>
          <a:xfrm>
            <a:off x="1789504" y="4703750"/>
            <a:ext cx="1218300" cy="237600"/>
          </a:xfrm>
          <a:prstGeom prst="rect">
            <a:avLst/>
          </a:prstGeom>
          <a:noFill/>
          <a:ln>
            <a:noFill/>
          </a:ln>
        </p:spPr>
        <p:txBody>
          <a:bodyPr anchorCtr="0" anchor="t" bIns="18000" lIns="91425" spcFirstLastPara="1" rIns="91425" wrap="square" tIns="0">
            <a:noAutofit/>
          </a:bodyPr>
          <a:lstStyle/>
          <a:p>
            <a:pPr indent="0" lvl="0" marL="0" marR="0" rtl="0" algn="ctr">
              <a:lnSpc>
                <a:spcPct val="100000"/>
              </a:lnSpc>
              <a:spcBef>
                <a:spcPts val="0"/>
              </a:spcBef>
              <a:spcAft>
                <a:spcPts val="1000"/>
              </a:spcAft>
              <a:buNone/>
            </a:pPr>
            <a:r>
              <a:rPr lang="pl" sz="1200">
                <a:solidFill>
                  <a:schemeClr val="lt2"/>
                </a:solidFill>
                <a:latin typeface="Nunito"/>
                <a:ea typeface="Nunito"/>
                <a:cs typeface="Nunito"/>
                <a:sym typeface="Nunito"/>
              </a:rPr>
              <a:t>Diagram 3</a:t>
            </a:r>
            <a:endParaRPr sz="1200">
              <a:solidFill>
                <a:schemeClr val="lt2"/>
              </a:solidFill>
              <a:latin typeface="Nunito"/>
              <a:ea typeface="Nunito"/>
              <a:cs typeface="Nunito"/>
              <a:sym typeface="Nunito"/>
            </a:endParaRPr>
          </a:p>
        </p:txBody>
      </p:sp>
      <p:pic>
        <p:nvPicPr>
          <p:cNvPr id="178" name="Google Shape;178;p22"/>
          <p:cNvPicPr preferRelativeResize="0"/>
          <p:nvPr/>
        </p:nvPicPr>
        <p:blipFill>
          <a:blip r:embed="rId4">
            <a:alphaModFix/>
          </a:blip>
          <a:stretch>
            <a:fillRect/>
          </a:stretch>
        </p:blipFill>
        <p:spPr>
          <a:xfrm>
            <a:off x="6447650" y="2783770"/>
            <a:ext cx="1602625" cy="1829225"/>
          </a:xfrm>
          <a:prstGeom prst="rect">
            <a:avLst/>
          </a:prstGeom>
          <a:noFill/>
          <a:ln cap="flat" cmpd="sng" w="38100">
            <a:solidFill>
              <a:schemeClr val="lt2"/>
            </a:solidFill>
            <a:prstDash val="solid"/>
            <a:round/>
            <a:headEnd len="sm" w="sm" type="none"/>
            <a:tailEnd len="sm" w="sm" type="none"/>
          </a:ln>
        </p:spPr>
      </p:pic>
      <p:pic>
        <p:nvPicPr>
          <p:cNvPr id="179" name="Google Shape;179;p22"/>
          <p:cNvPicPr preferRelativeResize="0"/>
          <p:nvPr/>
        </p:nvPicPr>
        <p:blipFill>
          <a:blip r:embed="rId5">
            <a:alphaModFix/>
          </a:blip>
          <a:stretch>
            <a:fillRect/>
          </a:stretch>
        </p:blipFill>
        <p:spPr>
          <a:xfrm>
            <a:off x="3731900" y="2785775"/>
            <a:ext cx="2255077" cy="1829225"/>
          </a:xfrm>
          <a:prstGeom prst="rect">
            <a:avLst/>
          </a:prstGeom>
          <a:noFill/>
          <a:ln cap="flat" cmpd="sng" w="38100">
            <a:solidFill>
              <a:schemeClr val="lt2"/>
            </a:solidFill>
            <a:prstDash val="solid"/>
            <a:round/>
            <a:headEnd len="sm" w="sm" type="none"/>
            <a:tailEnd len="sm" w="sm" type="none"/>
          </a:ln>
        </p:spPr>
      </p:pic>
      <p:pic>
        <p:nvPicPr>
          <p:cNvPr id="180" name="Google Shape;180;p22"/>
          <p:cNvPicPr preferRelativeResize="0"/>
          <p:nvPr/>
        </p:nvPicPr>
        <p:blipFill>
          <a:blip r:embed="rId6">
            <a:alphaModFix/>
          </a:blip>
          <a:stretch>
            <a:fillRect/>
          </a:stretch>
        </p:blipFill>
        <p:spPr>
          <a:xfrm>
            <a:off x="1672680" y="2571750"/>
            <a:ext cx="1451970" cy="2041250"/>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3"/>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 name="Google Shape;186;p23"/>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Co nam daje shimari?</a:t>
            </a:r>
            <a:endParaRPr b="1" sz="3900">
              <a:solidFill>
                <a:schemeClr val="dk2"/>
              </a:solidFill>
              <a:latin typeface="Nunito"/>
              <a:ea typeface="Nunito"/>
              <a:cs typeface="Nunito"/>
              <a:sym typeface="Nunito"/>
            </a:endParaRPr>
          </a:p>
        </p:txBody>
      </p:sp>
      <p:pic>
        <p:nvPicPr>
          <p:cNvPr id="187" name="Google Shape;187;p23"/>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188" name="Google Shape;188;p23"/>
          <p:cNvSpPr txBox="1"/>
          <p:nvPr/>
        </p:nvSpPr>
        <p:spPr>
          <a:xfrm>
            <a:off x="184200" y="1107900"/>
            <a:ext cx="4643700" cy="3698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Shimari z jednej strony zabezpiecza teren w rogu (do pewnego stopnia nawet przy kamieniu w hoshi),</a:t>
            </a:r>
            <a:br>
              <a:rPr lang="pl">
                <a:solidFill>
                  <a:schemeClr val="lt2"/>
                </a:solidFill>
                <a:latin typeface="Nunito"/>
                <a:ea typeface="Nunito"/>
                <a:cs typeface="Nunito"/>
                <a:sym typeface="Nunito"/>
              </a:rPr>
            </a:br>
            <a:r>
              <a:rPr lang="pl">
                <a:solidFill>
                  <a:schemeClr val="lt2"/>
                </a:solidFill>
                <a:latin typeface="Nunito"/>
                <a:ea typeface="Nunito"/>
                <a:cs typeface="Nunito"/>
                <a:sym typeface="Nunito"/>
              </a:rPr>
              <a:t>a z drugiej strony ułatwia ekspansję na bandzie sąsiadującej z shimari oraz do centrum planszy. Zobaczmy jak to wygląda w ujęciu całej planszy.</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Na diagramie obok mamy sytuację symetryczną. Obaj gracze zbudowali takie samo shimari i oba te shimari są skierowane w stronę dolnej bandy. Punkt ‘A’ staje się szczególnie cenny dla obu graczy. Kto pierwszy tam zagra, zyska rozwinięcie od shimari, które pozwoli na budowanie dużej strefy wpływów oraz potencjalnie może dać teren na bandzie.</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rgbClr val="00FF00"/>
                </a:solidFill>
                <a:latin typeface="Nunito"/>
                <a:ea typeface="Nunito"/>
                <a:cs typeface="Nunito"/>
                <a:sym typeface="Nunito"/>
              </a:rPr>
              <a:t>Gdy rogi są już zajęte i domknięte, nasza uwaga powinna skupić się na bandach.</a:t>
            </a:r>
            <a:endParaRPr>
              <a:solidFill>
                <a:srgbClr val="00FF00"/>
              </a:solidFill>
              <a:latin typeface="Nunito"/>
              <a:ea typeface="Nunito"/>
              <a:cs typeface="Nunito"/>
              <a:sym typeface="Nunito"/>
            </a:endParaRPr>
          </a:p>
        </p:txBody>
      </p:sp>
      <p:pic>
        <p:nvPicPr>
          <p:cNvPr id="189" name="Google Shape;189;p23"/>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190" name="Google Shape;190;p23"/>
          <p:cNvSpPr txBox="1"/>
          <p:nvPr/>
        </p:nvSpPr>
        <p:spPr>
          <a:xfrm>
            <a:off x="6482151" y="4806238"/>
            <a:ext cx="1490700" cy="237600"/>
          </a:xfrm>
          <a:prstGeom prst="rect">
            <a:avLst/>
          </a:prstGeom>
          <a:noFill/>
          <a:ln>
            <a:noFill/>
          </a:ln>
        </p:spPr>
        <p:txBody>
          <a:bodyPr anchorCtr="0" anchor="t" bIns="18000" lIns="91425" spcFirstLastPara="1" rIns="91425" wrap="square" tIns="0">
            <a:noAutofit/>
          </a:bodyPr>
          <a:lstStyle/>
          <a:p>
            <a:pPr indent="0" lvl="0" marL="0" marR="0" rtl="0" algn="ctr">
              <a:lnSpc>
                <a:spcPct val="100000"/>
              </a:lnSpc>
              <a:spcBef>
                <a:spcPts val="0"/>
              </a:spcBef>
              <a:spcAft>
                <a:spcPts val="1000"/>
              </a:spcAft>
              <a:buNone/>
            </a:pPr>
            <a:r>
              <a:rPr lang="pl" sz="1200">
                <a:solidFill>
                  <a:schemeClr val="lt2"/>
                </a:solidFill>
                <a:latin typeface="Nunito"/>
                <a:ea typeface="Nunito"/>
                <a:cs typeface="Nunito"/>
                <a:sym typeface="Nunito"/>
              </a:rPr>
              <a:t>Diagram 1</a:t>
            </a:r>
            <a:endParaRPr sz="1200">
              <a:solidFill>
                <a:schemeClr val="lt2"/>
              </a:solidFill>
              <a:latin typeface="Nunito"/>
              <a:ea typeface="Nunito"/>
              <a:cs typeface="Nunito"/>
              <a:sym typeface="Nunito"/>
            </a:endParaRPr>
          </a:p>
        </p:txBody>
      </p:sp>
      <p:pic>
        <p:nvPicPr>
          <p:cNvPr id="191" name="Google Shape;191;p23"/>
          <p:cNvPicPr preferRelativeResize="0"/>
          <p:nvPr/>
        </p:nvPicPr>
        <p:blipFill>
          <a:blip r:embed="rId4">
            <a:alphaModFix/>
          </a:blip>
          <a:stretch>
            <a:fillRect/>
          </a:stretch>
        </p:blipFill>
        <p:spPr>
          <a:xfrm>
            <a:off x="5565626" y="1279175"/>
            <a:ext cx="3323774" cy="3323774"/>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4"/>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24"/>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Rozwinięcie od </a:t>
            </a:r>
            <a:r>
              <a:rPr b="1" lang="pl" sz="3500">
                <a:solidFill>
                  <a:schemeClr val="dk2"/>
                </a:solidFill>
                <a:latin typeface="Nunito"/>
                <a:ea typeface="Nunito"/>
                <a:cs typeface="Nunito"/>
                <a:sym typeface="Nunito"/>
              </a:rPr>
              <a:t>shimari?</a:t>
            </a:r>
            <a:endParaRPr b="1" sz="3900">
              <a:solidFill>
                <a:schemeClr val="dk2"/>
              </a:solidFill>
              <a:latin typeface="Nunito"/>
              <a:ea typeface="Nunito"/>
              <a:cs typeface="Nunito"/>
              <a:sym typeface="Nunito"/>
            </a:endParaRPr>
          </a:p>
        </p:txBody>
      </p:sp>
      <p:pic>
        <p:nvPicPr>
          <p:cNvPr id="198" name="Google Shape;198;p24"/>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199" name="Google Shape;199;p24"/>
          <p:cNvSpPr txBox="1"/>
          <p:nvPr/>
        </p:nvSpPr>
        <p:spPr>
          <a:xfrm>
            <a:off x="184200" y="1107900"/>
            <a:ext cx="4981800" cy="3698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Obszar pomiędzy kamieniem w K3 (który tworzy rozwinięcie od shimari) a shimari nie jest jeszcze pewnym terytorium czarnego. </a:t>
            </a:r>
            <a:r>
              <a:rPr lang="pl">
                <a:solidFill>
                  <a:schemeClr val="lt2"/>
                </a:solidFill>
                <a:latin typeface="Nunito"/>
                <a:ea typeface="Nunito"/>
                <a:cs typeface="Nunito"/>
                <a:sym typeface="Nunito"/>
              </a:rPr>
              <a:t>Białe mogą zagrać przykładowo w ‘A’ i czarny nie będzie w stanie ich zabić. Jeśli biały może tam przeżyć, to oznacza, że czarny nie ma tam terenu.</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Co w takim razie daje rozszerzenie od shimari? Tworzy ono tzw. strefę wpływów - jest to </a:t>
            </a:r>
            <a:r>
              <a:rPr lang="pl">
                <a:solidFill>
                  <a:schemeClr val="lt2"/>
                </a:solidFill>
                <a:latin typeface="Nunito"/>
                <a:ea typeface="Nunito"/>
                <a:cs typeface="Nunito"/>
                <a:sym typeface="Nunito"/>
              </a:rPr>
              <a:t>obszar, w którym jeden z graczy  (tutaj czarny) ma przewagę. Jeśli wywiąże się w niej   walka, to gracz z lokalną przewagą będzie walczyć w </a:t>
            </a:r>
            <a:r>
              <a:rPr lang="pl">
                <a:solidFill>
                  <a:schemeClr val="lt2"/>
                </a:solidFill>
                <a:latin typeface="Nunito"/>
                <a:ea typeface="Nunito"/>
                <a:cs typeface="Nunito"/>
                <a:sym typeface="Nunito"/>
              </a:rPr>
              <a:t>sposób uprzywilejowany, wymuszać ruchy na przeciwniku, sterować kierunkiem walki, grać bardziej agresywne ruchy. </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Strefa wpływów to także potencjał na zdobywanie terenu. Może się zdarzyć, że biały nigdy nie zagra w ‘A’, a czarny dogra tam kolejne kamienie i zamieni ten obszar w swój teren.</a:t>
            </a:r>
            <a:endParaRPr>
              <a:solidFill>
                <a:schemeClr val="lt2"/>
              </a:solidFill>
              <a:latin typeface="Nunito"/>
              <a:ea typeface="Nunito"/>
              <a:cs typeface="Nunito"/>
              <a:sym typeface="Nunito"/>
            </a:endParaRPr>
          </a:p>
          <a:p>
            <a:pPr indent="0" lvl="0" marL="0" rtl="0" algn="just">
              <a:spcBef>
                <a:spcPts val="1000"/>
              </a:spcBef>
              <a:spcAft>
                <a:spcPts val="1000"/>
              </a:spcAft>
              <a:buNone/>
            </a:pPr>
            <a:r>
              <a:t/>
            </a:r>
            <a:endParaRPr>
              <a:solidFill>
                <a:schemeClr val="lt2"/>
              </a:solidFill>
              <a:latin typeface="Nunito"/>
              <a:ea typeface="Nunito"/>
              <a:cs typeface="Nunito"/>
              <a:sym typeface="Nunito"/>
            </a:endParaRPr>
          </a:p>
        </p:txBody>
      </p:sp>
      <p:pic>
        <p:nvPicPr>
          <p:cNvPr id="200" name="Google Shape;200;p24"/>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201" name="Google Shape;201;p24"/>
          <p:cNvSpPr txBox="1"/>
          <p:nvPr/>
        </p:nvSpPr>
        <p:spPr>
          <a:xfrm>
            <a:off x="6482151" y="4806238"/>
            <a:ext cx="1490700" cy="237600"/>
          </a:xfrm>
          <a:prstGeom prst="rect">
            <a:avLst/>
          </a:prstGeom>
          <a:noFill/>
          <a:ln>
            <a:noFill/>
          </a:ln>
        </p:spPr>
        <p:txBody>
          <a:bodyPr anchorCtr="0" anchor="t" bIns="18000" lIns="91425" spcFirstLastPara="1" rIns="91425" wrap="square" tIns="0">
            <a:noAutofit/>
          </a:bodyPr>
          <a:lstStyle/>
          <a:p>
            <a:pPr indent="0" lvl="0" marL="0" marR="0" rtl="0" algn="ctr">
              <a:lnSpc>
                <a:spcPct val="100000"/>
              </a:lnSpc>
              <a:spcBef>
                <a:spcPts val="0"/>
              </a:spcBef>
              <a:spcAft>
                <a:spcPts val="1000"/>
              </a:spcAft>
              <a:buNone/>
            </a:pPr>
            <a:r>
              <a:rPr lang="pl" sz="1200">
                <a:solidFill>
                  <a:schemeClr val="lt2"/>
                </a:solidFill>
                <a:latin typeface="Nunito"/>
                <a:ea typeface="Nunito"/>
                <a:cs typeface="Nunito"/>
                <a:sym typeface="Nunito"/>
              </a:rPr>
              <a:t>Diagram 1</a:t>
            </a:r>
            <a:endParaRPr sz="1200">
              <a:solidFill>
                <a:schemeClr val="lt2"/>
              </a:solidFill>
              <a:latin typeface="Nunito"/>
              <a:ea typeface="Nunito"/>
              <a:cs typeface="Nunito"/>
              <a:sym typeface="Nunito"/>
            </a:endParaRPr>
          </a:p>
        </p:txBody>
      </p:sp>
      <p:pic>
        <p:nvPicPr>
          <p:cNvPr id="202" name="Google Shape;202;p24"/>
          <p:cNvPicPr preferRelativeResize="0"/>
          <p:nvPr/>
        </p:nvPicPr>
        <p:blipFill>
          <a:blip r:embed="rId4">
            <a:alphaModFix/>
          </a:blip>
          <a:stretch>
            <a:fillRect/>
          </a:stretch>
        </p:blipFill>
        <p:spPr>
          <a:xfrm>
            <a:off x="5421614" y="1178200"/>
            <a:ext cx="3489386" cy="3496600"/>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5"/>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8" name="Google Shape;208;p25"/>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Bo czarny był pierwszy</a:t>
            </a:r>
            <a:endParaRPr b="1" sz="3900">
              <a:solidFill>
                <a:schemeClr val="dk2"/>
              </a:solidFill>
              <a:latin typeface="Nunito"/>
              <a:ea typeface="Nunito"/>
              <a:cs typeface="Nunito"/>
              <a:sym typeface="Nunito"/>
            </a:endParaRPr>
          </a:p>
        </p:txBody>
      </p:sp>
      <p:pic>
        <p:nvPicPr>
          <p:cNvPr id="209" name="Google Shape;209;p25"/>
          <p:cNvPicPr preferRelativeResize="0"/>
          <p:nvPr/>
        </p:nvPicPr>
        <p:blipFill>
          <a:blip r:embed="rId3">
            <a:alphaModFix/>
          </a:blip>
          <a:stretch>
            <a:fillRect/>
          </a:stretch>
        </p:blipFill>
        <p:spPr>
          <a:xfrm flipH="1">
            <a:off x="128450" y="66100"/>
            <a:ext cx="659159" cy="894501"/>
          </a:xfrm>
          <a:prstGeom prst="rect">
            <a:avLst/>
          </a:prstGeom>
          <a:noFill/>
          <a:ln>
            <a:noFill/>
          </a:ln>
        </p:spPr>
      </p:pic>
      <p:sp>
        <p:nvSpPr>
          <p:cNvPr id="210" name="Google Shape;210;p25"/>
          <p:cNvSpPr txBox="1"/>
          <p:nvPr/>
        </p:nvSpPr>
        <p:spPr>
          <a:xfrm>
            <a:off x="184200" y="1107900"/>
            <a:ext cx="5115000" cy="3936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Gdy wszystkie rogi są już zajęte </a:t>
            </a:r>
            <a:r>
              <a:rPr lang="pl">
                <a:solidFill>
                  <a:srgbClr val="00FFFF"/>
                </a:solidFill>
                <a:latin typeface="Nunito"/>
                <a:ea typeface="Nunito"/>
                <a:cs typeface="Nunito"/>
                <a:sym typeface="Nunito"/>
              </a:rPr>
              <a:t>mamy do dyspozycji 4 rodzaje ruchów, które są uważane za równe co do wielkości</a:t>
            </a:r>
            <a:r>
              <a:rPr lang="pl">
                <a:solidFill>
                  <a:schemeClr val="lt2"/>
                </a:solidFill>
                <a:latin typeface="Nunito"/>
                <a:ea typeface="Nunito"/>
                <a:cs typeface="Nunito"/>
                <a:sym typeface="Nunito"/>
              </a:rPr>
              <a:t>:</a:t>
            </a:r>
            <a:endParaRPr>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AutoNum type="arabicPeriod"/>
            </a:pPr>
            <a:r>
              <a:rPr lang="pl">
                <a:solidFill>
                  <a:schemeClr val="lt2"/>
                </a:solidFill>
                <a:latin typeface="Nunito"/>
                <a:ea typeface="Nunito"/>
                <a:cs typeface="Nunito"/>
                <a:sym typeface="Nunito"/>
              </a:rPr>
              <a:t>Shimari</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AutoNum type="arabicPeriod"/>
            </a:pPr>
            <a:r>
              <a:rPr lang="pl">
                <a:solidFill>
                  <a:schemeClr val="lt2"/>
                </a:solidFill>
                <a:latin typeface="Nunito"/>
                <a:ea typeface="Nunito"/>
                <a:cs typeface="Nunito"/>
                <a:sym typeface="Nunito"/>
              </a:rPr>
              <a:t>Kakari</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AutoNum type="arabicPeriod"/>
            </a:pPr>
            <a:r>
              <a:rPr lang="pl">
                <a:solidFill>
                  <a:schemeClr val="lt2"/>
                </a:solidFill>
                <a:latin typeface="Nunito"/>
                <a:ea typeface="Nunito"/>
                <a:cs typeface="Nunito"/>
                <a:sym typeface="Nunito"/>
              </a:rPr>
              <a:t>Rozwinięcie od shimari</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AutoNum type="arabicPeriod"/>
            </a:pPr>
            <a:r>
              <a:rPr lang="pl">
                <a:solidFill>
                  <a:schemeClr val="lt2"/>
                </a:solidFill>
                <a:latin typeface="Nunito"/>
                <a:ea typeface="Nunito"/>
                <a:cs typeface="Nunito"/>
                <a:sym typeface="Nunito"/>
              </a:rPr>
              <a:t>Blokowanie rozwinięcia od shimari</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Warto pamiętać, że jeśli chodzi o granie shimari i kakari to wyższy priorytet mają rogi, gdzie stoi kamień w komoku niż te z kamieniem w hoshi. Wynika to z faktu, że komoku lepiej chroni teren w rogu i gdy jest od niego zbudowane shimari, to taki róg jest już bardzo trudny do ruszenia (zależy jeszcze od rodzaju shimari). Przy shimari zagranym od hoshi róg nadal jest podatny na różne inwazje, dlatego ma nieco niższy priorytet.</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Jeśli więc czarny pierwszy zrobił shimari i ma szansę jako pierwszy zbudować rozszerzenie, możemy go uprzedzić.</a:t>
            </a:r>
            <a:endParaRPr>
              <a:solidFill>
                <a:schemeClr val="lt2"/>
              </a:solidFill>
              <a:latin typeface="Nunito"/>
              <a:ea typeface="Nunito"/>
              <a:cs typeface="Nunito"/>
              <a:sym typeface="Nunito"/>
            </a:endParaRPr>
          </a:p>
          <a:p>
            <a:pPr indent="0" lvl="0" marL="0" rtl="0" algn="just">
              <a:spcBef>
                <a:spcPts val="1000"/>
              </a:spcBef>
              <a:spcAft>
                <a:spcPts val="1000"/>
              </a:spcAft>
              <a:buNone/>
            </a:pPr>
            <a:r>
              <a:t/>
            </a:r>
            <a:endParaRPr>
              <a:solidFill>
                <a:schemeClr val="lt2"/>
              </a:solidFill>
              <a:latin typeface="Nunito"/>
              <a:ea typeface="Nunito"/>
              <a:cs typeface="Nunito"/>
              <a:sym typeface="Nunito"/>
            </a:endParaRPr>
          </a:p>
        </p:txBody>
      </p:sp>
      <p:pic>
        <p:nvPicPr>
          <p:cNvPr id="211" name="Google Shape;211;p25"/>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212" name="Google Shape;212;p25"/>
          <p:cNvSpPr txBox="1"/>
          <p:nvPr/>
        </p:nvSpPr>
        <p:spPr>
          <a:xfrm>
            <a:off x="6482151" y="4806238"/>
            <a:ext cx="1490700" cy="237600"/>
          </a:xfrm>
          <a:prstGeom prst="rect">
            <a:avLst/>
          </a:prstGeom>
          <a:noFill/>
          <a:ln>
            <a:noFill/>
          </a:ln>
        </p:spPr>
        <p:txBody>
          <a:bodyPr anchorCtr="0" anchor="t" bIns="18000" lIns="91425" spcFirstLastPara="1" rIns="91425" wrap="square" tIns="0">
            <a:noAutofit/>
          </a:bodyPr>
          <a:lstStyle/>
          <a:p>
            <a:pPr indent="0" lvl="0" marL="0" marR="0" rtl="0" algn="ctr">
              <a:lnSpc>
                <a:spcPct val="100000"/>
              </a:lnSpc>
              <a:spcBef>
                <a:spcPts val="0"/>
              </a:spcBef>
              <a:spcAft>
                <a:spcPts val="1000"/>
              </a:spcAft>
              <a:buNone/>
            </a:pPr>
            <a:r>
              <a:rPr lang="pl" sz="1200">
                <a:solidFill>
                  <a:schemeClr val="lt2"/>
                </a:solidFill>
                <a:latin typeface="Nunito"/>
                <a:ea typeface="Nunito"/>
                <a:cs typeface="Nunito"/>
                <a:sym typeface="Nunito"/>
              </a:rPr>
              <a:t>Diagram 1</a:t>
            </a:r>
            <a:endParaRPr sz="1200">
              <a:solidFill>
                <a:schemeClr val="lt2"/>
              </a:solidFill>
              <a:latin typeface="Nunito"/>
              <a:ea typeface="Nunito"/>
              <a:cs typeface="Nunito"/>
              <a:sym typeface="Nunito"/>
            </a:endParaRPr>
          </a:p>
        </p:txBody>
      </p:sp>
      <p:pic>
        <p:nvPicPr>
          <p:cNvPr id="213" name="Google Shape;213;p25"/>
          <p:cNvPicPr preferRelativeResize="0"/>
          <p:nvPr/>
        </p:nvPicPr>
        <p:blipFill>
          <a:blip r:embed="rId4">
            <a:alphaModFix/>
          </a:blip>
          <a:stretch>
            <a:fillRect/>
          </a:stretch>
        </p:blipFill>
        <p:spPr>
          <a:xfrm>
            <a:off x="5452925" y="1211225"/>
            <a:ext cx="3490199" cy="3493800"/>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6"/>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9" name="Google Shape;219;p26"/>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Wybór kierunku gry</a:t>
            </a:r>
            <a:endParaRPr b="1" sz="3900">
              <a:solidFill>
                <a:schemeClr val="dk2"/>
              </a:solidFill>
              <a:latin typeface="Nunito"/>
              <a:ea typeface="Nunito"/>
              <a:cs typeface="Nunito"/>
              <a:sym typeface="Nunito"/>
            </a:endParaRPr>
          </a:p>
        </p:txBody>
      </p:sp>
      <p:pic>
        <p:nvPicPr>
          <p:cNvPr id="220" name="Google Shape;220;p26"/>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221" name="Google Shape;221;p26"/>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222" name="Google Shape;222;p26"/>
          <p:cNvSpPr txBox="1"/>
          <p:nvPr/>
        </p:nvSpPr>
        <p:spPr>
          <a:xfrm>
            <a:off x="6045651" y="4877513"/>
            <a:ext cx="1490700" cy="237600"/>
          </a:xfrm>
          <a:prstGeom prst="rect">
            <a:avLst/>
          </a:prstGeom>
          <a:noFill/>
          <a:ln>
            <a:noFill/>
          </a:ln>
        </p:spPr>
        <p:txBody>
          <a:bodyPr anchorCtr="0" anchor="t" bIns="18000" lIns="91425" spcFirstLastPara="1" rIns="91425" wrap="square" tIns="0">
            <a:noAutofit/>
          </a:bodyPr>
          <a:lstStyle/>
          <a:p>
            <a:pPr indent="0" lvl="0" marL="0" marR="0" rtl="0" algn="ctr">
              <a:lnSpc>
                <a:spcPct val="100000"/>
              </a:lnSpc>
              <a:spcBef>
                <a:spcPts val="0"/>
              </a:spcBef>
              <a:spcAft>
                <a:spcPts val="1000"/>
              </a:spcAft>
              <a:buNone/>
            </a:pPr>
            <a:r>
              <a:rPr lang="pl" sz="1200">
                <a:solidFill>
                  <a:schemeClr val="lt2"/>
                </a:solidFill>
                <a:latin typeface="Nunito"/>
                <a:ea typeface="Nunito"/>
                <a:cs typeface="Nunito"/>
                <a:sym typeface="Nunito"/>
              </a:rPr>
              <a:t>Diagram 2</a:t>
            </a:r>
            <a:endParaRPr sz="1200">
              <a:solidFill>
                <a:schemeClr val="lt2"/>
              </a:solidFill>
              <a:latin typeface="Nunito"/>
              <a:ea typeface="Nunito"/>
              <a:cs typeface="Nunito"/>
              <a:sym typeface="Nunito"/>
            </a:endParaRPr>
          </a:p>
        </p:txBody>
      </p:sp>
      <p:sp>
        <p:nvSpPr>
          <p:cNvPr id="223" name="Google Shape;223;p26"/>
          <p:cNvSpPr txBox="1"/>
          <p:nvPr/>
        </p:nvSpPr>
        <p:spPr>
          <a:xfrm>
            <a:off x="1868364" y="4877513"/>
            <a:ext cx="1490700" cy="237600"/>
          </a:xfrm>
          <a:prstGeom prst="rect">
            <a:avLst/>
          </a:prstGeom>
          <a:noFill/>
          <a:ln>
            <a:noFill/>
          </a:ln>
        </p:spPr>
        <p:txBody>
          <a:bodyPr anchorCtr="0" anchor="t" bIns="18000" lIns="91425" spcFirstLastPara="1" rIns="91425" wrap="square" tIns="0">
            <a:noAutofit/>
          </a:bodyPr>
          <a:lstStyle/>
          <a:p>
            <a:pPr indent="0" lvl="0" marL="0" marR="0" rtl="0" algn="ctr">
              <a:lnSpc>
                <a:spcPct val="100000"/>
              </a:lnSpc>
              <a:spcBef>
                <a:spcPts val="0"/>
              </a:spcBef>
              <a:spcAft>
                <a:spcPts val="1000"/>
              </a:spcAft>
              <a:buNone/>
            </a:pPr>
            <a:r>
              <a:rPr lang="pl" sz="1200">
                <a:solidFill>
                  <a:schemeClr val="lt2"/>
                </a:solidFill>
                <a:latin typeface="Nunito"/>
                <a:ea typeface="Nunito"/>
                <a:cs typeface="Nunito"/>
                <a:sym typeface="Nunito"/>
              </a:rPr>
              <a:t>Diagram 1</a:t>
            </a:r>
            <a:endParaRPr sz="1200">
              <a:solidFill>
                <a:schemeClr val="lt2"/>
              </a:solidFill>
              <a:latin typeface="Nunito"/>
              <a:ea typeface="Nunito"/>
              <a:cs typeface="Nunito"/>
              <a:sym typeface="Nunito"/>
            </a:endParaRPr>
          </a:p>
        </p:txBody>
      </p:sp>
      <p:pic>
        <p:nvPicPr>
          <p:cNvPr id="224" name="Google Shape;224;p26"/>
          <p:cNvPicPr preferRelativeResize="0"/>
          <p:nvPr/>
        </p:nvPicPr>
        <p:blipFill>
          <a:blip r:embed="rId4">
            <a:alphaModFix/>
          </a:blip>
          <a:stretch>
            <a:fillRect/>
          </a:stretch>
        </p:blipFill>
        <p:spPr>
          <a:xfrm>
            <a:off x="787600" y="1220184"/>
            <a:ext cx="3545912" cy="3545912"/>
          </a:xfrm>
          <a:prstGeom prst="rect">
            <a:avLst/>
          </a:prstGeom>
          <a:noFill/>
          <a:ln cap="flat" cmpd="sng" w="38100">
            <a:solidFill>
              <a:schemeClr val="lt2"/>
            </a:solidFill>
            <a:prstDash val="solid"/>
            <a:round/>
            <a:headEnd len="sm" w="sm" type="none"/>
            <a:tailEnd len="sm" w="sm" type="none"/>
          </a:ln>
        </p:spPr>
      </p:pic>
      <p:pic>
        <p:nvPicPr>
          <p:cNvPr id="225" name="Google Shape;225;p26"/>
          <p:cNvPicPr preferRelativeResize="0"/>
          <p:nvPr/>
        </p:nvPicPr>
        <p:blipFill>
          <a:blip r:embed="rId5">
            <a:alphaModFix/>
          </a:blip>
          <a:stretch>
            <a:fillRect/>
          </a:stretch>
        </p:blipFill>
        <p:spPr>
          <a:xfrm>
            <a:off x="4987966" y="1209938"/>
            <a:ext cx="3554583" cy="3545913"/>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7"/>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 name="Google Shape;231;p27"/>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Wybór kierunku gry</a:t>
            </a:r>
            <a:endParaRPr b="1" sz="3900">
              <a:solidFill>
                <a:schemeClr val="dk2"/>
              </a:solidFill>
              <a:latin typeface="Nunito"/>
              <a:ea typeface="Nunito"/>
              <a:cs typeface="Nunito"/>
              <a:sym typeface="Nunito"/>
            </a:endParaRPr>
          </a:p>
        </p:txBody>
      </p:sp>
      <p:pic>
        <p:nvPicPr>
          <p:cNvPr id="232" name="Google Shape;232;p27"/>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233" name="Google Shape;233;p27"/>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234" name="Google Shape;234;p27"/>
          <p:cNvSpPr txBox="1"/>
          <p:nvPr/>
        </p:nvSpPr>
        <p:spPr>
          <a:xfrm>
            <a:off x="6045651" y="4877513"/>
            <a:ext cx="1490700" cy="237600"/>
          </a:xfrm>
          <a:prstGeom prst="rect">
            <a:avLst/>
          </a:prstGeom>
          <a:noFill/>
          <a:ln>
            <a:noFill/>
          </a:ln>
        </p:spPr>
        <p:txBody>
          <a:bodyPr anchorCtr="0" anchor="t" bIns="18000" lIns="91425" spcFirstLastPara="1" rIns="91425" wrap="square" tIns="0">
            <a:noAutofit/>
          </a:bodyPr>
          <a:lstStyle/>
          <a:p>
            <a:pPr indent="0" lvl="0" marL="0" marR="0" rtl="0" algn="ctr">
              <a:lnSpc>
                <a:spcPct val="100000"/>
              </a:lnSpc>
              <a:spcBef>
                <a:spcPts val="0"/>
              </a:spcBef>
              <a:spcAft>
                <a:spcPts val="1000"/>
              </a:spcAft>
              <a:buNone/>
            </a:pPr>
            <a:r>
              <a:rPr lang="pl" sz="1200">
                <a:solidFill>
                  <a:schemeClr val="lt2"/>
                </a:solidFill>
                <a:latin typeface="Nunito"/>
                <a:ea typeface="Nunito"/>
                <a:cs typeface="Nunito"/>
                <a:sym typeface="Nunito"/>
              </a:rPr>
              <a:t>Diagram 2</a:t>
            </a:r>
            <a:endParaRPr sz="1200">
              <a:solidFill>
                <a:schemeClr val="lt2"/>
              </a:solidFill>
              <a:latin typeface="Nunito"/>
              <a:ea typeface="Nunito"/>
              <a:cs typeface="Nunito"/>
              <a:sym typeface="Nunito"/>
            </a:endParaRPr>
          </a:p>
        </p:txBody>
      </p:sp>
      <p:sp>
        <p:nvSpPr>
          <p:cNvPr id="235" name="Google Shape;235;p27"/>
          <p:cNvSpPr txBox="1"/>
          <p:nvPr/>
        </p:nvSpPr>
        <p:spPr>
          <a:xfrm>
            <a:off x="1868364" y="4877513"/>
            <a:ext cx="1490700" cy="237600"/>
          </a:xfrm>
          <a:prstGeom prst="rect">
            <a:avLst/>
          </a:prstGeom>
          <a:noFill/>
          <a:ln>
            <a:noFill/>
          </a:ln>
        </p:spPr>
        <p:txBody>
          <a:bodyPr anchorCtr="0" anchor="t" bIns="18000" lIns="91425" spcFirstLastPara="1" rIns="91425" wrap="square" tIns="0">
            <a:noAutofit/>
          </a:bodyPr>
          <a:lstStyle/>
          <a:p>
            <a:pPr indent="0" lvl="0" marL="0" marR="0" rtl="0" algn="ctr">
              <a:lnSpc>
                <a:spcPct val="100000"/>
              </a:lnSpc>
              <a:spcBef>
                <a:spcPts val="0"/>
              </a:spcBef>
              <a:spcAft>
                <a:spcPts val="1000"/>
              </a:spcAft>
              <a:buNone/>
            </a:pPr>
            <a:r>
              <a:rPr lang="pl" sz="1200">
                <a:solidFill>
                  <a:schemeClr val="lt2"/>
                </a:solidFill>
                <a:latin typeface="Nunito"/>
                <a:ea typeface="Nunito"/>
                <a:cs typeface="Nunito"/>
                <a:sym typeface="Nunito"/>
              </a:rPr>
              <a:t>Diagram 1</a:t>
            </a:r>
            <a:endParaRPr sz="1200">
              <a:solidFill>
                <a:schemeClr val="lt2"/>
              </a:solidFill>
              <a:latin typeface="Nunito"/>
              <a:ea typeface="Nunito"/>
              <a:cs typeface="Nunito"/>
              <a:sym typeface="Nunito"/>
            </a:endParaRPr>
          </a:p>
        </p:txBody>
      </p:sp>
      <p:pic>
        <p:nvPicPr>
          <p:cNvPr id="236" name="Google Shape;236;p27"/>
          <p:cNvPicPr preferRelativeResize="0"/>
          <p:nvPr/>
        </p:nvPicPr>
        <p:blipFill>
          <a:blip r:embed="rId4">
            <a:alphaModFix/>
          </a:blip>
          <a:stretch>
            <a:fillRect/>
          </a:stretch>
        </p:blipFill>
        <p:spPr>
          <a:xfrm>
            <a:off x="5080181" y="1220184"/>
            <a:ext cx="3558950" cy="3545914"/>
          </a:xfrm>
          <a:prstGeom prst="rect">
            <a:avLst/>
          </a:prstGeom>
          <a:noFill/>
          <a:ln cap="flat" cmpd="sng" w="38100">
            <a:solidFill>
              <a:schemeClr val="lt2"/>
            </a:solidFill>
            <a:prstDash val="solid"/>
            <a:round/>
            <a:headEnd len="sm" w="sm" type="none"/>
            <a:tailEnd len="sm" w="sm" type="none"/>
          </a:ln>
        </p:spPr>
      </p:pic>
      <p:pic>
        <p:nvPicPr>
          <p:cNvPr id="237" name="Google Shape;237;p27"/>
          <p:cNvPicPr preferRelativeResize="0"/>
          <p:nvPr/>
        </p:nvPicPr>
        <p:blipFill>
          <a:blip r:embed="rId5">
            <a:alphaModFix/>
          </a:blip>
          <a:stretch>
            <a:fillRect/>
          </a:stretch>
        </p:blipFill>
        <p:spPr>
          <a:xfrm>
            <a:off x="767161" y="1209938"/>
            <a:ext cx="3541579" cy="3545913"/>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8"/>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3" name="Google Shape;243;p28"/>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Dziwne zagrania w fuseki</a:t>
            </a:r>
            <a:endParaRPr b="1" sz="3900">
              <a:solidFill>
                <a:schemeClr val="dk2"/>
              </a:solidFill>
              <a:latin typeface="Nunito"/>
              <a:ea typeface="Nunito"/>
              <a:cs typeface="Nunito"/>
              <a:sym typeface="Nunito"/>
            </a:endParaRPr>
          </a:p>
        </p:txBody>
      </p:sp>
      <p:pic>
        <p:nvPicPr>
          <p:cNvPr id="244" name="Google Shape;244;p28"/>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245" name="Google Shape;245;p28"/>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246" name="Google Shape;246;p28"/>
          <p:cNvSpPr txBox="1"/>
          <p:nvPr/>
        </p:nvSpPr>
        <p:spPr>
          <a:xfrm>
            <a:off x="5721674" y="4797392"/>
            <a:ext cx="3024000" cy="237600"/>
          </a:xfrm>
          <a:prstGeom prst="rect">
            <a:avLst/>
          </a:prstGeom>
          <a:noFill/>
          <a:ln>
            <a:noFill/>
          </a:ln>
        </p:spPr>
        <p:txBody>
          <a:bodyPr anchorCtr="0" anchor="t" bIns="18000" lIns="91425" spcFirstLastPara="1" rIns="91425" wrap="square" tIns="0">
            <a:noAutofit/>
          </a:bodyPr>
          <a:lstStyle/>
          <a:p>
            <a:pPr indent="0" lvl="0" marL="0" marR="0" rtl="0" algn="ctr">
              <a:lnSpc>
                <a:spcPct val="100000"/>
              </a:lnSpc>
              <a:spcBef>
                <a:spcPts val="0"/>
              </a:spcBef>
              <a:spcAft>
                <a:spcPts val="1000"/>
              </a:spcAft>
              <a:buNone/>
            </a:pPr>
            <a:r>
              <a:rPr lang="pl" sz="1200">
                <a:solidFill>
                  <a:schemeClr val="lt2"/>
                </a:solidFill>
                <a:latin typeface="Nunito"/>
                <a:ea typeface="Nunito"/>
                <a:cs typeface="Nunito"/>
                <a:sym typeface="Nunito"/>
              </a:rPr>
              <a:t>https://online-go.com/game/62749554</a:t>
            </a:r>
            <a:endParaRPr sz="1200">
              <a:solidFill>
                <a:schemeClr val="lt2"/>
              </a:solidFill>
              <a:latin typeface="Nunito"/>
              <a:ea typeface="Nunito"/>
              <a:cs typeface="Nunito"/>
              <a:sym typeface="Nunito"/>
            </a:endParaRPr>
          </a:p>
        </p:txBody>
      </p:sp>
      <p:sp>
        <p:nvSpPr>
          <p:cNvPr id="247" name="Google Shape;247;p28"/>
          <p:cNvSpPr txBox="1"/>
          <p:nvPr/>
        </p:nvSpPr>
        <p:spPr>
          <a:xfrm>
            <a:off x="184200" y="1107900"/>
            <a:ext cx="4981800" cy="3906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Raz na kilka gier możemy trafić na przeciwnika, który gra dziwnie. Do najczęściej spotykanych zaskakujących sytuacji należą:</a:t>
            </a:r>
            <a:endParaRPr>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AutoNum type="arabicPeriod"/>
            </a:pPr>
            <a:r>
              <a:rPr lang="pl">
                <a:solidFill>
                  <a:schemeClr val="lt2"/>
                </a:solidFill>
                <a:latin typeface="Nunito"/>
                <a:ea typeface="Nunito"/>
                <a:cs typeface="Nunito"/>
                <a:sym typeface="Nunito"/>
              </a:rPr>
              <a:t>Dziwnie umiejscowiony kamień w rogu (np. takamoku, mokuhazushi)</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AutoNum type="arabicPeriod"/>
            </a:pPr>
            <a:r>
              <a:rPr lang="pl">
                <a:solidFill>
                  <a:schemeClr val="lt2"/>
                </a:solidFill>
                <a:latin typeface="Nunito"/>
                <a:ea typeface="Nunito"/>
                <a:cs typeface="Nunito"/>
                <a:sym typeface="Nunito"/>
              </a:rPr>
              <a:t>Nietypowe podejście przeciwnika do naszego rogu</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AutoNum type="arabicPeriod"/>
            </a:pPr>
            <a:r>
              <a:rPr lang="pl">
                <a:solidFill>
                  <a:schemeClr val="lt2"/>
                </a:solidFill>
                <a:latin typeface="Nunito"/>
                <a:ea typeface="Nunito"/>
                <a:cs typeface="Nunito"/>
                <a:sym typeface="Nunito"/>
              </a:rPr>
              <a:t>Przeciwnik gra nietypowe joseki, którego nie znamy</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AutoNum type="arabicPeriod"/>
            </a:pPr>
            <a:r>
              <a:rPr lang="pl">
                <a:solidFill>
                  <a:schemeClr val="lt2"/>
                </a:solidFill>
                <a:latin typeface="Nunito"/>
                <a:ea typeface="Nunito"/>
                <a:cs typeface="Nunito"/>
                <a:sym typeface="Nunito"/>
              </a:rPr>
              <a:t>Przeciwnik ignoruje zasadę “rogi, brzegi, środek”</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AutoNum type="arabicPeriod"/>
            </a:pPr>
            <a:r>
              <a:rPr lang="pl">
                <a:solidFill>
                  <a:schemeClr val="lt2"/>
                </a:solidFill>
                <a:latin typeface="Nunito"/>
                <a:ea typeface="Nunito"/>
                <a:cs typeface="Nunito"/>
                <a:sym typeface="Nunito"/>
              </a:rPr>
              <a:t>Przeciwnik buduje wielkie moyo w jednej z ćwiartek planszy</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AutoNum type="arabicPeriod"/>
            </a:pPr>
            <a:r>
              <a:rPr lang="pl">
                <a:solidFill>
                  <a:schemeClr val="lt2"/>
                </a:solidFill>
                <a:latin typeface="Nunito"/>
                <a:ea typeface="Nunito"/>
                <a:cs typeface="Nunito"/>
                <a:sym typeface="Nunito"/>
              </a:rPr>
              <a:t>Przeciwnik gra bardzo agresywnie, atakuje każdy obszar planszy lub każdy nasz kamieńPrzeanalizujmy każdy z przypadków osobno.</a:t>
            </a:r>
            <a:endParaRPr>
              <a:solidFill>
                <a:schemeClr val="lt2"/>
              </a:solidFill>
              <a:latin typeface="Nunito"/>
              <a:ea typeface="Nunito"/>
              <a:cs typeface="Nunito"/>
              <a:sym typeface="Nunito"/>
            </a:endParaRPr>
          </a:p>
        </p:txBody>
      </p:sp>
      <p:pic>
        <p:nvPicPr>
          <p:cNvPr id="248" name="Google Shape;248;p28"/>
          <p:cNvPicPr preferRelativeResize="0"/>
          <p:nvPr/>
        </p:nvPicPr>
        <p:blipFill>
          <a:blip r:embed="rId4">
            <a:alphaModFix/>
          </a:blip>
          <a:stretch>
            <a:fillRect/>
          </a:stretch>
        </p:blipFill>
        <p:spPr>
          <a:xfrm>
            <a:off x="5378550" y="1241249"/>
            <a:ext cx="3438849" cy="3421826"/>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9"/>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4" name="Google Shape;254;p29"/>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Dziwna pozycja w rogu</a:t>
            </a:r>
            <a:endParaRPr b="1" sz="3900">
              <a:solidFill>
                <a:schemeClr val="dk2"/>
              </a:solidFill>
              <a:latin typeface="Nunito"/>
              <a:ea typeface="Nunito"/>
              <a:cs typeface="Nunito"/>
              <a:sym typeface="Nunito"/>
            </a:endParaRPr>
          </a:p>
        </p:txBody>
      </p:sp>
      <p:pic>
        <p:nvPicPr>
          <p:cNvPr id="255" name="Google Shape;255;p29"/>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256" name="Google Shape;256;p29"/>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257" name="Google Shape;257;p29"/>
          <p:cNvSpPr txBox="1"/>
          <p:nvPr/>
        </p:nvSpPr>
        <p:spPr>
          <a:xfrm>
            <a:off x="184200" y="1107900"/>
            <a:ext cx="4981800" cy="4035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Gdy nasz przeciwnik gra otwarcie, w którym stosuje nietypowe umiejscowienie kamieni w narożnikach (na diagramie obok przeciwnik w obu swoich narożnikach zagrał w takamoku) i nie wiemy jak podejść do takiego narożnika i nie znamy joseki w takiej pozycji to łatwo możemy wpaść w </a:t>
            </a:r>
            <a:r>
              <a:rPr lang="pl">
                <a:solidFill>
                  <a:schemeClr val="lt2"/>
                </a:solidFill>
                <a:latin typeface="Nunito"/>
                <a:ea typeface="Nunito"/>
                <a:cs typeface="Nunito"/>
                <a:sym typeface="Nunito"/>
              </a:rPr>
              <a:t>panikę</a:t>
            </a:r>
            <a:r>
              <a:rPr lang="pl">
                <a:solidFill>
                  <a:schemeClr val="lt2"/>
                </a:solidFill>
                <a:latin typeface="Nunito"/>
                <a:ea typeface="Nunito"/>
                <a:cs typeface="Nunito"/>
                <a:sym typeface="Nunito"/>
              </a:rPr>
              <a:t> i zagrać coś głupiego</a:t>
            </a:r>
            <a:r>
              <a:rPr lang="pl">
                <a:solidFill>
                  <a:schemeClr val="lt2"/>
                </a:solidFill>
                <a:latin typeface="Nunito"/>
                <a:ea typeface="Nunito"/>
                <a:cs typeface="Nunito"/>
                <a:sym typeface="Nunito"/>
              </a:rPr>
              <a:t>. Dlatego </a:t>
            </a:r>
            <a:r>
              <a:rPr lang="pl">
                <a:solidFill>
                  <a:schemeClr val="lt2"/>
                </a:solidFill>
                <a:latin typeface="Nunito"/>
                <a:ea typeface="Nunito"/>
                <a:cs typeface="Nunito"/>
                <a:sym typeface="Nunito"/>
              </a:rPr>
              <a:t>najważniejsze</a:t>
            </a:r>
            <a:r>
              <a:rPr lang="pl">
                <a:solidFill>
                  <a:schemeClr val="lt2"/>
                </a:solidFill>
                <a:latin typeface="Nunito"/>
                <a:ea typeface="Nunito"/>
                <a:cs typeface="Nunito"/>
                <a:sym typeface="Nunito"/>
              </a:rPr>
              <a:t> jest zachowanie spokoju. </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1. </a:t>
            </a:r>
            <a:r>
              <a:rPr lang="pl">
                <a:solidFill>
                  <a:schemeClr val="lt2"/>
                </a:solidFill>
                <a:latin typeface="Nunito"/>
                <a:ea typeface="Nunito"/>
                <a:cs typeface="Nunito"/>
                <a:sym typeface="Nunito"/>
              </a:rPr>
              <a:t>Najprostszym rozwiązaniem jest unikanie grania w tych narożnikach. W otwarciu mamy wiele dużych punktów na planszy i nie musimy koniecznie grać w rogach przeciwnika.</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2. Jeśli po kilku kolejnych ruchach rogi </a:t>
            </a:r>
            <a:r>
              <a:rPr lang="pl">
                <a:solidFill>
                  <a:schemeClr val="lt2"/>
                </a:solidFill>
                <a:latin typeface="Nunito"/>
                <a:ea typeface="Nunito"/>
                <a:cs typeface="Nunito"/>
                <a:sym typeface="Nunito"/>
              </a:rPr>
              <a:t>przeciwnika</a:t>
            </a:r>
            <a:r>
              <a:rPr lang="pl">
                <a:solidFill>
                  <a:schemeClr val="lt2"/>
                </a:solidFill>
                <a:latin typeface="Nunito"/>
                <a:ea typeface="Nunito"/>
                <a:cs typeface="Nunito"/>
                <a:sym typeface="Nunito"/>
              </a:rPr>
              <a:t> nadal będą otwarte to możemy w nich zagrać nastawiając się na unikanie walki i zbudowanie stabilnej grupy. Unikamy cięć, wzmacniamy nasze kamienie. Być może nie zagramy optymalnie, ale to nam nie powinno przegrać gry. Dużo gorsze w </a:t>
            </a:r>
            <a:r>
              <a:rPr lang="pl">
                <a:solidFill>
                  <a:schemeClr val="lt2"/>
                </a:solidFill>
                <a:latin typeface="Nunito"/>
                <a:ea typeface="Nunito"/>
                <a:cs typeface="Nunito"/>
                <a:sym typeface="Nunito"/>
              </a:rPr>
              <a:t>skutkach</a:t>
            </a:r>
            <a:r>
              <a:rPr lang="pl">
                <a:solidFill>
                  <a:schemeClr val="lt2"/>
                </a:solidFill>
                <a:latin typeface="Nunito"/>
                <a:ea typeface="Nunito"/>
                <a:cs typeface="Nunito"/>
                <a:sym typeface="Nunito"/>
              </a:rPr>
              <a:t> może być uwikłanie się w walkę, której nie </a:t>
            </a:r>
            <a:r>
              <a:rPr lang="pl">
                <a:solidFill>
                  <a:schemeClr val="lt2"/>
                </a:solidFill>
                <a:latin typeface="Nunito"/>
                <a:ea typeface="Nunito"/>
                <a:cs typeface="Nunito"/>
                <a:sym typeface="Nunito"/>
              </a:rPr>
              <a:t>rozumiemy</a:t>
            </a:r>
            <a:r>
              <a:rPr lang="pl">
                <a:solidFill>
                  <a:schemeClr val="lt2"/>
                </a:solidFill>
                <a:latin typeface="Nunito"/>
                <a:ea typeface="Nunito"/>
                <a:cs typeface="Nunito"/>
                <a:sym typeface="Nunito"/>
              </a:rPr>
              <a:t>.</a:t>
            </a:r>
            <a:endParaRPr>
              <a:solidFill>
                <a:schemeClr val="lt2"/>
              </a:solidFill>
              <a:latin typeface="Nunito"/>
              <a:ea typeface="Nunito"/>
              <a:cs typeface="Nunito"/>
              <a:sym typeface="Nunito"/>
            </a:endParaRPr>
          </a:p>
        </p:txBody>
      </p:sp>
      <p:pic>
        <p:nvPicPr>
          <p:cNvPr id="258" name="Google Shape;258;p29"/>
          <p:cNvPicPr preferRelativeResize="0"/>
          <p:nvPr/>
        </p:nvPicPr>
        <p:blipFill>
          <a:blip r:embed="rId4">
            <a:alphaModFix/>
          </a:blip>
          <a:stretch>
            <a:fillRect/>
          </a:stretch>
        </p:blipFill>
        <p:spPr>
          <a:xfrm>
            <a:off x="5325985" y="1231512"/>
            <a:ext cx="3654925" cy="3659376"/>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0"/>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p30"/>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Nietypowe kakari przykład 1</a:t>
            </a:r>
            <a:endParaRPr b="1" sz="3900">
              <a:solidFill>
                <a:schemeClr val="dk2"/>
              </a:solidFill>
              <a:latin typeface="Nunito"/>
              <a:ea typeface="Nunito"/>
              <a:cs typeface="Nunito"/>
              <a:sym typeface="Nunito"/>
            </a:endParaRPr>
          </a:p>
        </p:txBody>
      </p:sp>
      <p:pic>
        <p:nvPicPr>
          <p:cNvPr id="265" name="Google Shape;265;p30"/>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266" name="Google Shape;266;p30"/>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267" name="Google Shape;267;p30"/>
          <p:cNvSpPr txBox="1"/>
          <p:nvPr/>
        </p:nvSpPr>
        <p:spPr>
          <a:xfrm>
            <a:off x="184200" y="1107900"/>
            <a:ext cx="4070100" cy="3906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Jeśli przeciwnik podchodzi do naszego rogu w sposób, którego nie znamy i nie jesteśmy pewni jak prawidłowo odpowiedzieć, powinniśmy przede wszystkim pamiętać, by unikać komplikacji i nie pozwolić na rozdzielenie naszych kamieni. W miarę możliwości powinniśmy unikać sytuacji, w której nasze kamienie są całkowicie otoczone. Chcemy mieć wyjście z rogu na jedną z band.</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W przykładzie obok zamiast grać hane w A, możemy po prostu cofnąć się do rogu w B, gdzie jesteśmy bezpieczni. Jeśli przeciwnik zagra ruch w stronę jednej z band, odpowiadamy z drugiej strony tak, aby uniknąć zamknięcia i rozdzielenia naszych kamieni.</a:t>
            </a:r>
            <a:endParaRPr>
              <a:solidFill>
                <a:schemeClr val="lt2"/>
              </a:solidFill>
              <a:latin typeface="Nunito"/>
              <a:ea typeface="Nunito"/>
              <a:cs typeface="Nunito"/>
              <a:sym typeface="Nunito"/>
            </a:endParaRPr>
          </a:p>
        </p:txBody>
      </p:sp>
      <p:pic>
        <p:nvPicPr>
          <p:cNvPr id="268" name="Google Shape;268;p30"/>
          <p:cNvPicPr preferRelativeResize="0"/>
          <p:nvPr/>
        </p:nvPicPr>
        <p:blipFill>
          <a:blip r:embed="rId4">
            <a:alphaModFix/>
          </a:blip>
          <a:stretch>
            <a:fillRect/>
          </a:stretch>
        </p:blipFill>
        <p:spPr>
          <a:xfrm>
            <a:off x="4438600" y="1266687"/>
            <a:ext cx="1768225" cy="1516425"/>
          </a:xfrm>
          <a:prstGeom prst="rect">
            <a:avLst/>
          </a:prstGeom>
          <a:noFill/>
          <a:ln cap="flat" cmpd="sng" w="38100">
            <a:solidFill>
              <a:schemeClr val="lt2"/>
            </a:solidFill>
            <a:prstDash val="solid"/>
            <a:round/>
            <a:headEnd len="sm" w="sm" type="none"/>
            <a:tailEnd len="sm" w="sm" type="none"/>
          </a:ln>
        </p:spPr>
      </p:pic>
      <p:pic>
        <p:nvPicPr>
          <p:cNvPr id="269" name="Google Shape;269;p30"/>
          <p:cNvPicPr preferRelativeResize="0"/>
          <p:nvPr/>
        </p:nvPicPr>
        <p:blipFill>
          <a:blip r:embed="rId5">
            <a:alphaModFix/>
          </a:blip>
          <a:stretch>
            <a:fillRect/>
          </a:stretch>
        </p:blipFill>
        <p:spPr>
          <a:xfrm>
            <a:off x="6518625" y="1198038"/>
            <a:ext cx="2390450" cy="1653707"/>
          </a:xfrm>
          <a:prstGeom prst="rect">
            <a:avLst/>
          </a:prstGeom>
          <a:noFill/>
          <a:ln cap="flat" cmpd="sng" w="38100">
            <a:solidFill>
              <a:schemeClr val="lt2"/>
            </a:solidFill>
            <a:prstDash val="solid"/>
            <a:round/>
            <a:headEnd len="sm" w="sm" type="none"/>
            <a:tailEnd len="sm" w="sm" type="none"/>
          </a:ln>
        </p:spPr>
      </p:pic>
      <p:pic>
        <p:nvPicPr>
          <p:cNvPr id="270" name="Google Shape;270;p30"/>
          <p:cNvPicPr preferRelativeResize="0"/>
          <p:nvPr/>
        </p:nvPicPr>
        <p:blipFill>
          <a:blip r:embed="rId6">
            <a:alphaModFix/>
          </a:blip>
          <a:stretch>
            <a:fillRect/>
          </a:stretch>
        </p:blipFill>
        <p:spPr>
          <a:xfrm>
            <a:off x="6478387" y="3165025"/>
            <a:ext cx="2470925" cy="1746900"/>
          </a:xfrm>
          <a:prstGeom prst="rect">
            <a:avLst/>
          </a:prstGeom>
          <a:noFill/>
          <a:ln cap="flat" cmpd="sng" w="38100">
            <a:solidFill>
              <a:schemeClr val="lt2"/>
            </a:solidFill>
            <a:prstDash val="solid"/>
            <a:round/>
            <a:headEnd len="sm" w="sm" type="none"/>
            <a:tailEnd len="sm" w="sm" type="none"/>
          </a:ln>
        </p:spPr>
      </p:pic>
      <p:pic>
        <p:nvPicPr>
          <p:cNvPr id="271" name="Google Shape;271;p30"/>
          <p:cNvPicPr preferRelativeResize="0"/>
          <p:nvPr/>
        </p:nvPicPr>
        <p:blipFill>
          <a:blip r:embed="rId7">
            <a:alphaModFix/>
          </a:blip>
          <a:stretch>
            <a:fillRect/>
          </a:stretch>
        </p:blipFill>
        <p:spPr>
          <a:xfrm>
            <a:off x="4482225" y="3185188"/>
            <a:ext cx="1768225" cy="1706565"/>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1"/>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7" name="Google Shape;277;p31"/>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Nietypowe kakari przykład 2</a:t>
            </a:r>
            <a:endParaRPr b="1" sz="3900">
              <a:solidFill>
                <a:schemeClr val="dk2"/>
              </a:solidFill>
              <a:latin typeface="Nunito"/>
              <a:ea typeface="Nunito"/>
              <a:cs typeface="Nunito"/>
              <a:sym typeface="Nunito"/>
            </a:endParaRPr>
          </a:p>
        </p:txBody>
      </p:sp>
      <p:pic>
        <p:nvPicPr>
          <p:cNvPr id="278" name="Google Shape;278;p31"/>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279" name="Google Shape;279;p31"/>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280" name="Google Shape;280;p31"/>
          <p:cNvSpPr txBox="1"/>
          <p:nvPr/>
        </p:nvSpPr>
        <p:spPr>
          <a:xfrm>
            <a:off x="184200" y="1107900"/>
            <a:ext cx="3496200" cy="3906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W kolejnej sytuacji jako naturalne nasuwają </a:t>
            </a:r>
            <a:r>
              <a:rPr lang="pl">
                <a:solidFill>
                  <a:schemeClr val="lt2"/>
                </a:solidFill>
                <a:latin typeface="Nunito"/>
                <a:ea typeface="Nunito"/>
                <a:cs typeface="Nunito"/>
                <a:sym typeface="Nunito"/>
              </a:rPr>
              <a:t>się</a:t>
            </a:r>
            <a:r>
              <a:rPr lang="pl">
                <a:solidFill>
                  <a:schemeClr val="lt2"/>
                </a:solidFill>
                <a:latin typeface="Nunito"/>
                <a:ea typeface="Nunito"/>
                <a:cs typeface="Nunito"/>
                <a:sym typeface="Nunito"/>
              </a:rPr>
              <a:t> odpowiedzi w A i B. Idea jest prosta - chcemy wzmocnić nasz atakowany kamień i jednocześnie osłabić kamień przeciwnika. W sytuacjach, gdy nasz kamień jest bezpośrednio atakowany (zagranie w oddech lub po </a:t>
            </a:r>
            <a:r>
              <a:rPr lang="pl">
                <a:solidFill>
                  <a:schemeClr val="lt2"/>
                </a:solidFill>
                <a:latin typeface="Nunito"/>
                <a:ea typeface="Nunito"/>
                <a:cs typeface="Nunito"/>
                <a:sym typeface="Nunito"/>
              </a:rPr>
              <a:t>skosie</a:t>
            </a:r>
            <a:r>
              <a:rPr lang="pl">
                <a:solidFill>
                  <a:schemeClr val="lt2"/>
                </a:solidFill>
                <a:latin typeface="Nunito"/>
                <a:ea typeface="Nunito"/>
                <a:cs typeface="Nunito"/>
                <a:sym typeface="Nunito"/>
              </a:rPr>
              <a:t>) najczęściej odpowiadamy </a:t>
            </a:r>
            <a:r>
              <a:rPr lang="pl">
                <a:solidFill>
                  <a:schemeClr val="lt2"/>
                </a:solidFill>
                <a:latin typeface="Nunito"/>
                <a:ea typeface="Nunito"/>
                <a:cs typeface="Nunito"/>
                <a:sym typeface="Nunito"/>
              </a:rPr>
              <a:t>wydłużeniem</a:t>
            </a:r>
            <a:r>
              <a:rPr lang="pl">
                <a:solidFill>
                  <a:schemeClr val="lt2"/>
                </a:solidFill>
                <a:latin typeface="Nunito"/>
                <a:ea typeface="Nunito"/>
                <a:cs typeface="Nunito"/>
                <a:sym typeface="Nunito"/>
              </a:rPr>
              <a:t>. </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Co do zasady, gdy nasz kamień znajduje się w rogu, chcemy raczej </a:t>
            </a:r>
            <a:r>
              <a:rPr lang="pl">
                <a:solidFill>
                  <a:schemeClr val="lt2"/>
                </a:solidFill>
                <a:latin typeface="Nunito"/>
                <a:ea typeface="Nunito"/>
                <a:cs typeface="Nunito"/>
                <a:sym typeface="Nunito"/>
              </a:rPr>
              <a:t>wydłużać</a:t>
            </a:r>
            <a:r>
              <a:rPr lang="pl">
                <a:solidFill>
                  <a:schemeClr val="lt2"/>
                </a:solidFill>
                <a:latin typeface="Nunito"/>
                <a:ea typeface="Nunito"/>
                <a:cs typeface="Nunito"/>
                <a:sym typeface="Nunito"/>
              </a:rPr>
              <a:t> się tak, by </a:t>
            </a:r>
            <a:r>
              <a:rPr lang="pl">
                <a:solidFill>
                  <a:schemeClr val="lt2"/>
                </a:solidFill>
                <a:latin typeface="Nunito"/>
                <a:ea typeface="Nunito"/>
                <a:cs typeface="Nunito"/>
                <a:sym typeface="Nunito"/>
              </a:rPr>
              <a:t>zachować</a:t>
            </a:r>
            <a:r>
              <a:rPr lang="pl">
                <a:solidFill>
                  <a:schemeClr val="lt2"/>
                </a:solidFill>
                <a:latin typeface="Nunito"/>
                <a:ea typeface="Nunito"/>
                <a:cs typeface="Nunito"/>
                <a:sym typeface="Nunito"/>
              </a:rPr>
              <a:t> teren w rogu. Prawidłowym jest więc ruch w A. Jednakże, jeśli </a:t>
            </a:r>
            <a:r>
              <a:rPr lang="pl">
                <a:solidFill>
                  <a:schemeClr val="lt2"/>
                </a:solidFill>
                <a:latin typeface="Nunito"/>
                <a:ea typeface="Nunito"/>
                <a:cs typeface="Nunito"/>
                <a:sym typeface="Nunito"/>
              </a:rPr>
              <a:t>mielibyśmy</a:t>
            </a:r>
            <a:r>
              <a:rPr lang="pl">
                <a:solidFill>
                  <a:schemeClr val="lt2"/>
                </a:solidFill>
                <a:latin typeface="Nunito"/>
                <a:ea typeface="Nunito"/>
                <a:cs typeface="Nunito"/>
                <a:sym typeface="Nunito"/>
              </a:rPr>
              <a:t> już kamień na górnej bandzie w </a:t>
            </a:r>
            <a:r>
              <a:rPr lang="pl">
                <a:solidFill>
                  <a:schemeClr val="lt2"/>
                </a:solidFill>
                <a:latin typeface="Nunito"/>
                <a:ea typeface="Nunito"/>
                <a:cs typeface="Nunito"/>
                <a:sym typeface="Nunito"/>
              </a:rPr>
              <a:t>okolicach</a:t>
            </a:r>
            <a:r>
              <a:rPr lang="pl">
                <a:solidFill>
                  <a:schemeClr val="lt2"/>
                </a:solidFill>
                <a:latin typeface="Nunito"/>
                <a:ea typeface="Nunito"/>
                <a:cs typeface="Nunito"/>
                <a:sym typeface="Nunito"/>
              </a:rPr>
              <a:t> punktu  “X” to można także rozważyć ruch w B.</a:t>
            </a:r>
            <a:endParaRPr>
              <a:solidFill>
                <a:schemeClr val="lt2"/>
              </a:solidFill>
              <a:latin typeface="Nunito"/>
              <a:ea typeface="Nunito"/>
              <a:cs typeface="Nunito"/>
              <a:sym typeface="Nunito"/>
            </a:endParaRPr>
          </a:p>
        </p:txBody>
      </p:sp>
      <p:pic>
        <p:nvPicPr>
          <p:cNvPr id="281" name="Google Shape;281;p31"/>
          <p:cNvPicPr preferRelativeResize="0"/>
          <p:nvPr/>
        </p:nvPicPr>
        <p:blipFill>
          <a:blip r:embed="rId4">
            <a:alphaModFix/>
          </a:blip>
          <a:stretch>
            <a:fillRect/>
          </a:stretch>
        </p:blipFill>
        <p:spPr>
          <a:xfrm>
            <a:off x="3950750" y="1220605"/>
            <a:ext cx="2505050" cy="1873752"/>
          </a:xfrm>
          <a:prstGeom prst="rect">
            <a:avLst/>
          </a:prstGeom>
          <a:noFill/>
          <a:ln cap="flat" cmpd="sng" w="38100">
            <a:solidFill>
              <a:schemeClr val="lt2"/>
            </a:solidFill>
            <a:prstDash val="solid"/>
            <a:round/>
            <a:headEnd len="sm" w="sm" type="none"/>
            <a:tailEnd len="sm" w="sm" type="none"/>
          </a:ln>
        </p:spPr>
      </p:pic>
      <p:pic>
        <p:nvPicPr>
          <p:cNvPr id="282" name="Google Shape;282;p31"/>
          <p:cNvPicPr preferRelativeResize="0"/>
          <p:nvPr/>
        </p:nvPicPr>
        <p:blipFill>
          <a:blip r:embed="rId5">
            <a:alphaModFix/>
          </a:blip>
          <a:stretch>
            <a:fillRect/>
          </a:stretch>
        </p:blipFill>
        <p:spPr>
          <a:xfrm>
            <a:off x="6726282" y="1220605"/>
            <a:ext cx="2182918" cy="2401750"/>
          </a:xfrm>
          <a:prstGeom prst="rect">
            <a:avLst/>
          </a:prstGeom>
          <a:noFill/>
          <a:ln cap="flat" cmpd="sng" w="38100">
            <a:solidFill>
              <a:schemeClr val="lt2"/>
            </a:solidFill>
            <a:prstDash val="solid"/>
            <a:round/>
            <a:headEnd len="sm" w="sm" type="none"/>
            <a:tailEnd len="sm" w="sm" type="none"/>
          </a:ln>
        </p:spPr>
      </p:pic>
      <p:sp>
        <p:nvSpPr>
          <p:cNvPr id="283" name="Google Shape;283;p31"/>
          <p:cNvSpPr txBox="1"/>
          <p:nvPr/>
        </p:nvSpPr>
        <p:spPr>
          <a:xfrm>
            <a:off x="3752100" y="3713700"/>
            <a:ext cx="5218200" cy="1300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1000"/>
              </a:spcAft>
              <a:buNone/>
            </a:pPr>
            <a:r>
              <a:rPr lang="pl">
                <a:solidFill>
                  <a:schemeClr val="lt2"/>
                </a:solidFill>
                <a:latin typeface="Nunito"/>
                <a:ea typeface="Nunito"/>
                <a:cs typeface="Nunito"/>
                <a:sym typeface="Nunito"/>
              </a:rPr>
              <a:t>Dopóki gramy solidnie, a nasze ruchy są spójne z tym co się dzieje w pobliżu rogu, każda sekwencja jest akceptowalna i nie stanie się przyczyną przegrania gry.</a:t>
            </a:r>
            <a:endParaRPr>
              <a:solidFill>
                <a:schemeClr val="lt2"/>
              </a:solidFill>
              <a:latin typeface="Nunito"/>
              <a:ea typeface="Nunito"/>
              <a:cs typeface="Nunito"/>
              <a:sym typeface="Nuni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2"/>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9" name="Google Shape;289;p32"/>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Nietypowe joseki -  co robić ?</a:t>
            </a:r>
            <a:endParaRPr b="1" sz="3900">
              <a:solidFill>
                <a:schemeClr val="dk2"/>
              </a:solidFill>
              <a:latin typeface="Nunito"/>
              <a:ea typeface="Nunito"/>
              <a:cs typeface="Nunito"/>
              <a:sym typeface="Nunito"/>
            </a:endParaRPr>
          </a:p>
        </p:txBody>
      </p:sp>
      <p:pic>
        <p:nvPicPr>
          <p:cNvPr id="290" name="Google Shape;290;p32"/>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291" name="Google Shape;291;p32"/>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292" name="Google Shape;292;p32"/>
          <p:cNvSpPr txBox="1"/>
          <p:nvPr/>
        </p:nvSpPr>
        <p:spPr>
          <a:xfrm>
            <a:off x="184200" y="1107900"/>
            <a:ext cx="3893100" cy="3906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Przeciwnik</a:t>
            </a:r>
            <a:r>
              <a:rPr lang="pl">
                <a:solidFill>
                  <a:schemeClr val="lt2"/>
                </a:solidFill>
                <a:latin typeface="Nunito"/>
                <a:ea typeface="Nunito"/>
                <a:cs typeface="Nunito"/>
                <a:sym typeface="Nunito"/>
              </a:rPr>
              <a:t> zagrał pincer na nasz kamień. To nie jest niespotykane joseki, ale u początkujących graczy zdarza się stosunkowo rzadko, bo jest trudne i </a:t>
            </a:r>
            <a:r>
              <a:rPr lang="pl">
                <a:solidFill>
                  <a:schemeClr val="lt2"/>
                </a:solidFill>
                <a:latin typeface="Nunito"/>
                <a:ea typeface="Nunito"/>
                <a:cs typeface="Nunito"/>
                <a:sym typeface="Nunito"/>
              </a:rPr>
              <a:t>może</a:t>
            </a:r>
            <a:r>
              <a:rPr lang="pl">
                <a:solidFill>
                  <a:schemeClr val="lt2"/>
                </a:solidFill>
                <a:latin typeface="Nunito"/>
                <a:ea typeface="Nunito"/>
                <a:cs typeface="Nunito"/>
                <a:sym typeface="Nunito"/>
              </a:rPr>
              <a:t> prowadzić do skomplikowanej walki. Jest spora </a:t>
            </a:r>
            <a:r>
              <a:rPr lang="pl">
                <a:solidFill>
                  <a:schemeClr val="lt2"/>
                </a:solidFill>
                <a:latin typeface="Nunito"/>
                <a:ea typeface="Nunito"/>
                <a:cs typeface="Nunito"/>
                <a:sym typeface="Nunito"/>
              </a:rPr>
              <a:t>szansa</a:t>
            </a:r>
            <a:r>
              <a:rPr lang="pl">
                <a:solidFill>
                  <a:schemeClr val="lt2"/>
                </a:solidFill>
                <a:latin typeface="Nunito"/>
                <a:ea typeface="Nunito"/>
                <a:cs typeface="Nunito"/>
                <a:sym typeface="Nunito"/>
              </a:rPr>
              <a:t>, że jako początkujący gracz go nie znasz. Co robić? </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Zachowaj spokój i postaraj się zapewnić swoim kamieniom bezpieczeństwo. </a:t>
            </a:r>
            <a:r>
              <a:rPr lang="pl">
                <a:solidFill>
                  <a:schemeClr val="lt2"/>
                </a:solidFill>
                <a:latin typeface="Nunito"/>
                <a:ea typeface="Nunito"/>
                <a:cs typeface="Nunito"/>
                <a:sym typeface="Nunito"/>
              </a:rPr>
              <a:t>Przeciwnik</a:t>
            </a:r>
            <a:r>
              <a:rPr lang="pl">
                <a:solidFill>
                  <a:schemeClr val="lt2"/>
                </a:solidFill>
                <a:latin typeface="Nunito"/>
                <a:ea typeface="Nunito"/>
                <a:cs typeface="Nunito"/>
                <a:sym typeface="Nunito"/>
              </a:rPr>
              <a:t> grając incer utworzył drugą grupę. Naturalnym jest rozdzielenie jego kamieni w taki sposób by nasze pozostawały nierozcinalne. Wyskok do środka planszy jest zawsze bezpieczny. Możemy nawet wyskoczyć 2 razy. Co prawda dajemy przeciwnikowi nieco terenu na bandzie, ale nasza grupa staje się silniejsza i trudniejsza do zaatakowania. Ruch białych 3 nie jest optymalny, ale ułatwia dalszą grę.</a:t>
            </a:r>
            <a:endParaRPr>
              <a:solidFill>
                <a:schemeClr val="lt2"/>
              </a:solidFill>
              <a:latin typeface="Nunito"/>
              <a:ea typeface="Nunito"/>
              <a:cs typeface="Nunito"/>
              <a:sym typeface="Nunito"/>
            </a:endParaRPr>
          </a:p>
        </p:txBody>
      </p:sp>
      <p:sp>
        <p:nvSpPr>
          <p:cNvPr id="293" name="Google Shape;293;p32"/>
          <p:cNvSpPr txBox="1"/>
          <p:nvPr/>
        </p:nvSpPr>
        <p:spPr>
          <a:xfrm>
            <a:off x="4077300" y="3611250"/>
            <a:ext cx="4893000" cy="1300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Gdy </a:t>
            </a:r>
            <a:r>
              <a:rPr lang="pl">
                <a:solidFill>
                  <a:schemeClr val="lt2"/>
                </a:solidFill>
                <a:latin typeface="Nunito"/>
                <a:ea typeface="Nunito"/>
                <a:cs typeface="Nunito"/>
                <a:sym typeface="Nunito"/>
              </a:rPr>
              <a:t>już</a:t>
            </a:r>
            <a:r>
              <a:rPr lang="pl">
                <a:solidFill>
                  <a:schemeClr val="lt2"/>
                </a:solidFill>
                <a:latin typeface="Nunito"/>
                <a:ea typeface="Nunito"/>
                <a:cs typeface="Nunito"/>
                <a:sym typeface="Nunito"/>
              </a:rPr>
              <a:t> wzmocnimy naszą atakowaną grupę, możemy rozpocząć kontratak na kamień przeciwnika, </a:t>
            </a:r>
            <a:r>
              <a:rPr lang="pl">
                <a:solidFill>
                  <a:schemeClr val="lt2"/>
                </a:solidFill>
                <a:latin typeface="Nunito"/>
                <a:ea typeface="Nunito"/>
                <a:cs typeface="Nunito"/>
                <a:sym typeface="Nunito"/>
              </a:rPr>
              <a:t>który</a:t>
            </a:r>
            <a:r>
              <a:rPr lang="pl">
                <a:solidFill>
                  <a:schemeClr val="lt2"/>
                </a:solidFill>
                <a:latin typeface="Nunito"/>
                <a:ea typeface="Nunito"/>
                <a:cs typeface="Nunito"/>
                <a:sym typeface="Nunito"/>
              </a:rPr>
              <a:t> </a:t>
            </a:r>
            <a:r>
              <a:rPr lang="pl">
                <a:solidFill>
                  <a:schemeClr val="lt2"/>
                </a:solidFill>
                <a:latin typeface="Nunito"/>
                <a:ea typeface="Nunito"/>
                <a:cs typeface="Nunito"/>
                <a:sym typeface="Nunito"/>
              </a:rPr>
              <a:t>nie</a:t>
            </a:r>
            <a:r>
              <a:rPr lang="pl">
                <a:solidFill>
                  <a:schemeClr val="lt2"/>
                </a:solidFill>
                <a:latin typeface="Nunito"/>
                <a:ea typeface="Nunito"/>
                <a:cs typeface="Nunito"/>
                <a:sym typeface="Nunito"/>
              </a:rPr>
              <a:t> był wzmacniany. Zabieramy mu miejsce na zbudowanie bazy.</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Najważniejsze jest dopilnowanie aby nasze kamienie były nierozcinalne oraz unikanie otoczenia nas przez przeciwnika.</a:t>
            </a:r>
            <a:endParaRPr>
              <a:solidFill>
                <a:schemeClr val="lt2"/>
              </a:solidFill>
              <a:latin typeface="Nunito"/>
              <a:ea typeface="Nunito"/>
              <a:cs typeface="Nunito"/>
              <a:sym typeface="Nunito"/>
            </a:endParaRPr>
          </a:p>
        </p:txBody>
      </p:sp>
      <p:pic>
        <p:nvPicPr>
          <p:cNvPr id="294" name="Google Shape;294;p32"/>
          <p:cNvPicPr preferRelativeResize="0"/>
          <p:nvPr/>
        </p:nvPicPr>
        <p:blipFill rotWithShape="1">
          <a:blip r:embed="rId4">
            <a:alphaModFix/>
          </a:blip>
          <a:srcRect b="0" l="0" r="0" t="2620"/>
          <a:stretch/>
        </p:blipFill>
        <p:spPr>
          <a:xfrm>
            <a:off x="7000300" y="1202900"/>
            <a:ext cx="1970000" cy="1533550"/>
          </a:xfrm>
          <a:prstGeom prst="rect">
            <a:avLst/>
          </a:prstGeom>
          <a:noFill/>
          <a:ln cap="flat" cmpd="sng" w="38100">
            <a:solidFill>
              <a:schemeClr val="lt2"/>
            </a:solidFill>
            <a:prstDash val="solid"/>
            <a:round/>
            <a:headEnd len="sm" w="sm" type="none"/>
            <a:tailEnd len="sm" w="sm" type="none"/>
          </a:ln>
        </p:spPr>
      </p:pic>
      <p:pic>
        <p:nvPicPr>
          <p:cNvPr id="295" name="Google Shape;295;p32"/>
          <p:cNvPicPr preferRelativeResize="0"/>
          <p:nvPr/>
        </p:nvPicPr>
        <p:blipFill>
          <a:blip r:embed="rId5">
            <a:alphaModFix/>
          </a:blip>
          <a:stretch>
            <a:fillRect/>
          </a:stretch>
        </p:blipFill>
        <p:spPr>
          <a:xfrm>
            <a:off x="4304125" y="1179200"/>
            <a:ext cx="2469317" cy="2382100"/>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3"/>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1" name="Google Shape;301;p33"/>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Przeciwnik nie gra w rogach</a:t>
            </a:r>
            <a:endParaRPr b="1" sz="3500">
              <a:solidFill>
                <a:schemeClr val="dk2"/>
              </a:solidFill>
              <a:latin typeface="Nunito"/>
              <a:ea typeface="Nunito"/>
              <a:cs typeface="Nunito"/>
              <a:sym typeface="Nunito"/>
            </a:endParaRPr>
          </a:p>
        </p:txBody>
      </p:sp>
      <p:pic>
        <p:nvPicPr>
          <p:cNvPr id="302" name="Google Shape;302;p33"/>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303" name="Google Shape;303;p33"/>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304" name="Google Shape;304;p33"/>
          <p:cNvSpPr txBox="1"/>
          <p:nvPr/>
        </p:nvSpPr>
        <p:spPr>
          <a:xfrm>
            <a:off x="184200" y="1107900"/>
            <a:ext cx="4838400" cy="3906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Wszyscy uczyli mnie, żeby na początku </a:t>
            </a:r>
            <a:r>
              <a:rPr lang="pl">
                <a:solidFill>
                  <a:schemeClr val="lt2"/>
                </a:solidFill>
                <a:latin typeface="Nunito"/>
                <a:ea typeface="Nunito"/>
                <a:cs typeface="Nunito"/>
                <a:sym typeface="Nunito"/>
              </a:rPr>
              <a:t>zajmować</a:t>
            </a:r>
            <a:r>
              <a:rPr lang="pl">
                <a:solidFill>
                  <a:schemeClr val="lt2"/>
                </a:solidFill>
                <a:latin typeface="Nunito"/>
                <a:ea typeface="Nunito"/>
                <a:cs typeface="Nunito"/>
                <a:sym typeface="Nunito"/>
              </a:rPr>
              <a:t> rogi, a przeciwnik gra inaczej. Czy to jakaś sekretna taktyka? Jak sobie z nią poradzić?</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Taka gra tak naprawdę jest </a:t>
            </a:r>
            <a:r>
              <a:rPr lang="pl">
                <a:solidFill>
                  <a:schemeClr val="lt2"/>
                </a:solidFill>
                <a:latin typeface="Nunito"/>
                <a:ea typeface="Nunito"/>
                <a:cs typeface="Nunito"/>
                <a:sym typeface="Nunito"/>
              </a:rPr>
              <a:t>bardzo</a:t>
            </a:r>
            <a:r>
              <a:rPr lang="pl">
                <a:solidFill>
                  <a:schemeClr val="lt2"/>
                </a:solidFill>
                <a:latin typeface="Nunito"/>
                <a:ea typeface="Nunito"/>
                <a:cs typeface="Nunito"/>
                <a:sym typeface="Nunito"/>
              </a:rPr>
              <a:t> prosta do wygrania. </a:t>
            </a:r>
            <a:r>
              <a:rPr lang="pl">
                <a:solidFill>
                  <a:schemeClr val="lt2"/>
                </a:solidFill>
                <a:latin typeface="Nunito"/>
                <a:ea typeface="Nunito"/>
                <a:cs typeface="Nunito"/>
                <a:sym typeface="Nunito"/>
              </a:rPr>
              <a:t>Powinniśmy</a:t>
            </a:r>
            <a:r>
              <a:rPr lang="pl">
                <a:solidFill>
                  <a:schemeClr val="lt2"/>
                </a:solidFill>
                <a:latin typeface="Nunito"/>
                <a:ea typeface="Nunito"/>
                <a:cs typeface="Nunito"/>
                <a:sym typeface="Nunito"/>
              </a:rPr>
              <a:t> robić swoje - grać zgodnie z </a:t>
            </a:r>
            <a:r>
              <a:rPr lang="pl">
                <a:solidFill>
                  <a:schemeClr val="lt2"/>
                </a:solidFill>
                <a:latin typeface="Nunito"/>
                <a:ea typeface="Nunito"/>
                <a:cs typeface="Nunito"/>
                <a:sym typeface="Nunito"/>
              </a:rPr>
              <a:t>zasadami</a:t>
            </a:r>
            <a:r>
              <a:rPr lang="pl">
                <a:solidFill>
                  <a:schemeClr val="lt2"/>
                </a:solidFill>
                <a:latin typeface="Nunito"/>
                <a:ea typeface="Nunito"/>
                <a:cs typeface="Nunito"/>
                <a:sym typeface="Nunito"/>
              </a:rPr>
              <a:t>, które nam wszyscy powtarzają. Jeśli przeciwnik nie zajmuje rogów, to my je zajmijmy. To nie nasz problem jak wygrać grę stosując dziwna taktykę. To nasz przeciwnik musi wiedzieć w jaki sposób zrekompensować sobie </a:t>
            </a:r>
            <a:r>
              <a:rPr lang="pl">
                <a:solidFill>
                  <a:schemeClr val="lt2"/>
                </a:solidFill>
                <a:latin typeface="Nunito"/>
                <a:ea typeface="Nunito"/>
                <a:cs typeface="Nunito"/>
                <a:sym typeface="Nunito"/>
              </a:rPr>
              <a:t>utratę</a:t>
            </a:r>
            <a:r>
              <a:rPr lang="pl">
                <a:solidFill>
                  <a:schemeClr val="lt2"/>
                </a:solidFill>
                <a:latin typeface="Nunito"/>
                <a:ea typeface="Nunito"/>
                <a:cs typeface="Nunito"/>
                <a:sym typeface="Nunito"/>
              </a:rPr>
              <a:t> terenu w narożnikach. My grając w rogach nie tylko otaczamy w nich teren, ale także budujemy bardzo silne grupy, które pomogą nam w dalszych podbojach i/lub ewentualnej walce. Przeciwnik pozbawiając się takich atutów utrudnia grę sobie, a nie nam. </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Nie należy się bać wszystkiego, co inne, niespotykane czy nieszablonowe.</a:t>
            </a:r>
            <a:endParaRPr>
              <a:solidFill>
                <a:schemeClr val="lt2"/>
              </a:solidFill>
              <a:latin typeface="Nunito"/>
              <a:ea typeface="Nunito"/>
              <a:cs typeface="Nunito"/>
              <a:sym typeface="Nunito"/>
            </a:endParaRPr>
          </a:p>
        </p:txBody>
      </p:sp>
      <p:pic>
        <p:nvPicPr>
          <p:cNvPr id="305" name="Google Shape;305;p33"/>
          <p:cNvPicPr preferRelativeResize="0"/>
          <p:nvPr/>
        </p:nvPicPr>
        <p:blipFill>
          <a:blip r:embed="rId4">
            <a:alphaModFix/>
          </a:blip>
          <a:stretch>
            <a:fillRect/>
          </a:stretch>
        </p:blipFill>
        <p:spPr>
          <a:xfrm>
            <a:off x="5156300" y="1179200"/>
            <a:ext cx="3835300" cy="3835300"/>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4"/>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1" name="Google Shape;311;p34"/>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Przerażające moyo</a:t>
            </a:r>
            <a:endParaRPr b="1" sz="3500">
              <a:solidFill>
                <a:schemeClr val="dk2"/>
              </a:solidFill>
              <a:latin typeface="Nunito"/>
              <a:ea typeface="Nunito"/>
              <a:cs typeface="Nunito"/>
              <a:sym typeface="Nunito"/>
            </a:endParaRPr>
          </a:p>
        </p:txBody>
      </p:sp>
      <p:pic>
        <p:nvPicPr>
          <p:cNvPr id="312" name="Google Shape;312;p34"/>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313" name="Google Shape;313;p34"/>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314" name="Google Shape;314;p34"/>
          <p:cNvSpPr txBox="1"/>
          <p:nvPr/>
        </p:nvSpPr>
        <p:spPr>
          <a:xfrm>
            <a:off x="184200" y="1107900"/>
            <a:ext cx="4838400" cy="3906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W tej grze biały postanowił zagarnąć dla siebie większą część ze środka planszy, podczas gdy czarny skupił się raczej na otaczaniu terenu w rogach i brzegach. Jakkolwiek przerażające to moyo może się </a:t>
            </a:r>
            <a:r>
              <a:rPr lang="pl">
                <a:solidFill>
                  <a:schemeClr val="lt2"/>
                </a:solidFill>
                <a:latin typeface="Nunito"/>
                <a:ea typeface="Nunito"/>
                <a:cs typeface="Nunito"/>
                <a:sym typeface="Nunito"/>
              </a:rPr>
              <a:t>wydawać</a:t>
            </a:r>
            <a:r>
              <a:rPr lang="pl">
                <a:solidFill>
                  <a:schemeClr val="lt2"/>
                </a:solidFill>
                <a:latin typeface="Nunito"/>
                <a:ea typeface="Nunito"/>
                <a:cs typeface="Nunito"/>
                <a:sym typeface="Nunito"/>
              </a:rPr>
              <a:t>, gra jest </a:t>
            </a:r>
            <a:r>
              <a:rPr lang="pl">
                <a:solidFill>
                  <a:schemeClr val="lt2"/>
                </a:solidFill>
                <a:latin typeface="Nunito"/>
                <a:ea typeface="Nunito"/>
                <a:cs typeface="Nunito"/>
                <a:sym typeface="Nunito"/>
              </a:rPr>
              <a:t>całkowicie</a:t>
            </a:r>
            <a:r>
              <a:rPr lang="pl">
                <a:solidFill>
                  <a:schemeClr val="lt2"/>
                </a:solidFill>
                <a:latin typeface="Nunito"/>
                <a:ea typeface="Nunito"/>
                <a:cs typeface="Nunito"/>
                <a:sym typeface="Nunito"/>
              </a:rPr>
              <a:t> wyrównana.</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Najbardziej </a:t>
            </a:r>
            <a:r>
              <a:rPr lang="pl">
                <a:solidFill>
                  <a:schemeClr val="lt2"/>
                </a:solidFill>
                <a:latin typeface="Nunito"/>
                <a:ea typeface="Nunito"/>
                <a:cs typeface="Nunito"/>
                <a:sym typeface="Nunito"/>
              </a:rPr>
              <a:t>wysunięty</a:t>
            </a:r>
            <a:r>
              <a:rPr lang="pl">
                <a:solidFill>
                  <a:schemeClr val="lt2"/>
                </a:solidFill>
                <a:latin typeface="Nunito"/>
                <a:ea typeface="Nunito"/>
                <a:cs typeface="Nunito"/>
                <a:sym typeface="Nunito"/>
              </a:rPr>
              <a:t> kamień białych nie jest w stanie kontrolować całości obszaru w środku planszy. Jest zbytnio oddalony od pozostałych białych kamieni. Dlatego obszar białych na pewno da się pomniejszyć. Aby to zrobić należy zacząć grając gdzieś na linii pomiędzy najdalej </a:t>
            </a:r>
            <a:r>
              <a:rPr lang="pl">
                <a:solidFill>
                  <a:schemeClr val="lt2"/>
                </a:solidFill>
                <a:latin typeface="Nunito"/>
                <a:ea typeface="Nunito"/>
                <a:cs typeface="Nunito"/>
                <a:sym typeface="Nunito"/>
              </a:rPr>
              <a:t>wysuniętymi</a:t>
            </a:r>
            <a:r>
              <a:rPr lang="pl">
                <a:solidFill>
                  <a:schemeClr val="lt2"/>
                </a:solidFill>
                <a:latin typeface="Nunito"/>
                <a:ea typeface="Nunito"/>
                <a:cs typeface="Nunito"/>
                <a:sym typeface="Nunito"/>
              </a:rPr>
              <a:t> kamieniami białego, szukając wejścia do środka tego obszaru.</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Jeśli czarn zmniejszą nieco obszar białych, to ich własny teren (zwłaszcza w rogach) powinien wystarczyć do wygranej.</a:t>
            </a:r>
            <a:endParaRPr>
              <a:solidFill>
                <a:schemeClr val="lt2"/>
              </a:solidFill>
              <a:latin typeface="Nunito"/>
              <a:ea typeface="Nunito"/>
              <a:cs typeface="Nunito"/>
              <a:sym typeface="Nunito"/>
            </a:endParaRPr>
          </a:p>
        </p:txBody>
      </p:sp>
      <p:pic>
        <p:nvPicPr>
          <p:cNvPr id="315" name="Google Shape;315;p34"/>
          <p:cNvPicPr preferRelativeResize="0"/>
          <p:nvPr/>
        </p:nvPicPr>
        <p:blipFill>
          <a:blip r:embed="rId4">
            <a:alphaModFix/>
          </a:blip>
          <a:stretch>
            <a:fillRect/>
          </a:stretch>
        </p:blipFill>
        <p:spPr>
          <a:xfrm>
            <a:off x="5201200" y="1213125"/>
            <a:ext cx="3669350" cy="3678325"/>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5"/>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1" name="Google Shape;321;p35"/>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Bardzo agresywni przeciwnicy</a:t>
            </a:r>
            <a:endParaRPr b="1" sz="3500">
              <a:solidFill>
                <a:schemeClr val="dk2"/>
              </a:solidFill>
              <a:latin typeface="Nunito"/>
              <a:ea typeface="Nunito"/>
              <a:cs typeface="Nunito"/>
              <a:sym typeface="Nunito"/>
            </a:endParaRPr>
          </a:p>
        </p:txBody>
      </p:sp>
      <p:pic>
        <p:nvPicPr>
          <p:cNvPr id="322" name="Google Shape;322;p35"/>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323" name="Google Shape;323;p35"/>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324" name="Google Shape;324;p35"/>
          <p:cNvSpPr txBox="1"/>
          <p:nvPr/>
        </p:nvSpPr>
        <p:spPr>
          <a:xfrm>
            <a:off x="184200" y="1107900"/>
            <a:ext cx="8680800" cy="3906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Czasem trafiamy na graczy, którzy </a:t>
            </a:r>
            <a:r>
              <a:rPr lang="pl">
                <a:solidFill>
                  <a:schemeClr val="lt2"/>
                </a:solidFill>
                <a:latin typeface="Nunito"/>
                <a:ea typeface="Nunito"/>
                <a:cs typeface="Nunito"/>
                <a:sym typeface="Nunito"/>
              </a:rPr>
              <a:t>grają</a:t>
            </a:r>
            <a:r>
              <a:rPr lang="pl">
                <a:solidFill>
                  <a:schemeClr val="lt2"/>
                </a:solidFill>
                <a:latin typeface="Nunito"/>
                <a:ea typeface="Nunito"/>
                <a:cs typeface="Nunito"/>
                <a:sym typeface="Nunito"/>
              </a:rPr>
              <a:t> bardzo agresywnie.  Od początku gry atakują nasze kamienie, starają </a:t>
            </a:r>
            <a:r>
              <a:rPr lang="pl">
                <a:solidFill>
                  <a:schemeClr val="lt2"/>
                </a:solidFill>
                <a:latin typeface="Nunito"/>
                <a:ea typeface="Nunito"/>
                <a:cs typeface="Nunito"/>
                <a:sym typeface="Nunito"/>
              </a:rPr>
              <a:t>się</a:t>
            </a:r>
            <a:r>
              <a:rPr lang="pl">
                <a:solidFill>
                  <a:schemeClr val="lt2"/>
                </a:solidFill>
                <a:latin typeface="Nunito"/>
                <a:ea typeface="Nunito"/>
                <a:cs typeface="Nunito"/>
                <a:sym typeface="Nunito"/>
              </a:rPr>
              <a:t> zabrać każdy kawałek terenu, nie pozwalają nam na budowanie. W Go nie da się jednak mieć wszystkiego ponieważ Go to gra oparta na równowadze. Dobry gracz Go cały czas stara się balansować </a:t>
            </a:r>
            <a:r>
              <a:rPr lang="pl">
                <a:solidFill>
                  <a:schemeClr val="lt2"/>
                </a:solidFill>
                <a:latin typeface="Nunito"/>
                <a:ea typeface="Nunito"/>
                <a:cs typeface="Nunito"/>
                <a:sym typeface="Nunito"/>
              </a:rPr>
              <a:t>pomiędzy</a:t>
            </a:r>
            <a:r>
              <a:rPr lang="pl">
                <a:solidFill>
                  <a:schemeClr val="lt2"/>
                </a:solidFill>
                <a:latin typeface="Nunito"/>
                <a:ea typeface="Nunito"/>
                <a:cs typeface="Nunito"/>
                <a:sym typeface="Nunito"/>
              </a:rPr>
              <a:t> </a:t>
            </a:r>
            <a:r>
              <a:rPr lang="pl">
                <a:solidFill>
                  <a:schemeClr val="lt2"/>
                </a:solidFill>
                <a:latin typeface="Nunito"/>
                <a:ea typeface="Nunito"/>
                <a:cs typeface="Nunito"/>
                <a:sym typeface="Nunito"/>
              </a:rPr>
              <a:t>otoczonym</a:t>
            </a:r>
            <a:r>
              <a:rPr lang="pl">
                <a:solidFill>
                  <a:schemeClr val="lt2"/>
                </a:solidFill>
                <a:latin typeface="Nunito"/>
                <a:ea typeface="Nunito"/>
                <a:cs typeface="Nunito"/>
                <a:sym typeface="Nunito"/>
              </a:rPr>
              <a:t> terenem, a siłą swoich grup, </a:t>
            </a:r>
            <a:r>
              <a:rPr lang="pl">
                <a:solidFill>
                  <a:schemeClr val="lt2"/>
                </a:solidFill>
                <a:latin typeface="Nunito"/>
                <a:ea typeface="Nunito"/>
                <a:cs typeface="Nunito"/>
                <a:sym typeface="Nunito"/>
              </a:rPr>
              <a:t>pomiędzy atakiem i obroną.</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Jeśli nasz przeciwnik atakuje nas wszędzie, to oznacza, że w znaczący sposób zachwiał przynajmniej jedną z równowag w tej grze. Najprawdopodobniej stworzył zbyt wiele grup, przez co nie jest w stanie dbać o każdą z nich. Grając agresywnie, pozostawia również wiele słabości w swoich formacjach. </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Dlatego najskuteczniejszą taktyką na takich “pieniaczy” jest solidna gra. Musimy starać się budować solidne kształty, które zapewniają połączenie pomiędzy naszymi kamieniami. Staramy się unikać by nasze grupy zostały całkowicie otoczone. Pozwalamy agresorowi grać w jego grę i cierpliwie czekamy na dobry moment do riposty. Czekamy do momentu, w którym uznajemy, że ilość grup przeciwnika oraz ilość słabości w jego formacjach pozwala nam wykorzystać siłę naszych solidnych grup do brutalnego kontrataku.</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Rozdzielenie jego słabych grup jest przeważnie najskuteczniejszym sposobem na szybkie doprowadzenie do wygranej.</a:t>
            </a:r>
            <a:endParaRPr>
              <a:solidFill>
                <a:schemeClr val="lt2"/>
              </a:solidFill>
              <a:latin typeface="Nunito"/>
              <a:ea typeface="Nunito"/>
              <a:cs typeface="Nunito"/>
              <a:sym typeface="Nuni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